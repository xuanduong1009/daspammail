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52" autoAdjust="0"/>
    <p:restoredTop sz="94660"/>
  </p:normalViewPr>
  <p:slideViewPr>
    <p:cSldViewPr snapToGrid="0" snapToObjects="1">
      <p:cViewPr varScale="1">
        <p:scale>
          <a:sx n="107" d="100"/>
          <a:sy n="107" d="100"/>
        </p:scale>
        <p:origin x="74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17.png" /></ns0: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ns0:sld xmlns:ns0="http://schemas.openxmlformats.org/presentationml/2006/main" xmlns:ns1="http://schemas.openxmlformats.org/drawingml/2006/main" xmlns:ns2="http://schemas.openxmlformats.org/officeDocument/2006/relationships">
  <ns0:cSld>
    <ns0:bg>
      <ns0:bgPr>
        <ns1:solidFill>
          <ns1:srgbClr val="F5F7FB"/>
        </ns1:solidFill>
        <ns1:effectLst/>
      </ns0:bgPr>
    </ns0:bg>
    <ns0:spTree>
      <ns0:nvGrpSpPr>
        <ns0:cNvPr id="1" name=""/>
        <ns0:cNvGrpSpPr/>
        <ns0:nvPr/>
      </ns0:nvGrpSpPr>
      <ns0:grpSpPr>
        <ns1:xfrm>
          <ns1:off x="0" y="0"/>
          <ns1:ext cx="0" cy="0"/>
          <ns1:chOff x="0" y="0"/>
          <ns1:chExt cx="0" cy="0"/>
        </ns1:xfrm>
      </ns0:grpSpPr>
      <ns0:sp>
        <ns0:nvSpPr>
          <ns0:cNvPr id="2" name="Rectangle 1"/>
          <ns0:cNvSpPr/>
          <ns0:nvPr/>
        </ns0:nvSpPr>
        <ns0:spPr>
          <ns1:xfrm>
            <ns1:off x="0" y="0"/>
            <ns1:ext cx="12191695" cy="1097280"/>
          </ns1:xfrm>
          <ns1:prstGeom prst="rect">
            <ns1:avLst/>
          </ns1:prstGeom>
          <ns1:solidFill>
            <ns1:srgbClr val="0F2747"/>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3" name="Rectangle 2"/>
          <ns0:cNvSpPr/>
          <ns0:nvPr/>
        </ns0:nvSpPr>
        <ns0:spPr>
          <ns1:xfrm>
            <ns1:off x="0" y="6080760"/>
            <ns1:ext cx="12191695" cy="777240"/>
          </ns1:xfrm>
          <ns1:prstGeom prst="rect">
            <ns1:avLst/>
          </ns1:prstGeom>
          <ns1:solidFill>
            <ns1:srgbClr val="0F8B8D"/>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pic>
        <ns0:nvPicPr>
          <ns0:cNvPr id="4" name="Picture 3" descr="bo_logo.png"/>
          <ns0:cNvPicPr>
            <ns1:picLocks noChangeAspect="1"/>
          </ns0:cNvPicPr>
          <ns0:nvPr/>
        </ns0:nvPicPr>
        <ns0:blipFill>
          <ns1:blip ns2:embed="rId2"/>
          <ns1:stretch>
            <ns1:fillRect/>
          </ns1:stretch>
        </ns0:blipFill>
        <ns0:spPr>
          <ns1:xfrm>
            <ns1:off x="594360" y="1325880"/>
            <ns1:ext cx="1005840" cy="587921"/>
          </ns1:xfrm>
          <ns1:prstGeom prst="rect">
            <ns1:avLst/>
          </ns1:prstGeom>
        </ns0:spPr>
      </ns0:pic>
      <ns0:sp>
        <ns0:nvSpPr>
          <ns0:cNvPr id="5" name="TextBox 4"/>
          <ns0:cNvSpPr txBox="1"/>
          <ns0:nvPr/>
        </ns0:nvSpPr>
        <ns0:spPr>
          <ns1:xfrm>
            <ns1:off x="1783080" y="1325880"/>
            <ns1:ext cx="9509760" cy="868680"/>
          </ns1:xfrm>
          <ns1:prstGeom prst="rect">
            <ns1:avLst/>
          </ns1:prstGeom>
          <ns1:noFill/>
        </ns0:spPr>
        <ns0:txBody>
          <ns1:bodyPr wrap="square" lIns="109728" tIns="73152" rIns="109728" bIns="73152" anchor="t">
            <ns1:normAutofit/>
          </ns1:bodyPr>
          <ns1:lstStyle/>
          <ns1:p>
            <ns1:pPr algn="l">
              <ns1:lnSpc>
                <ns1:spcPct val="100000"/>
              </ns1:lnSpc>
              <ns1:spcAft>
                <ns1:spcPts val="400"/>
              </ns1:spcAft>
            </ns1:pPr>
            <ns1:r>
              <ns1:rPr sz="1800" b="1">
                <ns1:solidFill>
                  <ns1:srgbClr val="0F2747"/>
                </ns1:solidFill>
                <ns1:latin typeface="Arial"/>
              </ns1:rPr>
              <ns1:t>TRƯỜNG ĐẠI HỌC NGOẠI NGỮ - TIN HỌC TP. HỒ CHÍ MINH</ns1:t>
            </ns1:r>
          </ns1:p>
          <ns1:p>
            <ns1:pPr algn="l">
              <ns1:lnSpc>
                <ns1:spcPct val="100000"/>
              </ns1:lnSpc>
              <ns1:spcAft>
                <ns1:spcPts val="400"/>
              </ns1:spcAft>
            </ns1:pPr>
            <ns1:r>
              <ns1:rPr sz="1800" b="0">
                <ns1:solidFill>
                  <ns1:srgbClr val="0F2747"/>
                </ns1:solidFill>
                <ns1:latin typeface="Arial"/>
              </ns1:rPr>
              <ns1:t>KHOA CÔNG NGHỆ THÔNG TIN | MÔN TRUY HỒI THÔNG TIN</ns1:t>
            </ns1:r>
          </ns1:p>
        </ns0:txBody>
      </ns0:sp>
      <ns0:sp>
        <ns0:nvSpPr>
          <ns0:cNvPr id="6" name="TextBox 5"/>
          <ns0:cNvSpPr txBox="1"/>
          <ns0:nvPr/>
        </ns0:nvSpPr>
        <ns0:spPr>
          <ns1:xfrm>
            <ns1:off x="731520" y="2148840"/>
            <ns1:ext cx="10698480" cy="1645920"/>
          </ns1:xfrm>
          <ns1:prstGeom prst="rect">
            <ns1:avLst/>
          </ns1:prstGeom>
          <ns1:noFill/>
        </ns0:spPr>
        <ns0:txBody>
          <ns1:bodyPr wrap="square" lIns="109728" tIns="73152" rIns="109728" bIns="73152" anchor="t">
            <ns1:normAutofit/>
          </ns1:bodyPr>
          <ns1:lstStyle/>
          <ns1:p>
            <ns1:pPr algn="l">
              <ns1:lnSpc>
                <ns1:spcPct val="95000"/>
              </ns1:lnSpc>
              <ns1:spcAft>
                <ns1:spcPts val="400"/>
              </ns1:spcAft>
            </ns1:pPr>
            <ns1:r>
              <ns1:rPr sz="2800" b="1">
                <ns1:solidFill>
                  <ns1:srgbClr val="0F2747"/>
                </ns1:solidFill>
                <ns1:latin typeface="Arial"/>
              </ns1:rPr>
              <ns1:t>XÂY DỰNG HỆ THỐNG</ns1:t>
            </ns1:r>
          </ns1:p>
          <ns1:p>
            <ns1:pPr algn="l">
              <ns1:lnSpc>
                <ns1:spcPct val="95000"/>
              </ns1:lnSpc>
              <ns1:spcAft>
                <ns1:spcPts val="400"/>
              </ns1:spcAft>
            </ns1:pPr>
            <ns1:r>
              <ns1:rPr sz="2800" b="1">
                <ns1:solidFill>
                  <ns1:srgbClr val="0F2747"/>
                </ns1:solidFill>
                <ns1:latin typeface="Arial"/>
              </ns1:rPr>
              <ns1:t>PHÁT HIỆN VÀ LỌC SPAM EMAIL</ns1:t>
            </ns1:r>
          </ns1:p>
          <ns1:p>
            <ns1:pPr algn="l">
              <ns1:lnSpc>
                <ns1:spcPct val="95000"/>
              </ns1:lnSpc>
              <ns1:spcAft>
                <ns1:spcPts val="400"/>
              </ns1:spcAft>
            </ns1:pPr>
            <ns1:r>
              <ns1:rPr sz="2800" b="0">
                <ns1:solidFill>
                  <ns1:srgbClr val="0F2747"/>
                </ns1:solidFill>
                <ns1:latin typeface="Arial"/>
              </ns1:rPr>
              <ns1:t>Bản trình bày chi tiết phục vụ bảo vệ đồ án</ns1:t>
            </ns1:r>
          </ns1:p>
        </ns0:txBody>
      </ns0:sp>
      <ns0:sp>
        <ns0:nvSpPr>
          <ns0:cNvPr id="7" name="Rounded Rectangle 6"/>
          <ns0:cNvSpPr/>
          <ns0:nvPr/>
        </ns0:nvSpPr>
        <ns0:spPr>
          <ns1:xfrm>
            <ns1:off x="777240" y="4114800"/>
            <ns1:ext cx="5212080" cy="1417320"/>
          </ns1:xfrm>
          <ns1:prstGeom prst="roundRect">
            <ns1:avLst/>
          </ns1:prstGeom>
          <ns1:solidFill>
            <ns1:srgbClr val="FFFFFF"/>
          </ns1:solidFill>
          <ns1:ln>
            <ns1:solidFill>
              <ns1:srgbClr val="D6DCE7"/>
            </ns1:solidFill>
          </ns1:ln>
        </ns0:spPr>
        <ns0:style>
          <ns1:lnRef idx="1">
            <ns1:schemeClr val="accent1"/>
          </ns1:lnRef>
          <ns1:fillRef idx="3">
            <ns1:schemeClr val="accent1"/>
          </ns1:fillRef>
          <ns1:effectRef idx="2">
            <ns1:schemeClr val="accent1"/>
          </ns1:effectRef>
          <ns1:fontRef idx="minor">
            <ns1:schemeClr val="lt1"/>
          </ns1:fontRef>
        </ns0:style>
        <ns0:txBody>
          <ns1:bodyPr wrap="square" lIns="109728" tIns="73152" rIns="109728" bIns="73152" rtlCol="0" anchor="t">
            <ns1:normAutofit fontScale="92500" lnSpcReduction="10000"/>
          </ns1:bodyPr>
          <ns1:lstStyle/>
          <ns1:p>
            <ns1:pPr algn="l">
              <ns1:lnSpc>
                <ns1:spcPct val="112000"/>
              </ns1:lnSpc>
              <ns1:spcAft>
                <ns1:spcPts val="400"/>
              </ns1:spcAft>
            </ns1:pPr>
            <ns1:r>
              <ns1:rPr sz="1400" b="0">
                <ns1:solidFill>
                  <ns1:srgbClr val="1F2937"/>
                </ns1:solidFill>
                <ns1:latin typeface="Arial"/>
              </ns1:rPr>
              <ns1:t>Giảng viên hướng dẫn: Nguyễn Thị Phương Trang</ns1:t>
            </ns1:r>
          </ns1:p>
          <ns1:p>
            <ns1:pPr algn="l">
              <ns1:lnSpc>
                <ns1:spcPct val="112000"/>
              </ns1:lnSpc>
              <ns1:spcAft>
                <ns1:spcPts val="400"/>
              </ns1:spcAft>
            </ns1:pPr>
            <ns1:r>
              <ns1:rPr sz="1400" b="0">
                <ns1:solidFill>
                  <ns1:srgbClr val="1F2937"/>
                </ns1:solidFill>
                <ns1:latin typeface="Arial"/>
              </ns1:rPr>
              <ns1:t>Đề tài 19 | Hướng chính: TF-IDF + Linear SVM | NB là mô hình đối chứng trọng tâm</ns1:t>
            </ns1:r>
          </ns1:p>
          <ns1:p>
            <ns1:pPr algn="l">
              <ns1:lnSpc>
                <ns1:spcPct val="112000"/>
              </ns1:lnSpc>
              <ns1:spcAft>
                <ns1:spcPts val="400"/>
              </ns1:spcAft>
            </ns1:pPr>
            <ns1:r>
              <ns1:rPr sz="1400" b="0">
                <ns1:solidFill>
                  <ns1:srgbClr val="1F2937"/>
                </ns1:solidFill>
                <ns1:latin typeface="Arial"/>
              </ns1:rPr>
              <ns1:t>Nguồn nội dung: báo cáo, mã nguồn, dữ liệu và kết quả thực nghiệm trong repo</ns1:t>
            </ns1:r>
          </ns1:p>
        </ns0:txBody>
      </ns0:sp>
      <ns0:sp>
        <ns0:nvSpPr>
          <ns0:cNvPr id="8" name="Rounded Rectangle 7"/>
          <ns0:cNvSpPr/>
          <ns0:nvPr/>
        </ns0:nvSpPr>
        <ns0:spPr>
          <ns1:xfrm>
            <ns1:off x="6172200" y="4114800"/>
            <ns1:ext cx="5212080" cy="1417320"/>
          </ns1:xfrm>
          <ns1:prstGeom prst="roundRect">
            <ns1:avLst/>
          </ns1:prstGeom>
          <ns1:solidFill>
            <ns1:srgbClr val="FFFFFF"/>
          </ns1:solidFill>
          <ns1:ln>
            <ns1:solidFill>
              <ns1:srgbClr val="D6DCE7"/>
            </ns1:solidFill>
          </ns1:ln>
        </ns0:spPr>
        <ns0:style>
          <ns1:lnRef idx="1">
            <ns1:schemeClr val="accent1"/>
          </ns1:lnRef>
          <ns1:fillRef idx="3">
            <ns1:schemeClr val="accent1"/>
          </ns1:fillRef>
          <ns1:effectRef idx="2">
            <ns1:schemeClr val="accent1"/>
          </ns1:effectRef>
          <ns1:fontRef idx="minor">
            <ns1:schemeClr val="lt1"/>
          </ns1:fontRef>
        </ns0:style>
        <ns0:txBody>
          <ns1:bodyPr wrap="square" lIns="109728" tIns="73152" rIns="109728" bIns="73152" rtlCol="0" anchor="t">
            <ns1:normAutofit fontScale="92500" lnSpcReduction="10000"/>
          </ns1:bodyPr>
          <ns1:lstStyle/>
          <ns1:p>
            <ns1:pPr algn="l">
              <ns1:lnSpc>
                <ns1:spcPct val="108000"/>
              </ns1:lnSpc>
              <ns1:spcAft>
                <ns1:spcPts val="400"/>
              </ns1:spcAft>
            </ns1:pPr>
            <ns1:r>
              <ns1:rPr sz="1300" b="1">
                <ns1:solidFill>
                  <ns1:srgbClr val="1F2937"/>
                </ns1:solidFill>
                <ns1:latin typeface="Arial"/>
              </ns1:rPr>
              <ns1:t>Nhóm thực hiện:</ns1:t>
            </ns1:r>
          </ns1:p>
          <ns1:p>
            <ns1:pPr algn="l">
              <ns1:lnSpc>
                <ns1:spcPct val="108000"/>
              </ns1:lnSpc>
              <ns1:spcAft>
                <ns1:spcPts val="400"/>
              </ns1:spcAft>
            </ns1:pPr>
            <ns1:r>
              <ns1:rPr sz="1300" b="0">
                <ns1:solidFill>
                  <ns1:srgbClr val="1F2937"/>
                </ns1:solidFill>
                <ns1:latin typeface="Arial"/>
              </ns1:rPr>
              <ns1:t>1. Vũ Xuân Dương - 22DH114489</ns1:t>
            </ns1:r>
          </ns1:p>
          <ns1:p>
            <ns1:pPr algn="l">
              <ns1:lnSpc>
                <ns1:spcPct val="108000"/>
              </ns1:lnSpc>
              <ns1:spcAft>
                <ns1:spcPts val="400"/>
              </ns1:spcAft>
            </ns1:pPr>
            <ns1:r>
              <ns1:rPr sz="1300" b="0">
                <ns1:solidFill>
                  <ns1:srgbClr val="1F2937"/>
                </ns1:solidFill>
                <ns1:latin typeface="Arial"/>
              </ns1:rPr>
              <ns1:t>2. Tiền Hào Phong - 22DH112749</ns1:t>
            </ns1:r>
          </ns1:p>
          <ns1:p>
            <ns1:pPr algn="l">
              <ns1:lnSpc>
                <ns1:spcPct val="108000"/>
              </ns1:lnSpc>
              <ns1:spcAft>
                <ns1:spcPts val="400"/>
              </ns1:spcAft>
            </ns1:pPr>
            <ns1:r>
              <ns1:rPr sz="1300" b="0">
                <ns1:solidFill>
                  <ns1:srgbClr val="1F2937"/>
                </ns1:solidFill>
                <ns1:latin typeface="Arial"/>
              </ns1:rPr>
              <ns1:t>3. Lê Trần Tiến Đạt - 22DH110719</ns1:t>
            </ns1:r>
          </ns1:p>
          <ns1:p>
            <ns1:pPr algn="l">
              <ns1:lnSpc>
                <ns1:spcPct val="108000"/>
              </ns1:lnSpc>
              <ns1:spcAft>
                <ns1:spcPts val="400"/>
              </ns1:spcAft>
            </ns1:pPr>
            <ns1:r>
              <ns1:rPr sz="1300" b="0">
                <ns1:solidFill>
                  <ns1:srgbClr val="1F2937"/>
                </ns1:solidFill>
                <ns1:latin typeface="Arial"/>
              </ns1:rPr>
              <ns1:t>4. Huỳnh Xuân Đồng - 21DH113586</ns1:t>
            </ns1:r>
          </ns1:p>
        </ns0:txBody>
      </ns0:sp>
      <ns0:sp>
        <ns0:nvSpPr>
          <ns0:cNvPr id="9" name="TextBox 8"/>
          <ns0:cNvSpPr txBox="1"/>
          <ns0:nvPr/>
        </ns0:nvSpPr>
        <ns0:spPr>
          <ns1:xfrm>
            <ns1:off x="502920" y="6446520"/>
            <ns1:ext cx="10789920" cy="164592"/>
          </ns1:xfrm>
          <ns1:prstGeom prst="rect">
            <ns1:avLst/>
          </ns1:prstGeom>
          <ns1:noFill/>
        </ns0:spPr>
        <ns0:txBody>
          <ns1:bodyPr wrap="square" lIns="0" tIns="0" rIns="0" bIns="0" anchor="t">
            <ns1:normAutofit/>
          </ns1:bodyPr>
          <ns1:lstStyle/>
          <ns1:p>
            <ns1:pPr algn="l">
              <ns1:lnSpc>
                <ns1:spcPct val="112000"/>
              </ns1:lnSpc>
              <ns1:spcAft>
                <ns1:spcPts val="400"/>
              </ns1:spcAft>
            </ns1:pPr>
            <ns1:r>
              <ns1:rPr sz="850" b="0">
                <ns1:solidFill>
                  <ns1:srgbClr val="5B677A"/>
                </ns1:solidFill>
                <ns1:latin typeface="Arial"/>
              </ns1:rPr>
              <ns1:t>Xây dựng hệ thống phát hiện và lọc spam email | Đồ án Truy hồi thông tin | Trang 1</ns1:t>
            </ns1:r>
          </ns1:p>
        </ns0:txBody>
      </ns0:sp>
    </ns0:spTree>
  </ns0:cSld>
  <ns0:clrMapOvr>
    <ns1:masterClrMapping/>
  </ns0:clrMapOvr>
</ns0: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0F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75488"/>
            <a:ext cx="201168" cy="6382512"/>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8912" y="164592"/>
            <a:ext cx="1417320" cy="292608"/>
          </a:xfrm>
          <a:prstGeom prst="roundRect">
            <a:avLst/>
          </a:prstGeom>
          <a:solidFill>
            <a:srgbClr val="E46A2E"/>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t">
            <a:normAutofit/>
          </a:bodyPr>
          <a:lstStyle/>
          <a:p>
            <a:pPr algn="ctr">
              <a:lnSpc>
                <a:spcPct val="112000"/>
              </a:lnSpc>
              <a:spcAft>
                <a:spcPts val="400"/>
              </a:spcAft>
            </a:pPr>
            <a:r>
              <a:rPr sz="1200" b="1" dirty="0">
                <a:solidFill>
                  <a:srgbClr val="FFFFFF"/>
                </a:solidFill>
                <a:latin typeface="Arial"/>
              </a:rPr>
              <a:t>MỞ ĐẦU</a:t>
            </a:r>
          </a:p>
        </p:txBody>
      </p:sp>
      <p:sp>
        <p:nvSpPr>
          <p:cNvPr id="5" name="TextBox 4"/>
          <p:cNvSpPr txBox="1"/>
          <p:nvPr/>
        </p:nvSpPr>
        <p:spPr>
          <a:xfrm>
            <a:off x="502920" y="1653451"/>
            <a:ext cx="8138160" cy="475488"/>
          </a:xfrm>
          <a:prstGeom prst="rect">
            <a:avLst/>
          </a:prstGeom>
          <a:noFill/>
        </p:spPr>
        <p:txBody>
          <a:bodyPr wrap="square" lIns="0" tIns="0" rIns="0" bIns="0" anchor="t">
            <a:normAutofit/>
          </a:bodyPr>
          <a:lstStyle/>
          <a:p>
            <a:pPr algn="l">
              <a:lnSpc>
                <a:spcPct val="112000"/>
              </a:lnSpc>
              <a:spcAft>
                <a:spcPts val="400"/>
              </a:spcAft>
            </a:pPr>
            <a:r>
              <a:rPr sz="2400" b="1" dirty="0" err="1">
                <a:solidFill>
                  <a:srgbClr val="0F2747"/>
                </a:solidFill>
                <a:latin typeface="Arial"/>
              </a:rPr>
              <a:t>Nội</a:t>
            </a:r>
            <a:r>
              <a:rPr sz="2400" b="1" dirty="0">
                <a:solidFill>
                  <a:srgbClr val="0F2747"/>
                </a:solidFill>
                <a:latin typeface="Arial"/>
              </a:rPr>
              <a:t> dung </a:t>
            </a:r>
            <a:r>
              <a:rPr sz="2400" b="1" dirty="0" err="1">
                <a:solidFill>
                  <a:srgbClr val="0F2747"/>
                </a:solidFill>
                <a:latin typeface="Arial"/>
              </a:rPr>
              <a:t>trình</a:t>
            </a:r>
            <a:r>
              <a:rPr sz="2400" b="1" dirty="0">
                <a:solidFill>
                  <a:srgbClr val="0F2747"/>
                </a:solidFill>
                <a:latin typeface="Arial"/>
              </a:rPr>
              <a:t> </a:t>
            </a:r>
            <a:r>
              <a:rPr sz="2400" b="1" dirty="0" err="1">
                <a:solidFill>
                  <a:srgbClr val="0F2747"/>
                </a:solidFill>
                <a:latin typeface="Arial"/>
              </a:rPr>
              <a:t>bày</a:t>
            </a:r>
            <a:endParaRPr sz="2400" b="1" dirty="0">
              <a:solidFill>
                <a:srgbClr val="0F2747"/>
              </a:solidFill>
              <a:latin typeface="Arial"/>
            </a:endParaRPr>
          </a:p>
        </p:txBody>
      </p:sp>
      <p:sp>
        <p:nvSpPr>
          <p:cNvPr id="6" name="TextBox 5"/>
          <p:cNvSpPr txBox="1"/>
          <p:nvPr/>
        </p:nvSpPr>
        <p:spPr>
          <a:xfrm>
            <a:off x="502920" y="6446520"/>
            <a:ext cx="10789920" cy="164592"/>
          </a:xfrm>
          <a:prstGeom prst="rect">
            <a:avLst/>
          </a:prstGeom>
          <a:noFill/>
        </p:spPr>
        <p:txBody>
          <a:bodyPr wrap="square" lIns="0" tIns="0" rIns="0" bIns="0" anchor="t">
            <a:normAutofit/>
          </a:bodyPr>
          <a:lstStyle/>
          <a:p>
            <a:pPr algn="l">
              <a:lnSpc>
                <a:spcPct val="112000"/>
              </a:lnSpc>
              <a:spcAft>
                <a:spcPts val="400"/>
              </a:spcAft>
            </a:pPr>
            <a:r>
              <a:rPr sz="850" b="0">
                <a:solidFill>
                  <a:srgbClr val="5B677A"/>
                </a:solidFill>
                <a:latin typeface="Arial"/>
              </a:rPr>
              <a:t>Xây dựng hệ thống phát hiện và lọc spam email | Đồ án Truy hồi thông tin | Trang 2</a:t>
            </a:r>
          </a:p>
        </p:txBody>
      </p:sp>
      <p:sp>
        <p:nvSpPr>
          <p:cNvPr id="8" name="Rounded Rectangle 7"/>
          <p:cNvSpPr/>
          <p:nvPr/>
        </p:nvSpPr>
        <p:spPr>
          <a:xfrm>
            <a:off x="502920" y="2377440"/>
            <a:ext cx="2606040" cy="2011680"/>
          </a:xfrm>
          <a:prstGeom prst="roundRect">
            <a:avLst/>
          </a:prstGeom>
          <a:solidFill>
            <a:srgbClr val="EAF2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normAutofit/>
          </a:bodyPr>
          <a:lstStyle/>
          <a:p>
            <a:pPr algn="l">
              <a:lnSpc>
                <a:spcPct val="104000"/>
              </a:lnSpc>
              <a:spcAft>
                <a:spcPts val="400"/>
              </a:spcAft>
            </a:pPr>
            <a:r>
              <a:rPr sz="1350" b="1">
                <a:solidFill>
                  <a:srgbClr val="1F2937"/>
                </a:solidFill>
                <a:latin typeface="Arial"/>
              </a:rPr>
              <a:t>Phần 1</a:t>
            </a:r>
          </a:p>
          <a:p>
            <a:pPr algn="l">
              <a:lnSpc>
                <a:spcPct val="104000"/>
              </a:lnSpc>
              <a:spcAft>
                <a:spcPts val="400"/>
              </a:spcAft>
            </a:pPr>
            <a:r>
              <a:rPr sz="1350" b="0">
                <a:solidFill>
                  <a:srgbClr val="1F2937"/>
                </a:solidFill>
                <a:latin typeface="Arial"/>
              </a:rPr>
              <a:t>Bài toán và mục tiêu</a:t>
            </a:r>
          </a:p>
          <a:p>
            <a:pPr algn="l">
              <a:lnSpc>
                <a:spcPct val="104000"/>
              </a:lnSpc>
              <a:spcAft>
                <a:spcPts val="400"/>
              </a:spcAft>
            </a:pPr>
            <a:r>
              <a:rPr sz="1350" b="0">
                <a:solidFill>
                  <a:srgbClr val="1F2937"/>
                </a:solidFill>
                <a:latin typeface="Arial"/>
              </a:rPr>
              <a:t>Vì sao spam email vẫn là bài toán thực tế và phù hợp với môn IR.</a:t>
            </a:r>
          </a:p>
        </p:txBody>
      </p:sp>
      <p:sp>
        <p:nvSpPr>
          <p:cNvPr id="9" name="Rounded Rectangle 8"/>
          <p:cNvSpPr/>
          <p:nvPr/>
        </p:nvSpPr>
        <p:spPr>
          <a:xfrm>
            <a:off x="3489807" y="2377440"/>
            <a:ext cx="2606040" cy="2011680"/>
          </a:xfrm>
          <a:prstGeom prst="roundRect">
            <a:avLst/>
          </a:prstGeom>
          <a:solidFill>
            <a:srgbClr val="EAF2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normAutofit/>
          </a:bodyPr>
          <a:lstStyle/>
          <a:p>
            <a:pPr algn="l">
              <a:lnSpc>
                <a:spcPct val="104000"/>
              </a:lnSpc>
              <a:spcAft>
                <a:spcPts val="400"/>
              </a:spcAft>
            </a:pPr>
            <a:r>
              <a:rPr sz="1350" b="1">
                <a:solidFill>
                  <a:srgbClr val="1F2937"/>
                </a:solidFill>
                <a:latin typeface="Arial"/>
              </a:rPr>
              <a:t>Phần 2</a:t>
            </a:r>
          </a:p>
          <a:p>
            <a:pPr algn="l">
              <a:lnSpc>
                <a:spcPct val="104000"/>
              </a:lnSpc>
              <a:spcAft>
                <a:spcPts val="400"/>
              </a:spcAft>
            </a:pPr>
            <a:r>
              <a:rPr sz="1350" b="0">
                <a:solidFill>
                  <a:srgbClr val="1F2937"/>
                </a:solidFill>
                <a:latin typeface="Arial"/>
              </a:rPr>
              <a:t>Thiết kế hệ thống</a:t>
            </a:r>
          </a:p>
          <a:p>
            <a:pPr algn="l">
              <a:lnSpc>
                <a:spcPct val="104000"/>
              </a:lnSpc>
              <a:spcAft>
                <a:spcPts val="400"/>
              </a:spcAft>
            </a:pPr>
            <a:r>
              <a:rPr sz="1350" b="0">
                <a:solidFill>
                  <a:srgbClr val="1F2937"/>
                </a:solidFill>
                <a:latin typeface="Arial"/>
              </a:rPr>
              <a:t>Pipeline từ email thô tới TF-IDF, mô hình và giao diện demo.</a:t>
            </a:r>
          </a:p>
        </p:txBody>
      </p:sp>
      <p:sp>
        <p:nvSpPr>
          <p:cNvPr id="10" name="Rounded Rectangle 9"/>
          <p:cNvSpPr/>
          <p:nvPr/>
        </p:nvSpPr>
        <p:spPr>
          <a:xfrm>
            <a:off x="6476694" y="2377440"/>
            <a:ext cx="2606040" cy="2011680"/>
          </a:xfrm>
          <a:prstGeom prst="roundRect">
            <a:avLst/>
          </a:prstGeom>
          <a:solidFill>
            <a:srgbClr val="EAF9F7"/>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normAutofit/>
          </a:bodyPr>
          <a:lstStyle/>
          <a:p>
            <a:pPr algn="l">
              <a:lnSpc>
                <a:spcPct val="104000"/>
              </a:lnSpc>
              <a:spcAft>
                <a:spcPts val="400"/>
              </a:spcAft>
            </a:pPr>
            <a:r>
              <a:rPr sz="1350" b="1" dirty="0" err="1">
                <a:solidFill>
                  <a:srgbClr val="1F2937"/>
                </a:solidFill>
                <a:latin typeface="Arial"/>
              </a:rPr>
              <a:t>Phần</a:t>
            </a:r>
            <a:r>
              <a:rPr sz="1350" b="1" dirty="0">
                <a:solidFill>
                  <a:srgbClr val="1F2937"/>
                </a:solidFill>
                <a:latin typeface="Arial"/>
              </a:rPr>
              <a:t> 3</a:t>
            </a:r>
          </a:p>
          <a:p>
            <a:pPr algn="l">
              <a:lnSpc>
                <a:spcPct val="104000"/>
              </a:lnSpc>
              <a:spcAft>
                <a:spcPts val="400"/>
              </a:spcAft>
            </a:pPr>
            <a:r>
              <a:rPr sz="1350" b="0" dirty="0" err="1">
                <a:solidFill>
                  <a:srgbClr val="1F2937"/>
                </a:solidFill>
                <a:latin typeface="Arial"/>
              </a:rPr>
              <a:t>Thực</a:t>
            </a:r>
            <a:r>
              <a:rPr sz="1350" b="0" dirty="0">
                <a:solidFill>
                  <a:srgbClr val="1F2937"/>
                </a:solidFill>
                <a:latin typeface="Arial"/>
              </a:rPr>
              <a:t> </a:t>
            </a:r>
            <a:r>
              <a:rPr sz="1350" b="0" dirty="0" err="1">
                <a:solidFill>
                  <a:srgbClr val="1F2937"/>
                </a:solidFill>
                <a:latin typeface="Arial"/>
              </a:rPr>
              <a:t>nghiệm</a:t>
            </a:r>
            <a:endParaRPr sz="1350" b="0" dirty="0">
              <a:solidFill>
                <a:srgbClr val="1F2937"/>
              </a:solidFill>
              <a:latin typeface="Arial"/>
            </a:endParaRPr>
          </a:p>
          <a:p>
            <a:pPr algn="l">
              <a:lnSpc>
                <a:spcPct val="104000"/>
              </a:lnSpc>
              <a:spcAft>
                <a:spcPts val="400"/>
              </a:spcAft>
            </a:pPr>
            <a:r>
              <a:rPr sz="1350" b="0" dirty="0">
                <a:solidFill>
                  <a:srgbClr val="1F2937"/>
                </a:solidFill>
                <a:latin typeface="Arial"/>
              </a:rPr>
              <a:t>Dataset, </a:t>
            </a:r>
            <a:r>
              <a:rPr sz="1350" b="0" dirty="0" err="1">
                <a:solidFill>
                  <a:srgbClr val="1F2937"/>
                </a:solidFill>
                <a:latin typeface="Arial"/>
              </a:rPr>
              <a:t>cài</a:t>
            </a:r>
            <a:r>
              <a:rPr sz="1350" b="0" dirty="0">
                <a:solidFill>
                  <a:srgbClr val="1F2937"/>
                </a:solidFill>
                <a:latin typeface="Arial"/>
              </a:rPr>
              <a:t> </a:t>
            </a:r>
            <a:r>
              <a:rPr sz="1350" b="0" dirty="0" err="1">
                <a:solidFill>
                  <a:srgbClr val="1F2937"/>
                </a:solidFill>
                <a:latin typeface="Arial"/>
              </a:rPr>
              <a:t>đặt</a:t>
            </a:r>
            <a:r>
              <a:rPr sz="1350" b="0" dirty="0">
                <a:solidFill>
                  <a:srgbClr val="1F2937"/>
                </a:solidFill>
                <a:latin typeface="Arial"/>
              </a:rPr>
              <a:t>, benchmark, confusion matrix, ROC </a:t>
            </a:r>
            <a:r>
              <a:rPr sz="1350" b="0" dirty="0" err="1">
                <a:solidFill>
                  <a:srgbClr val="1F2937"/>
                </a:solidFill>
                <a:latin typeface="Arial"/>
              </a:rPr>
              <a:t>và</a:t>
            </a:r>
            <a:r>
              <a:rPr sz="1350" b="0" dirty="0">
                <a:solidFill>
                  <a:srgbClr val="1F2937"/>
                </a:solidFill>
                <a:latin typeface="Arial"/>
              </a:rPr>
              <a:t> error analysis.</a:t>
            </a:r>
          </a:p>
        </p:txBody>
      </p:sp>
      <p:sp>
        <p:nvSpPr>
          <p:cNvPr id="11" name="Rounded Rectangle 10"/>
          <p:cNvSpPr/>
          <p:nvPr/>
        </p:nvSpPr>
        <p:spPr>
          <a:xfrm>
            <a:off x="9565341" y="2377440"/>
            <a:ext cx="2465294" cy="2011680"/>
          </a:xfrm>
          <a:prstGeom prst="roundRect">
            <a:avLst/>
          </a:prstGeom>
          <a:solidFill>
            <a:srgbClr val="EAF9F7"/>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normAutofit/>
          </a:bodyPr>
          <a:lstStyle/>
          <a:p>
            <a:pPr algn="l">
              <a:lnSpc>
                <a:spcPct val="104000"/>
              </a:lnSpc>
              <a:spcAft>
                <a:spcPts val="400"/>
              </a:spcAft>
            </a:pPr>
            <a:r>
              <a:rPr sz="1350" b="1" dirty="0" err="1">
                <a:solidFill>
                  <a:srgbClr val="1F2937"/>
                </a:solidFill>
                <a:latin typeface="Arial"/>
              </a:rPr>
              <a:t>Phần</a:t>
            </a:r>
            <a:r>
              <a:rPr sz="1350" b="1" dirty="0">
                <a:solidFill>
                  <a:srgbClr val="1F2937"/>
                </a:solidFill>
                <a:latin typeface="Arial"/>
              </a:rPr>
              <a:t> 4</a:t>
            </a:r>
          </a:p>
          <a:p>
            <a:pPr algn="l">
              <a:lnSpc>
                <a:spcPct val="104000"/>
              </a:lnSpc>
              <a:spcAft>
                <a:spcPts val="400"/>
              </a:spcAft>
            </a:pPr>
            <a:r>
              <a:rPr sz="1350" b="0" dirty="0" err="1">
                <a:solidFill>
                  <a:srgbClr val="1F2937"/>
                </a:solidFill>
                <a:latin typeface="Arial"/>
              </a:rPr>
              <a:t>Kết</a:t>
            </a:r>
            <a:r>
              <a:rPr sz="1350" b="0" dirty="0">
                <a:solidFill>
                  <a:srgbClr val="1F2937"/>
                </a:solidFill>
                <a:latin typeface="Arial"/>
              </a:rPr>
              <a:t> </a:t>
            </a:r>
            <a:r>
              <a:rPr sz="1350" b="0" dirty="0" err="1">
                <a:solidFill>
                  <a:srgbClr val="1F2937"/>
                </a:solidFill>
                <a:latin typeface="Arial"/>
              </a:rPr>
              <a:t>luận</a:t>
            </a:r>
            <a:endParaRPr sz="1350" b="0" dirty="0">
              <a:solidFill>
                <a:srgbClr val="1F2937"/>
              </a:solidFill>
              <a:latin typeface="Arial"/>
            </a:endParaRPr>
          </a:p>
          <a:p>
            <a:pPr algn="l">
              <a:lnSpc>
                <a:spcPct val="104000"/>
              </a:lnSpc>
              <a:spcAft>
                <a:spcPts val="400"/>
              </a:spcAft>
            </a:pPr>
            <a:r>
              <a:rPr sz="1350" b="0" dirty="0" err="1">
                <a:solidFill>
                  <a:srgbClr val="1F2937"/>
                </a:solidFill>
                <a:latin typeface="Arial"/>
              </a:rPr>
              <a:t>Ưu</a:t>
            </a:r>
            <a:r>
              <a:rPr sz="1350" b="0" dirty="0">
                <a:solidFill>
                  <a:srgbClr val="1F2937"/>
                </a:solidFill>
                <a:latin typeface="Arial"/>
              </a:rPr>
              <a:t> </a:t>
            </a:r>
            <a:r>
              <a:rPr sz="1350" b="0" dirty="0" err="1">
                <a:solidFill>
                  <a:srgbClr val="1F2937"/>
                </a:solidFill>
                <a:latin typeface="Arial"/>
              </a:rPr>
              <a:t>điểm</a:t>
            </a:r>
            <a:r>
              <a:rPr sz="1350" b="0" dirty="0">
                <a:solidFill>
                  <a:srgbClr val="1F2937"/>
                </a:solidFill>
                <a:latin typeface="Arial"/>
              </a:rPr>
              <a:t>, </a:t>
            </a:r>
            <a:r>
              <a:rPr sz="1350" b="0" dirty="0" err="1">
                <a:solidFill>
                  <a:srgbClr val="1F2937"/>
                </a:solidFill>
                <a:latin typeface="Arial"/>
              </a:rPr>
              <a:t>hạn</a:t>
            </a:r>
            <a:r>
              <a:rPr sz="1350" b="0" dirty="0">
                <a:solidFill>
                  <a:srgbClr val="1F2937"/>
                </a:solidFill>
                <a:latin typeface="Arial"/>
              </a:rPr>
              <a:t> </a:t>
            </a:r>
            <a:r>
              <a:rPr sz="1350" b="0" dirty="0" err="1">
                <a:solidFill>
                  <a:srgbClr val="1F2937"/>
                </a:solidFill>
                <a:latin typeface="Arial"/>
              </a:rPr>
              <a:t>chế</a:t>
            </a:r>
            <a:r>
              <a:rPr sz="1350" b="0" dirty="0">
                <a:solidFill>
                  <a:srgbClr val="1F2937"/>
                </a:solidFill>
                <a:latin typeface="Arial"/>
              </a:rPr>
              <a:t>, </a:t>
            </a:r>
            <a:r>
              <a:rPr sz="1350" b="0" dirty="0" err="1">
                <a:solidFill>
                  <a:srgbClr val="1F2937"/>
                </a:solidFill>
                <a:latin typeface="Arial"/>
              </a:rPr>
              <a:t>hướng</a:t>
            </a:r>
            <a:r>
              <a:rPr sz="1350" b="0" dirty="0">
                <a:solidFill>
                  <a:srgbClr val="1F2937"/>
                </a:solidFill>
                <a:latin typeface="Arial"/>
              </a:rPr>
              <a:t> </a:t>
            </a:r>
            <a:r>
              <a:rPr sz="1350" b="0" dirty="0" err="1">
                <a:solidFill>
                  <a:srgbClr val="1F2937"/>
                </a:solidFill>
                <a:latin typeface="Arial"/>
              </a:rPr>
              <a:t>phát</a:t>
            </a:r>
            <a:r>
              <a:rPr sz="1350" b="0" dirty="0">
                <a:solidFill>
                  <a:srgbClr val="1F2937"/>
                </a:solidFill>
                <a:latin typeface="Arial"/>
              </a:rPr>
              <a:t> </a:t>
            </a:r>
            <a:r>
              <a:rPr sz="1350" b="0" dirty="0" err="1">
                <a:solidFill>
                  <a:srgbClr val="1F2937"/>
                </a:solidFill>
                <a:latin typeface="Arial"/>
              </a:rPr>
              <a:t>triển</a:t>
            </a:r>
            <a:r>
              <a:rPr sz="1350" b="0" dirty="0">
                <a:solidFill>
                  <a:srgbClr val="1F2937"/>
                </a:solidFill>
                <a:latin typeface="Arial"/>
              </a:rPr>
              <a:t> </a:t>
            </a:r>
            <a:r>
              <a:rPr sz="1350" b="0" dirty="0" err="1">
                <a:solidFill>
                  <a:srgbClr val="1F2937"/>
                </a:solidFill>
                <a:latin typeface="Arial"/>
              </a:rPr>
              <a:t>và</a:t>
            </a:r>
            <a:r>
              <a:rPr sz="1350" b="0" dirty="0">
                <a:solidFill>
                  <a:srgbClr val="1F2937"/>
                </a:solidFill>
                <a:latin typeface="Arial"/>
              </a:rPr>
              <a:t> </a:t>
            </a:r>
            <a:r>
              <a:rPr sz="1350" b="0" dirty="0" err="1">
                <a:solidFill>
                  <a:srgbClr val="1F2937"/>
                </a:solidFill>
                <a:latin typeface="Arial"/>
              </a:rPr>
              <a:t>điểm</a:t>
            </a:r>
            <a:r>
              <a:rPr sz="1350" b="0" dirty="0">
                <a:solidFill>
                  <a:srgbClr val="1F2937"/>
                </a:solidFill>
                <a:latin typeface="Arial"/>
              </a:rPr>
              <a:t> </a:t>
            </a:r>
            <a:r>
              <a:rPr sz="1350" b="0" dirty="0" err="1">
                <a:solidFill>
                  <a:srgbClr val="1F2937"/>
                </a:solidFill>
                <a:latin typeface="Arial"/>
              </a:rPr>
              <a:t>nhấn</a:t>
            </a:r>
            <a:r>
              <a:rPr sz="1350" b="0" dirty="0">
                <a:solidFill>
                  <a:srgbClr val="1F2937"/>
                </a:solidFill>
                <a:latin typeface="Arial"/>
              </a:rPr>
              <a:t> </a:t>
            </a:r>
            <a:r>
              <a:rPr sz="1350" b="0" dirty="0" err="1">
                <a:solidFill>
                  <a:srgbClr val="1F2937"/>
                </a:solidFill>
                <a:latin typeface="Arial"/>
              </a:rPr>
              <a:t>khi</a:t>
            </a:r>
            <a:r>
              <a:rPr sz="1350" b="0" dirty="0">
                <a:solidFill>
                  <a:srgbClr val="1F2937"/>
                </a:solidFill>
                <a:latin typeface="Arial"/>
              </a:rPr>
              <a:t> </a:t>
            </a:r>
            <a:r>
              <a:rPr sz="1350" b="0" dirty="0" err="1">
                <a:solidFill>
                  <a:srgbClr val="1F2937"/>
                </a:solidFill>
                <a:latin typeface="Arial"/>
              </a:rPr>
              <a:t>vấn</a:t>
            </a:r>
            <a:r>
              <a:rPr sz="1350" b="0" dirty="0">
                <a:solidFill>
                  <a:srgbClr val="1F2937"/>
                </a:solidFill>
                <a:latin typeface="Arial"/>
              </a:rPr>
              <a:t> </a:t>
            </a:r>
            <a:r>
              <a:rPr sz="1350" b="0" dirty="0" err="1">
                <a:solidFill>
                  <a:srgbClr val="1F2937"/>
                </a:solidFill>
                <a:latin typeface="Arial"/>
              </a:rPr>
              <a:t>đáp</a:t>
            </a:r>
            <a:r>
              <a:rPr sz="1350" b="0" dirty="0">
                <a:solidFill>
                  <a:srgbClr val="1F2937"/>
                </a:solidFill>
                <a:latin typeface="Arial"/>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0F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75488"/>
            <a:ext cx="201168" cy="6382512"/>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8912" y="164592"/>
            <a:ext cx="1417320" cy="292608"/>
          </a:xfrm>
          <a:prstGeom prst="roundRect">
            <a:avLst/>
          </a:prstGeom>
          <a:solidFill>
            <a:srgbClr val="E46A2E"/>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t">
            <a:normAutofit/>
          </a:bodyPr>
          <a:lstStyle/>
          <a:p>
            <a:pPr algn="ctr">
              <a:lnSpc>
                <a:spcPct val="112000"/>
              </a:lnSpc>
              <a:spcAft>
                <a:spcPts val="400"/>
              </a:spcAft>
            </a:pPr>
            <a:r>
              <a:rPr sz="1200" b="1">
                <a:solidFill>
                  <a:srgbClr val="FFFFFF"/>
                </a:solidFill>
                <a:latin typeface="Arial"/>
              </a:rPr>
              <a:t>CHƯƠNG 1</a:t>
            </a:r>
          </a:p>
        </p:txBody>
      </p:sp>
      <p:sp>
        <p:nvSpPr>
          <p:cNvPr id="5" name="TextBox 4"/>
          <p:cNvSpPr txBox="1"/>
          <p:nvPr/>
        </p:nvSpPr>
        <p:spPr>
          <a:xfrm>
            <a:off x="502920" y="658368"/>
            <a:ext cx="8138160" cy="475488"/>
          </a:xfrm>
          <a:prstGeom prst="rect">
            <a:avLst/>
          </a:prstGeom>
          <a:noFill/>
        </p:spPr>
        <p:txBody>
          <a:bodyPr wrap="square" lIns="0" tIns="0" rIns="0" bIns="0" anchor="t">
            <a:normAutofit/>
          </a:bodyPr>
          <a:lstStyle/>
          <a:p>
            <a:pPr algn="l">
              <a:lnSpc>
                <a:spcPct val="112000"/>
              </a:lnSpc>
              <a:spcAft>
                <a:spcPts val="400"/>
              </a:spcAft>
            </a:pPr>
            <a:r>
              <a:rPr sz="2400" b="1">
                <a:solidFill>
                  <a:srgbClr val="0F2747"/>
                </a:solidFill>
                <a:latin typeface="Arial"/>
              </a:rPr>
              <a:t>Bối cảnh bài toán</a:t>
            </a:r>
          </a:p>
        </p:txBody>
      </p:sp>
      <p:sp>
        <p:nvSpPr>
          <p:cNvPr id="6" name="TextBox 5"/>
          <p:cNvSpPr txBox="1"/>
          <p:nvPr/>
        </p:nvSpPr>
        <p:spPr>
          <a:xfrm>
            <a:off x="521207" y="1078992"/>
            <a:ext cx="10058400" cy="292608"/>
          </a:xfrm>
          <a:prstGeom prst="rect">
            <a:avLst/>
          </a:prstGeom>
          <a:noFill/>
        </p:spPr>
        <p:txBody>
          <a:bodyPr wrap="square" lIns="0" tIns="0" rIns="0" bIns="0" anchor="t">
            <a:normAutofit/>
          </a:bodyPr>
          <a:lstStyle/>
          <a:p>
            <a:pPr algn="l">
              <a:lnSpc>
                <a:spcPct val="112000"/>
              </a:lnSpc>
              <a:spcAft>
                <a:spcPts val="400"/>
              </a:spcAft>
            </a:pPr>
            <a:r>
              <a:rPr sz="1050" b="0" dirty="0">
                <a:solidFill>
                  <a:srgbClr val="5B677A"/>
                </a:solidFill>
                <a:latin typeface="Arial"/>
              </a:rPr>
              <a:t>Spam email </a:t>
            </a:r>
            <a:r>
              <a:rPr sz="1050" b="0" dirty="0" err="1">
                <a:solidFill>
                  <a:srgbClr val="5B677A"/>
                </a:solidFill>
                <a:latin typeface="Arial"/>
              </a:rPr>
              <a:t>không</a:t>
            </a:r>
            <a:r>
              <a:rPr sz="1050" b="0" dirty="0">
                <a:solidFill>
                  <a:srgbClr val="5B677A"/>
                </a:solidFill>
                <a:latin typeface="Arial"/>
              </a:rPr>
              <a:t> </a:t>
            </a:r>
            <a:r>
              <a:rPr sz="1050" b="0" dirty="0" err="1">
                <a:solidFill>
                  <a:srgbClr val="5B677A"/>
                </a:solidFill>
                <a:latin typeface="Arial"/>
              </a:rPr>
              <a:t>chỉ</a:t>
            </a:r>
            <a:r>
              <a:rPr sz="1050" b="0" dirty="0">
                <a:solidFill>
                  <a:srgbClr val="5B677A"/>
                </a:solidFill>
                <a:latin typeface="Arial"/>
              </a:rPr>
              <a:t> </a:t>
            </a:r>
            <a:r>
              <a:rPr sz="1050" b="0" dirty="0" err="1">
                <a:solidFill>
                  <a:srgbClr val="5B677A"/>
                </a:solidFill>
                <a:latin typeface="Arial"/>
              </a:rPr>
              <a:t>gây</a:t>
            </a:r>
            <a:r>
              <a:rPr sz="1050" b="0" dirty="0">
                <a:solidFill>
                  <a:srgbClr val="5B677A"/>
                </a:solidFill>
                <a:latin typeface="Arial"/>
              </a:rPr>
              <a:t> </a:t>
            </a:r>
            <a:r>
              <a:rPr sz="1050" b="0" dirty="0" err="1">
                <a:solidFill>
                  <a:srgbClr val="5B677A"/>
                </a:solidFill>
                <a:latin typeface="Arial"/>
              </a:rPr>
              <a:t>phiền</a:t>
            </a:r>
            <a:r>
              <a:rPr sz="1050" b="0" dirty="0">
                <a:solidFill>
                  <a:srgbClr val="5B677A"/>
                </a:solidFill>
                <a:latin typeface="Arial"/>
              </a:rPr>
              <a:t> </a:t>
            </a:r>
            <a:r>
              <a:rPr sz="1050" b="0" dirty="0" err="1">
                <a:solidFill>
                  <a:srgbClr val="5B677A"/>
                </a:solidFill>
                <a:latin typeface="Arial"/>
              </a:rPr>
              <a:t>nhiễu</a:t>
            </a:r>
            <a:r>
              <a:rPr sz="1050" b="0" dirty="0">
                <a:solidFill>
                  <a:srgbClr val="5B677A"/>
                </a:solidFill>
                <a:latin typeface="Arial"/>
              </a:rPr>
              <a:t> </a:t>
            </a:r>
            <a:r>
              <a:rPr sz="1050" b="0" dirty="0" err="1">
                <a:solidFill>
                  <a:srgbClr val="5B677A"/>
                </a:solidFill>
                <a:latin typeface="Arial"/>
              </a:rPr>
              <a:t>mà</a:t>
            </a:r>
            <a:r>
              <a:rPr sz="1050" b="0" dirty="0">
                <a:solidFill>
                  <a:srgbClr val="5B677A"/>
                </a:solidFill>
                <a:latin typeface="Arial"/>
              </a:rPr>
              <a:t> </a:t>
            </a:r>
            <a:r>
              <a:rPr sz="1050" b="0" dirty="0" err="1">
                <a:solidFill>
                  <a:srgbClr val="5B677A"/>
                </a:solidFill>
                <a:latin typeface="Arial"/>
              </a:rPr>
              <a:t>còn</a:t>
            </a:r>
            <a:r>
              <a:rPr sz="1050" b="0" dirty="0">
                <a:solidFill>
                  <a:srgbClr val="5B677A"/>
                </a:solidFill>
                <a:latin typeface="Arial"/>
              </a:rPr>
              <a:t> </a:t>
            </a:r>
            <a:r>
              <a:rPr sz="1050" b="0" dirty="0" err="1">
                <a:solidFill>
                  <a:srgbClr val="5B677A"/>
                </a:solidFill>
                <a:latin typeface="Arial"/>
              </a:rPr>
              <a:t>kéo</a:t>
            </a:r>
            <a:r>
              <a:rPr sz="1050" b="0" dirty="0">
                <a:solidFill>
                  <a:srgbClr val="5B677A"/>
                </a:solidFill>
                <a:latin typeface="Arial"/>
              </a:rPr>
              <a:t> </a:t>
            </a:r>
            <a:r>
              <a:rPr sz="1050" b="0" dirty="0" err="1">
                <a:solidFill>
                  <a:srgbClr val="5B677A"/>
                </a:solidFill>
                <a:latin typeface="Arial"/>
              </a:rPr>
              <a:t>theo</a:t>
            </a:r>
            <a:r>
              <a:rPr sz="1050" b="0" dirty="0">
                <a:solidFill>
                  <a:srgbClr val="5B677A"/>
                </a:solidFill>
                <a:latin typeface="Arial"/>
              </a:rPr>
              <a:t> </a:t>
            </a:r>
            <a:r>
              <a:rPr sz="1050" b="0" dirty="0" err="1">
                <a:solidFill>
                  <a:srgbClr val="5B677A"/>
                </a:solidFill>
                <a:latin typeface="Arial"/>
              </a:rPr>
              <a:t>rủi</a:t>
            </a:r>
            <a:r>
              <a:rPr sz="1050" b="0" dirty="0">
                <a:solidFill>
                  <a:srgbClr val="5B677A"/>
                </a:solidFill>
                <a:latin typeface="Arial"/>
              </a:rPr>
              <a:t> </a:t>
            </a:r>
            <a:r>
              <a:rPr sz="1050" b="0" dirty="0" err="1">
                <a:solidFill>
                  <a:srgbClr val="5B677A"/>
                </a:solidFill>
                <a:latin typeface="Arial"/>
              </a:rPr>
              <a:t>ro</a:t>
            </a:r>
            <a:r>
              <a:rPr sz="1050" b="0" dirty="0">
                <a:solidFill>
                  <a:srgbClr val="5B677A"/>
                </a:solidFill>
                <a:latin typeface="Arial"/>
              </a:rPr>
              <a:t> phishing.</a:t>
            </a:r>
          </a:p>
        </p:txBody>
      </p:sp>
      <p:sp>
        <p:nvSpPr>
          <p:cNvPr id="7" name="TextBox 6"/>
          <p:cNvSpPr txBox="1"/>
          <p:nvPr/>
        </p:nvSpPr>
        <p:spPr>
          <a:xfrm>
            <a:off x="502920" y="6446520"/>
            <a:ext cx="10789920" cy="164592"/>
          </a:xfrm>
          <a:prstGeom prst="rect">
            <a:avLst/>
          </a:prstGeom>
          <a:noFill/>
        </p:spPr>
        <p:txBody>
          <a:bodyPr wrap="square" lIns="0" tIns="0" rIns="0" bIns="0" anchor="t">
            <a:normAutofit/>
          </a:bodyPr>
          <a:lstStyle/>
          <a:p>
            <a:pPr algn="l">
              <a:lnSpc>
                <a:spcPct val="112000"/>
              </a:lnSpc>
              <a:spcAft>
                <a:spcPts val="400"/>
              </a:spcAft>
            </a:pPr>
            <a:r>
              <a:rPr sz="850" b="0">
                <a:solidFill>
                  <a:srgbClr val="5B677A"/>
                </a:solidFill>
                <a:latin typeface="Arial"/>
              </a:rPr>
              <a:t>Xây dựng hệ thống phát hiện và lọc spam email | Đồ án Truy hồi thông tin | Trang 3</a:t>
            </a:r>
          </a:p>
        </p:txBody>
      </p:sp>
      <p:sp>
        <p:nvSpPr>
          <p:cNvPr id="8" name="Rounded Rectangle 7"/>
          <p:cNvSpPr/>
          <p:nvPr/>
        </p:nvSpPr>
        <p:spPr>
          <a:xfrm>
            <a:off x="502920" y="1417320"/>
            <a:ext cx="5074920" cy="4709160"/>
          </a:xfrm>
          <a:prstGeom prst="roundRect">
            <a:avLst/>
          </a:prstGeom>
          <a:solidFill>
            <a:srgbClr val="FFFF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normAutofit/>
          </a:bodyPr>
          <a:lstStyle/>
          <a:p>
            <a:pPr algn="l">
              <a:lnSpc>
                <a:spcPct val="112000"/>
              </a:lnSpc>
              <a:spcAft>
                <a:spcPts val="400"/>
              </a:spcAft>
            </a:pPr>
            <a:r>
              <a:rPr sz="1400" b="0">
                <a:solidFill>
                  <a:srgbClr val="1F2937"/>
                </a:solidFill>
                <a:latin typeface="Arial"/>
              </a:rPr>
              <a:t>Email vẫn là kênh giao tiếp trọng yếu trong doanh nghiệp, giáo dục và nhiều dịch vụ số.</a:t>
            </a:r>
          </a:p>
          <a:p>
            <a:pPr algn="l">
              <a:lnSpc>
                <a:spcPct val="112000"/>
              </a:lnSpc>
              <a:spcAft>
                <a:spcPts val="400"/>
              </a:spcAft>
            </a:pPr>
            <a:r>
              <a:rPr sz="1400" b="0">
                <a:solidFill>
                  <a:srgbClr val="1F2937"/>
                </a:solidFill>
                <a:latin typeface="Arial"/>
              </a:rPr>
              <a:t>• Nếu không có lớp lọc tự động, người dùng phải tự đọc và tự phân biệt thư rác trong hộp thư đến.</a:t>
            </a:r>
          </a:p>
          <a:p>
            <a:pPr algn="l">
              <a:lnSpc>
                <a:spcPct val="112000"/>
              </a:lnSpc>
              <a:spcAft>
                <a:spcPts val="400"/>
              </a:spcAft>
            </a:pPr>
            <a:r>
              <a:rPr sz="1400" b="0">
                <a:solidFill>
                  <a:srgbClr val="1F2937"/>
                </a:solidFill>
                <a:latin typeface="Arial"/>
              </a:rPr>
              <a:t>• Đối với môn Truy hồi thông tin, bài toán spam filtering phù hợp vì mỗi email có thể xem như một tài liệu văn bản.</a:t>
            </a:r>
          </a:p>
          <a:p>
            <a:pPr algn="l">
              <a:lnSpc>
                <a:spcPct val="112000"/>
              </a:lnSpc>
              <a:spcAft>
                <a:spcPts val="400"/>
              </a:spcAft>
            </a:pPr>
            <a:r>
              <a:rPr sz="1400" b="0">
                <a:solidFill>
                  <a:srgbClr val="1F2937"/>
                </a:solidFill>
                <a:latin typeface="Arial"/>
              </a:rPr>
              <a:t>• Nhóm chọn đề tài này vì nó vừa có ý nghĩa ứng dụng cao, vừa đủ rõ ràng để hiện thực một pipeline hoàn chỉnh bằng Python, TF-IDF và các mô hình học máy cổ điển.</a:t>
            </a:r>
          </a:p>
        </p:txBody>
      </p:sp>
      <p:sp>
        <p:nvSpPr>
          <p:cNvPr id="9" name="Rounded Rectangle 8"/>
          <p:cNvSpPr/>
          <p:nvPr/>
        </p:nvSpPr>
        <p:spPr>
          <a:xfrm>
            <a:off x="5806440" y="1463040"/>
            <a:ext cx="5532120" cy="4069080"/>
          </a:xfrm>
          <a:prstGeom prst="roundRect">
            <a:avLst/>
          </a:prstGeom>
          <a:solidFill>
            <a:srgbClr val="FFFFFF"/>
          </a:solidFill>
          <a:ln>
            <a:solidFill>
              <a:srgbClr val="D6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phishing_trusted_bank.png"/>
          <p:cNvPicPr>
            <a:picLocks noChangeAspect="1"/>
          </p:cNvPicPr>
          <p:nvPr/>
        </p:nvPicPr>
        <p:blipFill>
          <a:blip r:embed="rId2"/>
          <a:stretch>
            <a:fillRect/>
          </a:stretch>
        </p:blipFill>
        <p:spPr>
          <a:xfrm>
            <a:off x="5834846" y="1463040"/>
            <a:ext cx="5475306" cy="4069080"/>
          </a:xfrm>
          <a:prstGeom prst="rect">
            <a:avLst/>
          </a:prstGeom>
        </p:spPr>
      </p:pic>
      <p:sp>
        <p:nvSpPr>
          <p:cNvPr id="11" name="Rounded Rectangle 10"/>
          <p:cNvSpPr/>
          <p:nvPr/>
        </p:nvSpPr>
        <p:spPr>
          <a:xfrm>
            <a:off x="5806440" y="5559552"/>
            <a:ext cx="5532120" cy="411480"/>
          </a:xfrm>
          <a:prstGeom prst="roundRect">
            <a:avLst/>
          </a:prstGeom>
          <a:solidFill>
            <a:srgbClr val="EAF2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t">
            <a:normAutofit/>
          </a:bodyPr>
          <a:lstStyle/>
          <a:p>
            <a:pPr algn="l">
              <a:lnSpc>
                <a:spcPct val="112000"/>
              </a:lnSpc>
              <a:spcAft>
                <a:spcPts val="400"/>
              </a:spcAft>
            </a:pPr>
            <a:r>
              <a:rPr sz="1050" b="0">
                <a:solidFill>
                  <a:srgbClr val="1F2937"/>
                </a:solidFill>
                <a:latin typeface="Arial"/>
              </a:rPr>
              <a:t>Minh họa phishing email. Nguồn: Wikimedia Commons.</a:t>
            </a:r>
          </a:p>
        </p:txBody>
      </p:sp>
      <p:sp>
        <p:nvSpPr>
          <p:cNvPr id="12" name="Rounded Rectangle 11"/>
          <p:cNvSpPr/>
          <p:nvPr/>
        </p:nvSpPr>
        <p:spPr>
          <a:xfrm>
            <a:off x="5806440" y="6062472"/>
            <a:ext cx="5532120" cy="384048"/>
          </a:xfrm>
          <a:prstGeom prst="roundRect">
            <a:avLst/>
          </a:prstGeom>
          <a:solidFill>
            <a:srgbClr val="FFF1E8"/>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t">
            <a:normAutofit/>
          </a:bodyPr>
          <a:lstStyle/>
          <a:p>
            <a:pPr algn="l">
              <a:lnSpc>
                <a:spcPct val="112000"/>
              </a:lnSpc>
              <a:spcAft>
                <a:spcPts val="400"/>
              </a:spcAft>
            </a:pPr>
            <a:r>
              <a:rPr sz="980" b="0" dirty="0" err="1">
                <a:solidFill>
                  <a:srgbClr val="1F2937"/>
                </a:solidFill>
                <a:latin typeface="Arial"/>
              </a:rPr>
              <a:t>Nguồn</a:t>
            </a:r>
            <a:r>
              <a:rPr sz="980" b="0" dirty="0">
                <a:solidFill>
                  <a:srgbClr val="1F2937"/>
                </a:solidFill>
                <a:latin typeface="Arial"/>
              </a:rPr>
              <a:t>: https://commons.wikimedia.org/wiki/File:PhishingTrustedBank.png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0F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75488"/>
            <a:ext cx="201168" cy="6382512"/>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8912" y="164592"/>
            <a:ext cx="1417320" cy="292608"/>
          </a:xfrm>
          <a:prstGeom prst="roundRect">
            <a:avLst/>
          </a:prstGeom>
          <a:solidFill>
            <a:srgbClr val="E46A2E"/>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t">
            <a:normAutofit/>
          </a:bodyPr>
          <a:lstStyle/>
          <a:p>
            <a:pPr algn="ctr">
              <a:lnSpc>
                <a:spcPct val="112000"/>
              </a:lnSpc>
              <a:spcAft>
                <a:spcPts val="400"/>
              </a:spcAft>
            </a:pPr>
            <a:r>
              <a:rPr sz="1200" b="1">
                <a:solidFill>
                  <a:srgbClr val="FFFFFF"/>
                </a:solidFill>
                <a:latin typeface="Arial"/>
              </a:rPr>
              <a:t>CHƯƠNG 1</a:t>
            </a:r>
          </a:p>
        </p:txBody>
      </p:sp>
      <p:sp>
        <p:nvSpPr>
          <p:cNvPr id="5" name="TextBox 4"/>
          <p:cNvSpPr txBox="1"/>
          <p:nvPr/>
        </p:nvSpPr>
        <p:spPr>
          <a:xfrm>
            <a:off x="502920" y="658368"/>
            <a:ext cx="8138160" cy="475488"/>
          </a:xfrm>
          <a:prstGeom prst="rect">
            <a:avLst/>
          </a:prstGeom>
          <a:noFill/>
        </p:spPr>
        <p:txBody>
          <a:bodyPr wrap="square" lIns="0" tIns="0" rIns="0" bIns="0" anchor="t">
            <a:normAutofit/>
          </a:bodyPr>
          <a:lstStyle/>
          <a:p>
            <a:pPr algn="l">
              <a:lnSpc>
                <a:spcPct val="112000"/>
              </a:lnSpc>
              <a:spcAft>
                <a:spcPts val="400"/>
              </a:spcAft>
            </a:pPr>
            <a:r>
              <a:rPr sz="2400" b="1">
                <a:solidFill>
                  <a:srgbClr val="0F2747"/>
                </a:solidFill>
                <a:latin typeface="Arial"/>
              </a:rPr>
              <a:t>Tại sao cần lọc spam email?</a:t>
            </a:r>
          </a:p>
        </p:txBody>
      </p:sp>
      <p:sp>
        <p:nvSpPr>
          <p:cNvPr id="6" name="TextBox 5"/>
          <p:cNvSpPr txBox="1"/>
          <p:nvPr/>
        </p:nvSpPr>
        <p:spPr>
          <a:xfrm>
            <a:off x="502920" y="6446520"/>
            <a:ext cx="10789920" cy="164592"/>
          </a:xfrm>
          <a:prstGeom prst="rect">
            <a:avLst/>
          </a:prstGeom>
          <a:noFill/>
        </p:spPr>
        <p:txBody>
          <a:bodyPr wrap="square" lIns="0" tIns="0" rIns="0" bIns="0" anchor="t">
            <a:normAutofit/>
          </a:bodyPr>
          <a:lstStyle/>
          <a:p>
            <a:pPr algn="l">
              <a:lnSpc>
                <a:spcPct val="112000"/>
              </a:lnSpc>
              <a:spcAft>
                <a:spcPts val="400"/>
              </a:spcAft>
            </a:pPr>
            <a:r>
              <a:rPr sz="850" b="0">
                <a:solidFill>
                  <a:srgbClr val="5B677A"/>
                </a:solidFill>
                <a:latin typeface="Arial"/>
              </a:rPr>
              <a:t>Xây dựng hệ thống phát hiện và lọc spam email | Đồ án Truy hồi thông tin | Trang 4</a:t>
            </a:r>
          </a:p>
        </p:txBody>
      </p:sp>
      <p:sp>
        <p:nvSpPr>
          <p:cNvPr id="7" name="Rounded Rectangle 6"/>
          <p:cNvSpPr/>
          <p:nvPr/>
        </p:nvSpPr>
        <p:spPr>
          <a:xfrm>
            <a:off x="502920" y="1417320"/>
            <a:ext cx="11155680" cy="4709160"/>
          </a:xfrm>
          <a:prstGeom prst="roundRect">
            <a:avLst/>
          </a:prstGeom>
          <a:solidFill>
            <a:srgbClr val="FFFF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normAutofit/>
          </a:bodyPr>
          <a:lstStyle/>
          <a:p>
            <a:pPr algn="l">
              <a:lnSpc>
                <a:spcPct val="112000"/>
              </a:lnSpc>
              <a:spcAft>
                <a:spcPts val="400"/>
              </a:spcAft>
            </a:pPr>
            <a:r>
              <a:rPr sz="1600" b="0">
                <a:solidFill>
                  <a:srgbClr val="1F2937"/>
                </a:solidFill>
                <a:latin typeface="Arial"/>
              </a:rPr>
              <a:t>Spam làm hộp thư bị nhiễu, khiến người dùng khó tập trung vào email hợp lệ. Với môi trường có lưu lượng trao đổi lớn, chỉ cần một tỉ lệ nhỏ thư rác lọt vào cũng đủ làm giảm hiệu quả xử lý công việc.</a:t>
            </a:r>
          </a:p>
          <a:p>
            <a:pPr algn="l">
              <a:lnSpc>
                <a:spcPct val="112000"/>
              </a:lnSpc>
              <a:spcAft>
                <a:spcPts val="400"/>
              </a:spcAft>
            </a:pPr>
            <a:r>
              <a:rPr sz="1600" b="0">
                <a:solidFill>
                  <a:srgbClr val="1F2937"/>
                </a:solidFill>
                <a:latin typeface="Arial"/>
              </a:rPr>
              <a:t>• Nhiều email spam hiện nay không dừng ở quảng cáo mà ngụy trang dưới dạng xác minh tài khoản, cảnh báo thanh toán, OTP, ưu đãi giới hạn thời gian hoặc thông báo khẩn.</a:t>
            </a:r>
          </a:p>
          <a:p>
            <a:pPr algn="l">
              <a:lnSpc>
                <a:spcPct val="112000"/>
              </a:lnSpc>
              <a:spcAft>
                <a:spcPts val="400"/>
              </a:spcAft>
            </a:pPr>
            <a:r>
              <a:rPr sz="1600" b="0">
                <a:solidFill>
                  <a:srgbClr val="1F2937"/>
                </a:solidFill>
                <a:latin typeface="Arial"/>
              </a:rPr>
              <a:t>• Một hệ thống lọc spam tốt phải cân bằng hai mục tiêu: bắt được thư rác càng nhiều càng tốt và đồng thời không chặn nhầm thư hợp lệ.</a:t>
            </a:r>
          </a:p>
          <a:p>
            <a:pPr algn="l">
              <a:lnSpc>
                <a:spcPct val="112000"/>
              </a:lnSpc>
              <a:spcAft>
                <a:spcPts val="400"/>
              </a:spcAft>
            </a:pPr>
            <a:r>
              <a:rPr sz="1600" b="0">
                <a:solidFill>
                  <a:srgbClr val="1F2937"/>
                </a:solidFill>
                <a:latin typeface="Arial"/>
              </a:rPr>
              <a:t>• bài toán này còn cho phép nhóm gắn chặt nội dung môn học với ứng dụng thực tế: biểu diễn tài liệu, weighting, vector space model, information filtering và đánh giá theo lớp mục tiêu.</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0F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75488"/>
            <a:ext cx="201168" cy="6382512"/>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8912" y="164592"/>
            <a:ext cx="1417320" cy="292608"/>
          </a:xfrm>
          <a:prstGeom prst="roundRect">
            <a:avLst/>
          </a:prstGeom>
          <a:solidFill>
            <a:srgbClr val="E46A2E"/>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t">
            <a:normAutofit/>
          </a:bodyPr>
          <a:lstStyle/>
          <a:p>
            <a:pPr algn="ctr">
              <a:lnSpc>
                <a:spcPct val="112000"/>
              </a:lnSpc>
              <a:spcAft>
                <a:spcPts val="400"/>
              </a:spcAft>
            </a:pPr>
            <a:r>
              <a:rPr sz="1200" b="1">
                <a:solidFill>
                  <a:srgbClr val="FFFFFF"/>
                </a:solidFill>
                <a:latin typeface="Arial"/>
              </a:rPr>
              <a:t>CHƯƠNG 1</a:t>
            </a:r>
          </a:p>
        </p:txBody>
      </p:sp>
      <p:sp>
        <p:nvSpPr>
          <p:cNvPr id="5" name="TextBox 4"/>
          <p:cNvSpPr txBox="1"/>
          <p:nvPr/>
        </p:nvSpPr>
        <p:spPr>
          <a:xfrm>
            <a:off x="502920" y="658368"/>
            <a:ext cx="8138160" cy="475488"/>
          </a:xfrm>
          <a:prstGeom prst="rect">
            <a:avLst/>
          </a:prstGeom>
          <a:noFill/>
        </p:spPr>
        <p:txBody>
          <a:bodyPr wrap="square" lIns="0" tIns="0" rIns="0" bIns="0" anchor="t">
            <a:normAutofit/>
          </a:bodyPr>
          <a:lstStyle/>
          <a:p>
            <a:pPr algn="l">
              <a:lnSpc>
                <a:spcPct val="112000"/>
              </a:lnSpc>
              <a:spcAft>
                <a:spcPts val="400"/>
              </a:spcAft>
            </a:pPr>
            <a:r>
              <a:rPr sz="2400" b="1">
                <a:solidFill>
                  <a:srgbClr val="0F2747"/>
                </a:solidFill>
                <a:latin typeface="Arial"/>
              </a:rPr>
              <a:t>Mục tiêu và đóng góp của đề tài</a:t>
            </a:r>
          </a:p>
        </p:txBody>
      </p:sp>
      <p:sp>
        <p:nvSpPr>
          <p:cNvPr id="6" name="TextBox 5"/>
          <p:cNvSpPr txBox="1"/>
          <p:nvPr/>
        </p:nvSpPr>
        <p:spPr>
          <a:xfrm>
            <a:off x="502920" y="6446520"/>
            <a:ext cx="10789920" cy="164592"/>
          </a:xfrm>
          <a:prstGeom prst="rect">
            <a:avLst/>
          </a:prstGeom>
          <a:noFill/>
        </p:spPr>
        <p:txBody>
          <a:bodyPr wrap="square" lIns="0" tIns="0" rIns="0" bIns="0" anchor="t">
            <a:normAutofit/>
          </a:bodyPr>
          <a:lstStyle/>
          <a:p>
            <a:pPr algn="l">
              <a:lnSpc>
                <a:spcPct val="112000"/>
              </a:lnSpc>
              <a:spcAft>
                <a:spcPts val="400"/>
              </a:spcAft>
            </a:pPr>
            <a:r>
              <a:rPr sz="850" b="0">
                <a:solidFill>
                  <a:srgbClr val="5B677A"/>
                </a:solidFill>
                <a:latin typeface="Arial"/>
              </a:rPr>
              <a:t>Xây dựng hệ thống phát hiện và lọc spam email | Đồ án Truy hồi thông tin | Trang 5</a:t>
            </a:r>
          </a:p>
        </p:txBody>
      </p:sp>
      <p:sp>
        <p:nvSpPr>
          <p:cNvPr id="7" name="Rounded Rectangle 6"/>
          <p:cNvSpPr/>
          <p:nvPr/>
        </p:nvSpPr>
        <p:spPr>
          <a:xfrm>
            <a:off x="502920" y="1417320"/>
            <a:ext cx="11155680" cy="4709160"/>
          </a:xfrm>
          <a:prstGeom prst="roundRect">
            <a:avLst/>
          </a:prstGeom>
          <a:solidFill>
            <a:srgbClr val="FFFF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normAutofit/>
          </a:bodyPr>
          <a:lstStyle/>
          <a:p>
            <a:pPr algn="l">
              <a:lnSpc>
                <a:spcPct val="112000"/>
              </a:lnSpc>
              <a:spcAft>
                <a:spcPts val="400"/>
              </a:spcAft>
            </a:pPr>
            <a:r>
              <a:rPr sz="1600" b="0">
                <a:solidFill>
                  <a:srgbClr val="1F2937"/>
                </a:solidFill>
                <a:latin typeface="Arial"/>
              </a:rPr>
              <a:t>Xây dựng một pipeline hoàn chỉnh nhận email thô hoặc nội dung văn bản, thực hiện parse, làm sạch, vector hóa TF-IDF, phân loại spam/ham và trả về kết quả dự đoán có thể demo trực tiếp.</a:t>
            </a:r>
          </a:p>
          <a:p>
            <a:pPr algn="l">
              <a:lnSpc>
                <a:spcPct val="112000"/>
              </a:lnSpc>
              <a:spcAft>
                <a:spcPts val="400"/>
              </a:spcAft>
            </a:pPr>
            <a:r>
              <a:rPr sz="1600" b="0">
                <a:solidFill>
                  <a:srgbClr val="1F2937"/>
                </a:solidFill>
                <a:latin typeface="Arial"/>
              </a:rPr>
              <a:t>• Bám sát yêu cầu đề tài 19: sử dụng Python, TF-IDF và mô hình Naive Bayes hoặc SVM; đánh giá bằng precision, recall, F1-score và các thước đo liên quan tới bài toán lọc spam.</a:t>
            </a:r>
          </a:p>
          <a:p>
            <a:pPr algn="l">
              <a:lnSpc>
                <a:spcPct val="112000"/>
              </a:lnSpc>
              <a:spcAft>
                <a:spcPts val="400"/>
              </a:spcAft>
            </a:pPr>
            <a:r>
              <a:rPr sz="1600" b="0">
                <a:solidFill>
                  <a:srgbClr val="1F2937"/>
                </a:solidFill>
                <a:latin typeface="Arial"/>
              </a:rPr>
              <a:t>• Huấn luyện không chỉ hai mô hình trọng tâm là Multinomial Naive Bayes và Linear SVM mà còn benchmark thêm Logistic Regression, Random Forest, Majority baseline và Keyword baseline để có đối chứng khách quan.</a:t>
            </a:r>
          </a:p>
          <a:p>
            <a:pPr algn="l">
              <a:lnSpc>
                <a:spcPct val="112000"/>
              </a:lnSpc>
              <a:spcAft>
                <a:spcPts val="400"/>
              </a:spcAft>
            </a:pPr>
            <a:r>
              <a:rPr sz="1600" b="0">
                <a:solidFill>
                  <a:srgbClr val="1F2937"/>
                </a:solidFill>
                <a:latin typeface="Arial"/>
              </a:rPr>
              <a:t>• Tạo giao diện Streamlit cho phép nhập văn bản, tải file email, xem điểm số dự đoán, xem token đóng góp và quan sát trực tiếp các chỉ số đánh giá.</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0F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75488"/>
            <a:ext cx="201168" cy="6382512"/>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8912" y="164592"/>
            <a:ext cx="1417320" cy="292608"/>
          </a:xfrm>
          <a:prstGeom prst="roundRect">
            <a:avLst/>
          </a:prstGeom>
          <a:solidFill>
            <a:srgbClr val="E46A2E"/>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t">
            <a:normAutofit/>
          </a:bodyPr>
          <a:lstStyle/>
          <a:p>
            <a:pPr algn="ctr">
              <a:lnSpc>
                <a:spcPct val="112000"/>
              </a:lnSpc>
              <a:spcAft>
                <a:spcPts val="400"/>
              </a:spcAft>
            </a:pPr>
            <a:r>
              <a:rPr sz="1200" b="1">
                <a:solidFill>
                  <a:srgbClr val="FFFFFF"/>
                </a:solidFill>
                <a:latin typeface="Arial"/>
              </a:rPr>
              <a:t>CHƯƠNG 1</a:t>
            </a:r>
          </a:p>
        </p:txBody>
      </p:sp>
      <p:sp>
        <p:nvSpPr>
          <p:cNvPr id="5" name="TextBox 4"/>
          <p:cNvSpPr txBox="1"/>
          <p:nvPr/>
        </p:nvSpPr>
        <p:spPr>
          <a:xfrm>
            <a:off x="502920" y="658368"/>
            <a:ext cx="8138160" cy="475488"/>
          </a:xfrm>
          <a:prstGeom prst="rect">
            <a:avLst/>
          </a:prstGeom>
          <a:noFill/>
        </p:spPr>
        <p:txBody>
          <a:bodyPr wrap="square" lIns="0" tIns="0" rIns="0" bIns="0" anchor="t">
            <a:normAutofit/>
          </a:bodyPr>
          <a:lstStyle/>
          <a:p>
            <a:pPr algn="l">
              <a:lnSpc>
                <a:spcPct val="112000"/>
              </a:lnSpc>
              <a:spcAft>
                <a:spcPts val="400"/>
              </a:spcAft>
            </a:pPr>
            <a:r>
              <a:rPr sz="2400" b="1">
                <a:solidFill>
                  <a:srgbClr val="0F2747"/>
                </a:solidFill>
                <a:latin typeface="Arial"/>
              </a:rPr>
              <a:t>Phạm vi và giới hạn của đồ án</a:t>
            </a:r>
          </a:p>
        </p:txBody>
      </p:sp>
      <p:sp>
        <p:nvSpPr>
          <p:cNvPr id="6" name="TextBox 5"/>
          <p:cNvSpPr txBox="1"/>
          <p:nvPr/>
        </p:nvSpPr>
        <p:spPr>
          <a:xfrm>
            <a:off x="502920" y="6446520"/>
            <a:ext cx="10789920" cy="164592"/>
          </a:xfrm>
          <a:prstGeom prst="rect">
            <a:avLst/>
          </a:prstGeom>
          <a:noFill/>
        </p:spPr>
        <p:txBody>
          <a:bodyPr wrap="square" lIns="0" tIns="0" rIns="0" bIns="0" anchor="t">
            <a:normAutofit/>
          </a:bodyPr>
          <a:lstStyle/>
          <a:p>
            <a:pPr algn="l">
              <a:lnSpc>
                <a:spcPct val="112000"/>
              </a:lnSpc>
              <a:spcAft>
                <a:spcPts val="400"/>
              </a:spcAft>
            </a:pPr>
            <a:r>
              <a:rPr sz="850" b="0">
                <a:solidFill>
                  <a:srgbClr val="5B677A"/>
                </a:solidFill>
                <a:latin typeface="Arial"/>
              </a:rPr>
              <a:t>Xây dựng hệ thống phát hiện và lọc spam email | Đồ án Truy hồi thông tin | Trang 6</a:t>
            </a:r>
          </a:p>
        </p:txBody>
      </p:sp>
      <p:sp>
        <p:nvSpPr>
          <p:cNvPr id="7" name="Rounded Rectangle 6"/>
          <p:cNvSpPr/>
          <p:nvPr/>
        </p:nvSpPr>
        <p:spPr>
          <a:xfrm>
            <a:off x="502920" y="1417320"/>
            <a:ext cx="11155680" cy="4709160"/>
          </a:xfrm>
          <a:prstGeom prst="roundRect">
            <a:avLst/>
          </a:prstGeom>
          <a:solidFill>
            <a:srgbClr val="FFFF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normAutofit/>
          </a:bodyPr>
          <a:lstStyle/>
          <a:p>
            <a:pPr algn="l">
              <a:lnSpc>
                <a:spcPct val="112000"/>
              </a:lnSpc>
              <a:spcAft>
                <a:spcPts val="400"/>
              </a:spcAft>
            </a:pPr>
            <a:r>
              <a:rPr sz="1600" b="0">
                <a:solidFill>
                  <a:srgbClr val="1F2937"/>
                </a:solidFill>
                <a:latin typeface="Arial"/>
              </a:rPr>
              <a:t>Hệ thống hiện tập trung vào phần nội dung văn bản của email, chủ yếu là subject và body.</a:t>
            </a:r>
          </a:p>
          <a:p>
            <a:pPr algn="l">
              <a:lnSpc>
                <a:spcPct val="112000"/>
              </a:lnSpc>
              <a:spcAft>
                <a:spcPts val="400"/>
              </a:spcAft>
            </a:pPr>
            <a:r>
              <a:rPr sz="1600" b="0">
                <a:solidFill>
                  <a:srgbClr val="1F2937"/>
                </a:solidFill>
                <a:latin typeface="Arial"/>
              </a:rPr>
              <a:t>• Quy mô dữ liệu dùng được sau parse là 5,691 email. Với phạm vi đồ án, đây là quy mô đủ tốt để huấn luyện và benchmark; tuy nhiên nó vẫn nhỏ hơn đáng kể so với hệ thống lọc spam ở môi trường production thực tế.</a:t>
            </a:r>
          </a:p>
          <a:p>
            <a:pPr algn="l">
              <a:lnSpc>
                <a:spcPct val="112000"/>
              </a:lnSpc>
              <a:spcAft>
                <a:spcPts val="400"/>
              </a:spcAft>
            </a:pPr>
            <a:r>
              <a:rPr sz="1600" b="0">
                <a:solidFill>
                  <a:srgbClr val="1F2937"/>
                </a:solidFill>
                <a:latin typeface="Arial"/>
              </a:rPr>
              <a:t>• Dữ liệu tiếng Việt đã được bổ sung để tăng tính ứng dụng, nhưng phần tiếng Anh vẫn là phần chiếm ưu thế về số lượng.</a:t>
            </a:r>
          </a:p>
          <a:p>
            <a:pPr algn="l">
              <a:lnSpc>
                <a:spcPct val="112000"/>
              </a:lnSpc>
              <a:spcAft>
                <a:spcPts val="400"/>
              </a:spcAft>
            </a:pPr>
            <a:r>
              <a:rPr sz="1600" b="0">
                <a:solidFill>
                  <a:srgbClr val="1F2937"/>
                </a:solidFill>
                <a:latin typeface="Arial"/>
              </a:rPr>
              <a:t>• Trong cấu hình mặc định của pipeline, bước dedup chưa bật nên bộ dữ liệu còn 403 nội dung trùng lặp. Báo cáo đã nêu rõ điểm này vì nó có thể khiến kết quả đánh giá lạc quan hơn một mức nhất định.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0F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75488"/>
            <a:ext cx="201168" cy="6382512"/>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8912" y="164592"/>
            <a:ext cx="1417320" cy="292608"/>
          </a:xfrm>
          <a:prstGeom prst="roundRect">
            <a:avLst/>
          </a:prstGeom>
          <a:solidFill>
            <a:srgbClr val="E46A2E"/>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t">
            <a:normAutofit/>
          </a:bodyPr>
          <a:lstStyle/>
          <a:p>
            <a:pPr algn="ctr">
              <a:lnSpc>
                <a:spcPct val="112000"/>
              </a:lnSpc>
              <a:spcAft>
                <a:spcPts val="400"/>
              </a:spcAft>
            </a:pPr>
            <a:r>
              <a:rPr sz="1200" b="1">
                <a:solidFill>
                  <a:srgbClr val="FFFFFF"/>
                </a:solidFill>
                <a:latin typeface="Arial"/>
              </a:rPr>
              <a:t>CHƯƠNG 1</a:t>
            </a:r>
          </a:p>
        </p:txBody>
      </p:sp>
      <p:sp>
        <p:nvSpPr>
          <p:cNvPr id="5" name="TextBox 4"/>
          <p:cNvSpPr txBox="1"/>
          <p:nvPr/>
        </p:nvSpPr>
        <p:spPr>
          <a:xfrm>
            <a:off x="502920" y="658368"/>
            <a:ext cx="8138160" cy="475488"/>
          </a:xfrm>
          <a:prstGeom prst="rect">
            <a:avLst/>
          </a:prstGeom>
          <a:noFill/>
        </p:spPr>
        <p:txBody>
          <a:bodyPr wrap="square" lIns="0" tIns="0" rIns="0" bIns="0" anchor="t">
            <a:normAutofit/>
          </a:bodyPr>
          <a:lstStyle/>
          <a:p>
            <a:pPr algn="l">
              <a:lnSpc>
                <a:spcPct val="112000"/>
              </a:lnSpc>
              <a:spcAft>
                <a:spcPts val="400"/>
              </a:spcAft>
            </a:pPr>
            <a:r>
              <a:rPr sz="2400" b="1">
                <a:solidFill>
                  <a:srgbClr val="0F2747"/>
                </a:solidFill>
                <a:latin typeface="Arial"/>
              </a:rPr>
              <a:t>Những gì nhóm đã hiện thực trong repo</a:t>
            </a:r>
          </a:p>
        </p:txBody>
      </p:sp>
      <p:sp>
        <p:nvSpPr>
          <p:cNvPr id="6" name="TextBox 5"/>
          <p:cNvSpPr txBox="1"/>
          <p:nvPr/>
        </p:nvSpPr>
        <p:spPr>
          <a:xfrm>
            <a:off x="502920" y="6446520"/>
            <a:ext cx="10789920" cy="164592"/>
          </a:xfrm>
          <a:prstGeom prst="rect">
            <a:avLst/>
          </a:prstGeom>
          <a:noFill/>
        </p:spPr>
        <p:txBody>
          <a:bodyPr wrap="square" lIns="0" tIns="0" rIns="0" bIns="0" anchor="t">
            <a:normAutofit/>
          </a:bodyPr>
          <a:lstStyle/>
          <a:p>
            <a:pPr algn="l">
              <a:lnSpc>
                <a:spcPct val="112000"/>
              </a:lnSpc>
              <a:spcAft>
                <a:spcPts val="400"/>
              </a:spcAft>
            </a:pPr>
            <a:r>
              <a:rPr sz="850" b="0">
                <a:solidFill>
                  <a:srgbClr val="5B677A"/>
                </a:solidFill>
                <a:latin typeface="Arial"/>
              </a:rPr>
              <a:t>Xây dựng hệ thống phát hiện và lọc spam email | Đồ án Truy hồi thông tin | Trang 7</a:t>
            </a:r>
          </a:p>
        </p:txBody>
      </p:sp>
      <p:sp>
        <p:nvSpPr>
          <p:cNvPr id="7" name="Rounded Rectangle 6"/>
          <p:cNvSpPr/>
          <p:nvPr/>
        </p:nvSpPr>
        <p:spPr>
          <a:xfrm>
            <a:off x="502920" y="1417320"/>
            <a:ext cx="11155680" cy="4709160"/>
          </a:xfrm>
          <a:prstGeom prst="roundRect">
            <a:avLst/>
          </a:prstGeom>
          <a:solidFill>
            <a:srgbClr val="FFFF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normAutofit/>
          </a:bodyPr>
          <a:lstStyle/>
          <a:p>
            <a:pPr algn="l">
              <a:lnSpc>
                <a:spcPct val="112000"/>
              </a:lnSpc>
              <a:spcAft>
                <a:spcPts val="400"/>
              </a:spcAft>
            </a:pPr>
            <a:r>
              <a:rPr sz="1600" b="0">
                <a:solidFill>
                  <a:srgbClr val="1F2937"/>
                </a:solidFill>
                <a:latin typeface="Arial"/>
              </a:rPr>
              <a:t>Mã nguồn được tách rõ thành các module trong src gồm: nạp dữ liệu, parse email, làm sạch văn bản, vector hóa TF-IDF, huấn luyện, đánh giá và dự đoán.</a:t>
            </a:r>
          </a:p>
          <a:p>
            <a:pPr algn="l">
              <a:lnSpc>
                <a:spcPct val="112000"/>
              </a:lnSpc>
              <a:spcAft>
                <a:spcPts val="400"/>
              </a:spcAft>
            </a:pPr>
            <a:r>
              <a:rPr sz="1600" b="0">
                <a:solidFill>
                  <a:srgbClr val="1F2937"/>
                </a:solidFill>
                <a:latin typeface="Arial"/>
              </a:rPr>
              <a:t>• Dữ liệu được lưu trong data/bilingual theo hai nhãn ham và spam; các bản trung gian và bản đã chia train/test được lưu tiếp trong data/interim và data/processed để tiện tái lập thí nghiệm.</a:t>
            </a:r>
          </a:p>
          <a:p>
            <a:pPr algn="l">
              <a:lnSpc>
                <a:spcPct val="112000"/>
              </a:lnSpc>
              <a:spcAft>
                <a:spcPts val="400"/>
              </a:spcAft>
            </a:pPr>
            <a:r>
              <a:rPr sz="1600" b="0">
                <a:solidFill>
                  <a:srgbClr val="1F2937"/>
                </a:solidFill>
                <a:latin typeface="Arial"/>
              </a:rPr>
              <a:t>• Mỗi mô hình tốt nhất sau huấn luyện được lưu thành file joblib trong thư mục models. Ngoài best_model.joblib còn có svm_best.joblib, nb_best.joblib, lr_best.joblib, rf_best.joblib để so sánh trực tiếp từng hướng.</a:t>
            </a:r>
          </a:p>
          <a:p>
            <a:pPr algn="l">
              <a:lnSpc>
                <a:spcPct val="112000"/>
              </a:lnSpc>
              <a:spcAft>
                <a:spcPts val="400"/>
              </a:spcAft>
            </a:pPr>
            <a:r>
              <a:rPr sz="1600" b="0">
                <a:solidFill>
                  <a:srgbClr val="1F2937"/>
                </a:solidFill>
                <a:latin typeface="Arial"/>
              </a:rPr>
              <a:t>• Thư mục reports/results chứa đầy đủ metrics.csv, eval_metrics.csv, classification_report.csv và misclassified_examples.csv. Đây là nguồn số liệu chính được dùng để dựng lại bộ slide hiện tại.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0F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75488"/>
            <a:ext cx="201168" cy="6382512"/>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8912" y="164592"/>
            <a:ext cx="1417320" cy="292608"/>
          </a:xfrm>
          <a:prstGeom prst="roundRect">
            <a:avLst/>
          </a:prstGeom>
          <a:solidFill>
            <a:srgbClr val="E46A2E"/>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t">
            <a:normAutofit/>
          </a:bodyPr>
          <a:lstStyle/>
          <a:p>
            <a:pPr algn="ctr">
              <a:lnSpc>
                <a:spcPct val="112000"/>
              </a:lnSpc>
              <a:spcAft>
                <a:spcPts val="400"/>
              </a:spcAft>
            </a:pPr>
            <a:r>
              <a:rPr sz="1200" b="1">
                <a:solidFill>
                  <a:srgbClr val="FFFFFF"/>
                </a:solidFill>
                <a:latin typeface="Arial"/>
              </a:rPr>
              <a:t>CHƯƠNG 2</a:t>
            </a:r>
          </a:p>
        </p:txBody>
      </p:sp>
      <p:sp>
        <p:nvSpPr>
          <p:cNvPr id="5" name="TextBox 4"/>
          <p:cNvSpPr txBox="1"/>
          <p:nvPr/>
        </p:nvSpPr>
        <p:spPr>
          <a:xfrm>
            <a:off x="502920" y="658368"/>
            <a:ext cx="8138160" cy="475488"/>
          </a:xfrm>
          <a:prstGeom prst="rect">
            <a:avLst/>
          </a:prstGeom>
          <a:noFill/>
        </p:spPr>
        <p:txBody>
          <a:bodyPr wrap="square" lIns="0" tIns="0" rIns="0" bIns="0" anchor="t">
            <a:normAutofit/>
          </a:bodyPr>
          <a:lstStyle/>
          <a:p>
            <a:pPr algn="l">
              <a:lnSpc>
                <a:spcPct val="112000"/>
              </a:lnSpc>
              <a:spcAft>
                <a:spcPts val="400"/>
              </a:spcAft>
            </a:pPr>
            <a:r>
              <a:rPr sz="2400" b="1">
                <a:solidFill>
                  <a:srgbClr val="0F2747"/>
                </a:solidFill>
                <a:latin typeface="Arial"/>
              </a:rPr>
              <a:t>Các khái niệm cơ bản: ham, spam và phishing</a:t>
            </a:r>
          </a:p>
        </p:txBody>
      </p:sp>
      <p:sp>
        <p:nvSpPr>
          <p:cNvPr id="6" name="TextBox 5"/>
          <p:cNvSpPr txBox="1"/>
          <p:nvPr/>
        </p:nvSpPr>
        <p:spPr>
          <a:xfrm>
            <a:off x="502920" y="6446520"/>
            <a:ext cx="10789920" cy="164592"/>
          </a:xfrm>
          <a:prstGeom prst="rect">
            <a:avLst/>
          </a:prstGeom>
          <a:noFill/>
        </p:spPr>
        <p:txBody>
          <a:bodyPr wrap="square" lIns="0" tIns="0" rIns="0" bIns="0" anchor="t">
            <a:normAutofit/>
          </a:bodyPr>
          <a:lstStyle/>
          <a:p>
            <a:pPr algn="l">
              <a:lnSpc>
                <a:spcPct val="112000"/>
              </a:lnSpc>
              <a:spcAft>
                <a:spcPts val="400"/>
              </a:spcAft>
            </a:pPr>
            <a:r>
              <a:rPr sz="850" b="0">
                <a:solidFill>
                  <a:srgbClr val="5B677A"/>
                </a:solidFill>
                <a:latin typeface="Arial"/>
              </a:rPr>
              <a:t>Xây dựng hệ thống phát hiện và lọc spam email | Đồ án Truy hồi thông tin | Trang 8</a:t>
            </a:r>
          </a:p>
        </p:txBody>
      </p:sp>
      <p:sp>
        <p:nvSpPr>
          <p:cNvPr id="7" name="Rounded Rectangle 6"/>
          <p:cNvSpPr/>
          <p:nvPr/>
        </p:nvSpPr>
        <p:spPr>
          <a:xfrm>
            <a:off x="502920" y="1417320"/>
            <a:ext cx="11155680" cy="4709160"/>
          </a:xfrm>
          <a:prstGeom prst="roundRect">
            <a:avLst/>
          </a:prstGeom>
          <a:solidFill>
            <a:srgbClr val="FFFF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normAutofit/>
          </a:bodyPr>
          <a:lstStyle/>
          <a:p>
            <a:pPr algn="l">
              <a:lnSpc>
                <a:spcPct val="112000"/>
              </a:lnSpc>
              <a:spcAft>
                <a:spcPts val="400"/>
              </a:spcAft>
            </a:pPr>
            <a:r>
              <a:rPr sz="1600" b="0">
                <a:solidFill>
                  <a:srgbClr val="1F2937"/>
                </a:solidFill>
                <a:latin typeface="Arial"/>
              </a:rPr>
              <a:t>Ham là email hợp lệ, phục vụ trao đổi công việc, học tập, lịch họp, gửi tài liệu hoặc giao tiếp cá nhân. Trong dữ liệu của nhóm, ham bao gồm cả email doanh nghiệp dài lẫn các email hội thoại ngắn.</a:t>
            </a:r>
          </a:p>
          <a:p>
            <a:pPr algn="l">
              <a:lnSpc>
                <a:spcPct val="112000"/>
              </a:lnSpc>
              <a:spcAft>
                <a:spcPts val="400"/>
              </a:spcAft>
            </a:pPr>
            <a:r>
              <a:rPr sz="1600" b="0">
                <a:solidFill>
                  <a:srgbClr val="1F2937"/>
                </a:solidFill>
                <a:latin typeface="Arial"/>
              </a:rPr>
              <a:t>• Spam là email không mong muốn, thường được gửi hàng loạt với mục tiêu quảng cáo, lôi kéo thao tác, phát tán nội dung không liên quan hoặc thu hút người đọc bằng các lợi ích tài chính.</a:t>
            </a:r>
          </a:p>
          <a:p>
            <a:pPr algn="l">
              <a:lnSpc>
                <a:spcPct val="112000"/>
              </a:lnSpc>
              <a:spcAft>
                <a:spcPts val="400"/>
              </a:spcAft>
            </a:pPr>
            <a:r>
              <a:rPr sz="1600" b="0">
                <a:solidFill>
                  <a:srgbClr val="1F2937"/>
                </a:solidFill>
                <a:latin typeface="Arial"/>
              </a:rPr>
              <a:t>• Phishing là lớp con nguy hiểm của spam. Điểm khác biệt nằm ở việc email cố tình ngụy trang như đến từ tổ chức tin cậy để đánh cắp thông tin đăng nhập, tiền, mã OTP hoặc hướng người dùng tới liên kết giả mạo.</a:t>
            </a:r>
          </a:p>
          <a:p>
            <a:pPr algn="l">
              <a:lnSpc>
                <a:spcPct val="112000"/>
              </a:lnSpc>
              <a:spcAft>
                <a:spcPts val="400"/>
              </a:spcAft>
            </a:pPr>
            <a:r>
              <a:rPr sz="1600" b="0">
                <a:solidFill>
                  <a:srgbClr val="1F2937"/>
                </a:solidFill>
                <a:latin typeface="Arial"/>
              </a:rPr>
              <a:t>• spam được xem là positive class vì đây là nhóm email mà hệ thống cần phát hiện và có khả năng chặn lại. Vì vậy precision_spam, recall_spam và F1_spam là các chỉ số trung tâm của toàn bộ đánh giá.</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0F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75488"/>
            <a:ext cx="201168" cy="6382512"/>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8912" y="164592"/>
            <a:ext cx="1417320" cy="292608"/>
          </a:xfrm>
          <a:prstGeom prst="roundRect">
            <a:avLst/>
          </a:prstGeom>
          <a:solidFill>
            <a:srgbClr val="E46A2E"/>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t">
            <a:normAutofit/>
          </a:bodyPr>
          <a:lstStyle/>
          <a:p>
            <a:pPr algn="ctr">
              <a:lnSpc>
                <a:spcPct val="112000"/>
              </a:lnSpc>
              <a:spcAft>
                <a:spcPts val="400"/>
              </a:spcAft>
            </a:pPr>
            <a:r>
              <a:rPr sz="1200" b="1">
                <a:solidFill>
                  <a:srgbClr val="FFFFFF"/>
                </a:solidFill>
                <a:latin typeface="Arial"/>
              </a:rPr>
              <a:t>CHƯƠNG 2</a:t>
            </a:r>
          </a:p>
        </p:txBody>
      </p:sp>
      <p:sp>
        <p:nvSpPr>
          <p:cNvPr id="5" name="TextBox 4"/>
          <p:cNvSpPr txBox="1"/>
          <p:nvPr/>
        </p:nvSpPr>
        <p:spPr>
          <a:xfrm>
            <a:off x="502920" y="658368"/>
            <a:ext cx="8138160" cy="475488"/>
          </a:xfrm>
          <a:prstGeom prst="rect">
            <a:avLst/>
          </a:prstGeom>
          <a:noFill/>
        </p:spPr>
        <p:txBody>
          <a:bodyPr wrap="square" lIns="0" tIns="0" rIns="0" bIns="0" anchor="t">
            <a:normAutofit/>
          </a:bodyPr>
          <a:lstStyle/>
          <a:p>
            <a:pPr algn="l">
              <a:lnSpc>
                <a:spcPct val="112000"/>
              </a:lnSpc>
              <a:spcAft>
                <a:spcPts val="400"/>
              </a:spcAft>
            </a:pPr>
            <a:r>
              <a:rPr sz="2400" b="1">
                <a:solidFill>
                  <a:srgbClr val="0F2747"/>
                </a:solidFill>
                <a:latin typeface="Arial"/>
              </a:rPr>
              <a:t>Góc nhìn Truy hồi thông tin và information filtering</a:t>
            </a:r>
          </a:p>
        </p:txBody>
      </p:sp>
      <p:sp>
        <p:nvSpPr>
          <p:cNvPr id="6" name="TextBox 5"/>
          <p:cNvSpPr txBox="1"/>
          <p:nvPr/>
        </p:nvSpPr>
        <p:spPr>
          <a:xfrm>
            <a:off x="502920" y="6446520"/>
            <a:ext cx="10789920" cy="164592"/>
          </a:xfrm>
          <a:prstGeom prst="rect">
            <a:avLst/>
          </a:prstGeom>
          <a:noFill/>
        </p:spPr>
        <p:txBody>
          <a:bodyPr wrap="square" lIns="0" tIns="0" rIns="0" bIns="0" anchor="t">
            <a:normAutofit/>
          </a:bodyPr>
          <a:lstStyle/>
          <a:p>
            <a:pPr algn="l">
              <a:lnSpc>
                <a:spcPct val="112000"/>
              </a:lnSpc>
              <a:spcAft>
                <a:spcPts val="400"/>
              </a:spcAft>
            </a:pPr>
            <a:r>
              <a:rPr sz="850" b="0">
                <a:solidFill>
                  <a:srgbClr val="5B677A"/>
                </a:solidFill>
                <a:latin typeface="Arial"/>
              </a:rPr>
              <a:t>Xây dựng hệ thống phát hiện và lọc spam email | Đồ án Truy hồi thông tin | Trang 9</a:t>
            </a:r>
          </a:p>
        </p:txBody>
      </p:sp>
      <p:sp>
        <p:nvSpPr>
          <p:cNvPr id="7" name="Rounded Rectangle 6"/>
          <p:cNvSpPr/>
          <p:nvPr/>
        </p:nvSpPr>
        <p:spPr>
          <a:xfrm>
            <a:off x="502920" y="1417320"/>
            <a:ext cx="11155680" cy="4709160"/>
          </a:xfrm>
          <a:prstGeom prst="roundRect">
            <a:avLst/>
          </a:prstGeom>
          <a:solidFill>
            <a:srgbClr val="FFFF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normAutofit/>
          </a:bodyPr>
          <a:lstStyle/>
          <a:p>
            <a:pPr algn="l">
              <a:lnSpc>
                <a:spcPct val="112000"/>
              </a:lnSpc>
              <a:spcAft>
                <a:spcPts val="400"/>
              </a:spcAft>
            </a:pPr>
            <a:r>
              <a:rPr sz="1600" b="0">
                <a:solidFill>
                  <a:srgbClr val="1F2937"/>
                </a:solidFill>
                <a:latin typeface="Arial"/>
              </a:rPr>
              <a:t>Từ góc nhìn IR, mỗi email được xem như một tài liệu văn bản. Sau khi tiền xử lý, tài liệu được biểu diễn thành vector đặc trưng để hệ thống đo mức độ liên quan của nó với lớp spam hoặc lớp ham.</a:t>
            </a:r>
          </a:p>
          <a:p>
            <a:pPr algn="l">
              <a:lnSpc>
                <a:spcPct val="112000"/>
              </a:lnSpc>
              <a:spcAft>
                <a:spcPts val="400"/>
              </a:spcAft>
            </a:pPr>
            <a:r>
              <a:rPr sz="1600" b="0">
                <a:solidFill>
                  <a:srgbClr val="1F2937"/>
                </a:solidFill>
                <a:latin typeface="Arial"/>
              </a:rPr>
              <a:t>• Bài toán này không nhằm truy hồi top-k tài liệu như search engine cổ điển mà nghiêng về information filtering: mỗi email mới đi vào hệ thống sẽ được cho điểm và phân loại theo hồ sơ quan tâm hoặc mức độ nghi ngờ spam.</a:t>
            </a:r>
          </a:p>
          <a:p>
            <a:pPr algn="l">
              <a:lnSpc>
                <a:spcPct val="112000"/>
              </a:lnSpc>
              <a:spcAft>
                <a:spcPts val="400"/>
              </a:spcAft>
            </a:pPr>
            <a:r>
              <a:rPr sz="1600" b="0">
                <a:solidFill>
                  <a:srgbClr val="1F2937"/>
                </a:solidFill>
                <a:latin typeface="Arial"/>
              </a:rPr>
              <a:t>• Lớp kỹ thuật quan trọng nhất vẫn là term weighting và vector space model. Điều này giải thích vì sao nhóm chọn TF-IDF làm lõi biểu diễn trước khi đưa email vào mô hình phân loại.</a:t>
            </a:r>
          </a:p>
          <a:p>
            <a:pPr algn="l">
              <a:lnSpc>
                <a:spcPct val="112000"/>
              </a:lnSpc>
              <a:spcAft>
                <a:spcPts val="400"/>
              </a:spcAft>
            </a:pPr>
            <a:r>
              <a:rPr sz="1600" b="0">
                <a:solidFill>
                  <a:srgbClr val="1F2937"/>
                </a:solidFill>
                <a:latin typeface="Arial"/>
              </a:rPr>
              <a:t>• Cách nhìn này rất phù hợp với môn học vì nó cho phép nối trực tiếp giữa lý thuyết biểu diễn tài liệu, stopword, n-gram, weighting và một ứng dụng an toàn thông tin có tính thực tế cao.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0F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75488"/>
            <a:ext cx="201168" cy="6382512"/>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8912" y="164592"/>
            <a:ext cx="1417320" cy="292608"/>
          </a:xfrm>
          <a:prstGeom prst="roundRect">
            <a:avLst/>
          </a:prstGeom>
          <a:solidFill>
            <a:srgbClr val="E46A2E"/>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t">
            <a:normAutofit/>
          </a:bodyPr>
          <a:lstStyle/>
          <a:p>
            <a:pPr algn="ctr">
              <a:lnSpc>
                <a:spcPct val="112000"/>
              </a:lnSpc>
              <a:spcAft>
                <a:spcPts val="400"/>
              </a:spcAft>
            </a:pPr>
            <a:r>
              <a:rPr sz="1200" b="1">
                <a:solidFill>
                  <a:srgbClr val="FFFFFF"/>
                </a:solidFill>
                <a:latin typeface="Arial"/>
              </a:rPr>
              <a:t>CHƯƠNG 2</a:t>
            </a:r>
          </a:p>
        </p:txBody>
      </p:sp>
      <p:sp>
        <p:nvSpPr>
          <p:cNvPr id="5" name="TextBox 4"/>
          <p:cNvSpPr txBox="1"/>
          <p:nvPr/>
        </p:nvSpPr>
        <p:spPr>
          <a:xfrm>
            <a:off x="502920" y="658368"/>
            <a:ext cx="8138160" cy="475488"/>
          </a:xfrm>
          <a:prstGeom prst="rect">
            <a:avLst/>
          </a:prstGeom>
          <a:noFill/>
        </p:spPr>
        <p:txBody>
          <a:bodyPr wrap="square" lIns="0" tIns="0" rIns="0" bIns="0" anchor="t">
            <a:normAutofit/>
          </a:bodyPr>
          <a:lstStyle/>
          <a:p>
            <a:pPr algn="l">
              <a:lnSpc>
                <a:spcPct val="112000"/>
              </a:lnSpc>
              <a:spcAft>
                <a:spcPts val="400"/>
              </a:spcAft>
            </a:pPr>
            <a:r>
              <a:rPr sz="2400" b="1">
                <a:solidFill>
                  <a:srgbClr val="0F2747"/>
                </a:solidFill>
                <a:latin typeface="Arial"/>
              </a:rPr>
              <a:t>TF-IDF và cấu hình vector hóa được sử dụng</a:t>
            </a:r>
          </a:p>
        </p:txBody>
      </p:sp>
      <p:sp>
        <p:nvSpPr>
          <p:cNvPr id="6" name="TextBox 5"/>
          <p:cNvSpPr txBox="1"/>
          <p:nvPr/>
        </p:nvSpPr>
        <p:spPr>
          <a:xfrm>
            <a:off x="502920" y="6446520"/>
            <a:ext cx="10789920" cy="164592"/>
          </a:xfrm>
          <a:prstGeom prst="rect">
            <a:avLst/>
          </a:prstGeom>
          <a:noFill/>
        </p:spPr>
        <p:txBody>
          <a:bodyPr wrap="square" lIns="0" tIns="0" rIns="0" bIns="0" anchor="t">
            <a:normAutofit/>
          </a:bodyPr>
          <a:lstStyle/>
          <a:p>
            <a:pPr algn="l">
              <a:lnSpc>
                <a:spcPct val="112000"/>
              </a:lnSpc>
              <a:spcAft>
                <a:spcPts val="400"/>
              </a:spcAft>
            </a:pPr>
            <a:r>
              <a:rPr sz="850" b="0">
                <a:solidFill>
                  <a:srgbClr val="5B677A"/>
                </a:solidFill>
                <a:latin typeface="Arial"/>
              </a:rPr>
              <a:t>Xây dựng hệ thống phát hiện và lọc spam email | Đồ án Truy hồi thông tin | Trang 10</a:t>
            </a:r>
          </a:p>
        </p:txBody>
      </p:sp>
      <p:sp>
        <p:nvSpPr>
          <p:cNvPr id="7" name="Rounded Rectangle 6"/>
          <p:cNvSpPr/>
          <p:nvPr/>
        </p:nvSpPr>
        <p:spPr>
          <a:xfrm>
            <a:off x="502920" y="1417320"/>
            <a:ext cx="11155680" cy="4709160"/>
          </a:xfrm>
          <a:prstGeom prst="roundRect">
            <a:avLst/>
          </a:prstGeom>
          <a:solidFill>
            <a:srgbClr val="FFFF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normAutofit/>
          </a:bodyPr>
          <a:lstStyle/>
          <a:p>
            <a:pPr algn="l">
              <a:lnSpc>
                <a:spcPct val="112000"/>
              </a:lnSpc>
              <a:spcAft>
                <a:spcPts val="400"/>
              </a:spcAft>
            </a:pPr>
            <a:r>
              <a:rPr sz="1600" b="0">
                <a:solidFill>
                  <a:srgbClr val="1F2937"/>
                </a:solidFill>
                <a:latin typeface="Arial"/>
              </a:rPr>
              <a:t>Sau bước cleaning, mỗi email được đưa vào TfidfVectorizer để biến thành vector số.</a:t>
            </a:r>
          </a:p>
          <a:p>
            <a:pPr algn="l">
              <a:lnSpc>
                <a:spcPct val="112000"/>
              </a:lnSpc>
              <a:spcAft>
                <a:spcPts val="400"/>
              </a:spcAft>
            </a:pPr>
            <a:r>
              <a:rPr sz="1600" b="0">
                <a:solidFill>
                  <a:srgbClr val="1F2937"/>
                </a:solidFill>
                <a:latin typeface="Arial"/>
              </a:rPr>
              <a:t>• Cấu hình hiện tại của vectorizer là ngram_range=(1, 2), min_df=2, max_df=0.95, sublinear_tf=True và norm=l2.</a:t>
            </a:r>
          </a:p>
          <a:p>
            <a:pPr algn="l">
              <a:lnSpc>
                <a:spcPct val="112000"/>
              </a:lnSpc>
              <a:spcAft>
                <a:spcPts val="400"/>
              </a:spcAft>
            </a:pPr>
            <a:r>
              <a:rPr sz="1600" b="0">
                <a:solidFill>
                  <a:srgbClr val="1F2937"/>
                </a:solidFill>
                <a:latin typeface="Arial"/>
              </a:rPr>
              <a:t>• Hệ thống kết hợp stopword tiếng Anh mặc định của scikit-learn với 62 stopword tiếng Việt tự xây dựng. Cách làm này giúp giảm nhiễu cho dữ liệu song ngữ mà vẫn giữ được những tín hiệu phân biệt có ý nghĩa.</a:t>
            </a:r>
          </a:p>
          <a:p>
            <a:pPr algn="l">
              <a:lnSpc>
                <a:spcPct val="112000"/>
              </a:lnSpc>
              <a:spcAft>
                <a:spcPts val="400"/>
              </a:spcAft>
            </a:pPr>
            <a:r>
              <a:rPr sz="1600" b="0">
                <a:solidFill>
                  <a:srgbClr val="1F2937"/>
                </a:solidFill>
                <a:latin typeface="Arial"/>
              </a:rPr>
              <a:t>• Đối với SVM, nhóm không chỉ thử một cấu hình duy nhất mà còn quét hai hướng biểu diễn là word_1_2 và char_3_5. Kết quả cuối cùng cho thấy word_1_2 vẫn là lựa chọn tốt hơn và dễ giải thích hơn cho bản demo.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0F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75488"/>
            <a:ext cx="201168" cy="6382512"/>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8912" y="164592"/>
            <a:ext cx="1417320" cy="292608"/>
          </a:xfrm>
          <a:prstGeom prst="roundRect">
            <a:avLst/>
          </a:prstGeom>
          <a:solidFill>
            <a:srgbClr val="E46A2E"/>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t">
            <a:normAutofit/>
          </a:bodyPr>
          <a:lstStyle/>
          <a:p>
            <a:pPr algn="ctr">
              <a:lnSpc>
                <a:spcPct val="112000"/>
              </a:lnSpc>
              <a:spcAft>
                <a:spcPts val="400"/>
              </a:spcAft>
            </a:pPr>
            <a:r>
              <a:rPr sz="1200" b="1">
                <a:solidFill>
                  <a:srgbClr val="FFFFFF"/>
                </a:solidFill>
                <a:latin typeface="Arial"/>
              </a:rPr>
              <a:t>CHƯƠNG 2</a:t>
            </a:r>
          </a:p>
        </p:txBody>
      </p:sp>
      <p:sp>
        <p:nvSpPr>
          <p:cNvPr id="5" name="TextBox 4"/>
          <p:cNvSpPr txBox="1"/>
          <p:nvPr/>
        </p:nvSpPr>
        <p:spPr>
          <a:xfrm>
            <a:off x="502920" y="658368"/>
            <a:ext cx="8138160" cy="475488"/>
          </a:xfrm>
          <a:prstGeom prst="rect">
            <a:avLst/>
          </a:prstGeom>
          <a:noFill/>
        </p:spPr>
        <p:txBody>
          <a:bodyPr wrap="square" lIns="0" tIns="0" rIns="0" bIns="0" anchor="t">
            <a:normAutofit/>
          </a:bodyPr>
          <a:lstStyle/>
          <a:p>
            <a:pPr algn="l">
              <a:lnSpc>
                <a:spcPct val="112000"/>
              </a:lnSpc>
              <a:spcAft>
                <a:spcPts val="400"/>
              </a:spcAft>
            </a:pPr>
            <a:r>
              <a:rPr sz="2400" b="1">
                <a:solidFill>
                  <a:srgbClr val="0F2747"/>
                </a:solidFill>
                <a:latin typeface="Arial"/>
              </a:rPr>
              <a:t>Các chỉ số đánh giá được dùng trong báo cáo</a:t>
            </a:r>
          </a:p>
        </p:txBody>
      </p:sp>
      <p:sp>
        <p:nvSpPr>
          <p:cNvPr id="6" name="TextBox 5"/>
          <p:cNvSpPr txBox="1"/>
          <p:nvPr/>
        </p:nvSpPr>
        <p:spPr>
          <a:xfrm>
            <a:off x="502920" y="6446520"/>
            <a:ext cx="10789920" cy="164592"/>
          </a:xfrm>
          <a:prstGeom prst="rect">
            <a:avLst/>
          </a:prstGeom>
          <a:noFill/>
        </p:spPr>
        <p:txBody>
          <a:bodyPr wrap="square" lIns="0" tIns="0" rIns="0" bIns="0" anchor="t">
            <a:normAutofit/>
          </a:bodyPr>
          <a:lstStyle/>
          <a:p>
            <a:pPr algn="l">
              <a:lnSpc>
                <a:spcPct val="112000"/>
              </a:lnSpc>
              <a:spcAft>
                <a:spcPts val="400"/>
              </a:spcAft>
            </a:pPr>
            <a:r>
              <a:rPr sz="850" b="0">
                <a:solidFill>
                  <a:srgbClr val="5B677A"/>
                </a:solidFill>
                <a:latin typeface="Arial"/>
              </a:rPr>
              <a:t>Xây dựng hệ thống phát hiện và lọc spam email | Đồ án Truy hồi thông tin | Trang 11</a:t>
            </a:r>
          </a:p>
        </p:txBody>
      </p:sp>
      <p:sp>
        <p:nvSpPr>
          <p:cNvPr id="7" name="Rounded Rectangle 6"/>
          <p:cNvSpPr/>
          <p:nvPr/>
        </p:nvSpPr>
        <p:spPr>
          <a:xfrm>
            <a:off x="502920" y="1417320"/>
            <a:ext cx="11155680" cy="4709160"/>
          </a:xfrm>
          <a:prstGeom prst="roundRect">
            <a:avLst/>
          </a:prstGeom>
          <a:solidFill>
            <a:srgbClr val="FFFF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normAutofit/>
          </a:bodyPr>
          <a:lstStyle/>
          <a:p>
            <a:pPr algn="l">
              <a:lnSpc>
                <a:spcPct val="112000"/>
              </a:lnSpc>
              <a:spcAft>
                <a:spcPts val="400"/>
              </a:spcAft>
            </a:pPr>
            <a:r>
              <a:rPr sz="1600" b="0">
                <a:solidFill>
                  <a:srgbClr val="1F2937"/>
                </a:solidFill>
                <a:latin typeface="Arial"/>
              </a:rPr>
              <a:t>Precision_spam cho biết trong các email mà mô hình dự đoán là spam thì có bao nhiêu email thực sự là spam. Chỉ số này phản ánh rủi ro chặn nhầm email hợp lệ.</a:t>
            </a:r>
          </a:p>
          <a:p>
            <a:pPr algn="l">
              <a:lnSpc>
                <a:spcPct val="112000"/>
              </a:lnSpc>
              <a:spcAft>
                <a:spcPts val="400"/>
              </a:spcAft>
            </a:pPr>
            <a:r>
              <a:rPr sz="1600" b="0">
                <a:solidFill>
                  <a:srgbClr val="1F2937"/>
                </a:solidFill>
                <a:latin typeface="Arial"/>
              </a:rPr>
              <a:t>• Recall_spam cho biết trong toàn bộ email spam thật, mô hình bắt được bao nhiêu mẫu. Nếu recall thấp, thư rác sẽ lọt vào inbox nhiều hơn.</a:t>
            </a:r>
          </a:p>
          <a:p>
            <a:pPr algn="l">
              <a:lnSpc>
                <a:spcPct val="112000"/>
              </a:lnSpc>
              <a:spcAft>
                <a:spcPts val="400"/>
              </a:spcAft>
            </a:pPr>
            <a:r>
              <a:rPr sz="1600" b="0">
                <a:solidFill>
                  <a:srgbClr val="1F2937"/>
                </a:solidFill>
                <a:latin typeface="Arial"/>
              </a:rPr>
              <a:t>• F1_spam là trung bình điều hòa của precision và recall. Đây là chỉ số được ưu tiên để chọn mô hình vì nó cân bằng giữa hai yêu cầu quan trọng nhất của bài toán lọc spam.</a:t>
            </a:r>
          </a:p>
          <a:p>
            <a:pPr algn="l">
              <a:lnSpc>
                <a:spcPct val="112000"/>
              </a:lnSpc>
              <a:spcAft>
                <a:spcPts val="400"/>
              </a:spcAft>
            </a:pPr>
            <a:r>
              <a:rPr sz="1600" b="0">
                <a:solidFill>
                  <a:srgbClr val="1F2937"/>
                </a:solidFill>
                <a:latin typeface="Arial"/>
              </a:rPr>
              <a:t>• Accuracy vẫn được dùng để nhìn bức tranh chung, nhưng accuracy một mình là chưa đủ khi dữ liệu có lệch lớp. Vì vậy báo cáo còn bổ sung F1_ham, macro F1, balanced accuracy, specificity và ROC-AUC.</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0F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75488"/>
            <a:ext cx="201168" cy="6382512"/>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8912" y="164592"/>
            <a:ext cx="1417320" cy="292608"/>
          </a:xfrm>
          <a:prstGeom prst="roundRect">
            <a:avLst/>
          </a:prstGeom>
          <a:solidFill>
            <a:srgbClr val="E46A2E"/>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t">
            <a:normAutofit/>
          </a:bodyPr>
          <a:lstStyle/>
          <a:p>
            <a:pPr algn="ctr">
              <a:lnSpc>
                <a:spcPct val="112000"/>
              </a:lnSpc>
              <a:spcAft>
                <a:spcPts val="400"/>
              </a:spcAft>
            </a:pPr>
            <a:r>
              <a:rPr sz="1200" b="1">
                <a:solidFill>
                  <a:srgbClr val="FFFFFF"/>
                </a:solidFill>
                <a:latin typeface="Arial"/>
              </a:rPr>
              <a:t>CHƯƠNG 2</a:t>
            </a:r>
          </a:p>
        </p:txBody>
      </p:sp>
      <p:sp>
        <p:nvSpPr>
          <p:cNvPr id="5" name="TextBox 4"/>
          <p:cNvSpPr txBox="1"/>
          <p:nvPr/>
        </p:nvSpPr>
        <p:spPr>
          <a:xfrm>
            <a:off x="502920" y="658368"/>
            <a:ext cx="8138160" cy="475488"/>
          </a:xfrm>
          <a:prstGeom prst="rect">
            <a:avLst/>
          </a:prstGeom>
          <a:noFill/>
        </p:spPr>
        <p:txBody>
          <a:bodyPr wrap="square" lIns="0" tIns="0" rIns="0" bIns="0" anchor="t">
            <a:normAutofit/>
          </a:bodyPr>
          <a:lstStyle/>
          <a:p>
            <a:pPr algn="l">
              <a:lnSpc>
                <a:spcPct val="112000"/>
              </a:lnSpc>
              <a:spcAft>
                <a:spcPts val="400"/>
              </a:spcAft>
            </a:pPr>
            <a:r>
              <a:rPr sz="2400" b="1">
                <a:solidFill>
                  <a:srgbClr val="0F2747"/>
                </a:solidFill>
                <a:latin typeface="Arial"/>
              </a:rPr>
              <a:t>Các hướng nghiên cứu liên quan</a:t>
            </a:r>
          </a:p>
        </p:txBody>
      </p:sp>
      <p:sp>
        <p:nvSpPr>
          <p:cNvPr id="7" name="TextBox 6"/>
          <p:cNvSpPr txBox="1"/>
          <p:nvPr/>
        </p:nvSpPr>
        <p:spPr>
          <a:xfrm>
            <a:off x="502920" y="6446520"/>
            <a:ext cx="10789920" cy="164592"/>
          </a:xfrm>
          <a:prstGeom prst="rect">
            <a:avLst/>
          </a:prstGeom>
          <a:noFill/>
        </p:spPr>
        <p:txBody>
          <a:bodyPr wrap="square" lIns="0" tIns="0" rIns="0" bIns="0" anchor="t">
            <a:normAutofit/>
          </a:bodyPr>
          <a:lstStyle/>
          <a:p>
            <a:pPr algn="l">
              <a:lnSpc>
                <a:spcPct val="112000"/>
              </a:lnSpc>
              <a:spcAft>
                <a:spcPts val="400"/>
              </a:spcAft>
            </a:pPr>
            <a:r>
              <a:rPr sz="850" b="0">
                <a:solidFill>
                  <a:srgbClr val="5B677A"/>
                </a:solidFill>
                <a:latin typeface="Arial"/>
              </a:rPr>
              <a:t>Xây dựng hệ thống phát hiện và lọc spam email | Đồ án Truy hồi thông tin | Trang 12</a:t>
            </a:r>
          </a:p>
        </p:txBody>
      </p:sp>
      <p:sp>
        <p:nvSpPr>
          <p:cNvPr id="8" name="Rounded Rectangle 7"/>
          <p:cNvSpPr/>
          <p:nvPr/>
        </p:nvSpPr>
        <p:spPr>
          <a:xfrm>
            <a:off x="502920" y="1417320"/>
            <a:ext cx="5486400" cy="4709160"/>
          </a:xfrm>
          <a:prstGeom prst="roundRect">
            <a:avLst/>
          </a:prstGeom>
          <a:solidFill>
            <a:srgbClr val="FFFF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normAutofit/>
          </a:bodyPr>
          <a:lstStyle/>
          <a:p>
            <a:pPr algn="l">
              <a:lnSpc>
                <a:spcPct val="112000"/>
              </a:lnSpc>
              <a:spcAft>
                <a:spcPts val="400"/>
              </a:spcAft>
            </a:pPr>
            <a:r>
              <a:rPr sz="1500" b="1">
                <a:solidFill>
                  <a:srgbClr val="1F2937"/>
                </a:solidFill>
                <a:latin typeface="Arial"/>
              </a:rPr>
              <a:t>Xu hướng nghiên cứu gần đây</a:t>
            </a:r>
          </a:p>
          <a:p>
            <a:pPr algn="l">
              <a:lnSpc>
                <a:spcPct val="112000"/>
              </a:lnSpc>
              <a:spcAft>
                <a:spcPts val="400"/>
              </a:spcAft>
            </a:pPr>
            <a:r>
              <a:rPr sz="1500" b="0">
                <a:solidFill>
                  <a:srgbClr val="1F2937"/>
                </a:solidFill>
                <a:latin typeface="Arial"/>
              </a:rPr>
              <a:t>Các nghiên cứu 2024-2026 cho thấy ba hướng chính đang được dùng nhiều: mô hình sâu như DistilBERT hoặc deep dual-layer, mô hình cổ điển như SVM/NB/LR có feature engineering tốt, và...</a:t>
            </a:r>
          </a:p>
          <a:p>
            <a:pPr algn="l">
              <a:lnSpc>
                <a:spcPct val="112000"/>
              </a:lnSpc>
              <a:spcAft>
                <a:spcPts val="400"/>
              </a:spcAft>
            </a:pPr>
            <a:r>
              <a:rPr sz="1500" b="0">
                <a:solidFill>
                  <a:srgbClr val="1F2937"/>
                </a:solidFill>
                <a:latin typeface="Arial"/>
              </a:rPr>
              <a:t>Một số công trình đạt độ chính xác rất cao nhờ kết hợp thêm structural features, metadata hoặc kiến trúc sâu.</a:t>
            </a:r>
          </a:p>
          <a:p>
            <a:pPr algn="l">
              <a:lnSpc>
                <a:spcPct val="112000"/>
              </a:lnSpc>
              <a:spcAft>
                <a:spcPts val="400"/>
              </a:spcAft>
            </a:pPr>
            <a:r>
              <a:rPr sz="1500" b="0">
                <a:solidFill>
                  <a:srgbClr val="1F2937"/>
                </a:solidFill>
                <a:latin typeface="Arial"/>
              </a:rPr>
              <a:t>Các nghiên cứu về Bayesian filtering và shallow models vẫn cho thấy Naive Bayes, Linear SVM và Logistic Regression còn rất cạnh tranh trên dữ liệu văn bản thưa khi trọng tâm là tốc độ...</a:t>
            </a:r>
          </a:p>
        </p:txBody>
      </p:sp>
      <p:sp>
        <p:nvSpPr>
          <p:cNvPr id="9" name="Rounded Rectangle 8"/>
          <p:cNvSpPr/>
          <p:nvPr/>
        </p:nvSpPr>
        <p:spPr>
          <a:xfrm>
            <a:off x="6217920" y="1417320"/>
            <a:ext cx="5440680" cy="4709160"/>
          </a:xfrm>
          <a:prstGeom prst="roundRect">
            <a:avLst/>
          </a:prstGeom>
          <a:solidFill>
            <a:srgbClr val="EAF9F7"/>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normAutofit/>
          </a:bodyPr>
          <a:lstStyle/>
          <a:p>
            <a:pPr algn="l">
              <a:lnSpc>
                <a:spcPct val="112000"/>
              </a:lnSpc>
              <a:spcAft>
                <a:spcPts val="400"/>
              </a:spcAft>
            </a:pPr>
            <a:r>
              <a:rPr sz="1500" b="1">
                <a:solidFill>
                  <a:srgbClr val="1F2937"/>
                </a:solidFill>
                <a:latin typeface="Arial"/>
              </a:rPr>
              <a:t>Điểm rút ra cho đồ án</a:t>
            </a:r>
          </a:p>
          <a:p>
            <a:pPr algn="l">
              <a:lnSpc>
                <a:spcPct val="112000"/>
              </a:lnSpc>
              <a:spcAft>
                <a:spcPts val="400"/>
              </a:spcAft>
            </a:pPr>
            <a:r>
              <a:rPr sz="1500" b="0">
                <a:solidFill>
                  <a:srgbClr val="1F2937"/>
                </a:solidFill>
                <a:latin typeface="Arial"/>
              </a:rPr>
              <a:t>Với một đồ án môn học cần vừa đúng kỹ thuật, vừa dễ bảo vệ, nhóm chọn hướng TF-IDF + shallow models thay vì đi ngay vào deep learning.</a:t>
            </a:r>
          </a:p>
          <a:p>
            <a:pPr algn="l">
              <a:lnSpc>
                <a:spcPct val="112000"/>
              </a:lnSpc>
              <a:spcAft>
                <a:spcPts val="400"/>
              </a:spcAft>
            </a:pPr>
            <a:r>
              <a:rPr sz="1500" b="0">
                <a:solidFill>
                  <a:srgbClr val="1F2937"/>
                </a:solidFill>
                <a:latin typeface="Arial"/>
              </a:rPr>
              <a:t>Kết quả benchmark cuối cùng của nhóm chứng minh lựa chọn này là có cơ sở: các mô hình tuyến tính cho F1 rất cao trên dataset hiện có và không bị thua kém quá xa các hướng phức tạp...</a:t>
            </a:r>
          </a:p>
          <a:p>
            <a:pPr algn="l">
              <a:lnSpc>
                <a:spcPct val="112000"/>
              </a:lnSpc>
              <a:spcAft>
                <a:spcPts val="400"/>
              </a:spcAft>
            </a:pPr>
            <a:r>
              <a:rPr sz="1500" b="0">
                <a:solidFill>
                  <a:srgbClr val="1F2937"/>
                </a:solidFill>
                <a:latin typeface="Arial"/>
              </a:rPr>
              <a:t>Việc giữ Linear SVM làm mô hình demo cũng phù hợp với xu hướng nghiên cứu hiện nay về interpretability.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0F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75488"/>
            <a:ext cx="201168" cy="6382512"/>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8912" y="164592"/>
            <a:ext cx="1417320" cy="292608"/>
          </a:xfrm>
          <a:prstGeom prst="roundRect">
            <a:avLst/>
          </a:prstGeom>
          <a:solidFill>
            <a:srgbClr val="E46A2E"/>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t">
            <a:normAutofit/>
          </a:bodyPr>
          <a:lstStyle/>
          <a:p>
            <a:pPr algn="ctr">
              <a:lnSpc>
                <a:spcPct val="112000"/>
              </a:lnSpc>
              <a:spcAft>
                <a:spcPts val="400"/>
              </a:spcAft>
            </a:pPr>
            <a:r>
              <a:rPr sz="1200" b="1">
                <a:solidFill>
                  <a:srgbClr val="FFFFFF"/>
                </a:solidFill>
                <a:latin typeface="Arial"/>
              </a:rPr>
              <a:t>CHƯƠNG 2</a:t>
            </a:r>
          </a:p>
        </p:txBody>
      </p:sp>
      <p:sp>
        <p:nvSpPr>
          <p:cNvPr id="5" name="TextBox 4"/>
          <p:cNvSpPr txBox="1"/>
          <p:nvPr/>
        </p:nvSpPr>
        <p:spPr>
          <a:xfrm>
            <a:off x="502920" y="658368"/>
            <a:ext cx="8138160" cy="475488"/>
          </a:xfrm>
          <a:prstGeom prst="rect">
            <a:avLst/>
          </a:prstGeom>
          <a:noFill/>
        </p:spPr>
        <p:txBody>
          <a:bodyPr wrap="square" lIns="0" tIns="0" rIns="0" bIns="0" anchor="t">
            <a:normAutofit/>
          </a:bodyPr>
          <a:lstStyle/>
          <a:p>
            <a:pPr algn="l">
              <a:lnSpc>
                <a:spcPct val="112000"/>
              </a:lnSpc>
              <a:spcAft>
                <a:spcPts val="400"/>
              </a:spcAft>
            </a:pPr>
            <a:r>
              <a:rPr sz="2400" b="1">
                <a:solidFill>
                  <a:srgbClr val="0F2747"/>
                </a:solidFill>
                <a:latin typeface="Arial"/>
              </a:rPr>
              <a:t>Vì sao nhóm chọn TF-IDF + Naive Bayes / Linear SVM?</a:t>
            </a:r>
          </a:p>
        </p:txBody>
      </p:sp>
      <p:sp>
        <p:nvSpPr>
          <p:cNvPr id="6" name="TextBox 5"/>
          <p:cNvSpPr txBox="1"/>
          <p:nvPr/>
        </p:nvSpPr>
        <p:spPr>
          <a:xfrm>
            <a:off x="502920" y="6446520"/>
            <a:ext cx="10789920" cy="164592"/>
          </a:xfrm>
          <a:prstGeom prst="rect">
            <a:avLst/>
          </a:prstGeom>
          <a:noFill/>
        </p:spPr>
        <p:txBody>
          <a:bodyPr wrap="square" lIns="0" tIns="0" rIns="0" bIns="0" anchor="t">
            <a:normAutofit/>
          </a:bodyPr>
          <a:lstStyle/>
          <a:p>
            <a:pPr algn="l">
              <a:lnSpc>
                <a:spcPct val="112000"/>
              </a:lnSpc>
              <a:spcAft>
                <a:spcPts val="400"/>
              </a:spcAft>
            </a:pPr>
            <a:r>
              <a:rPr sz="850" b="0">
                <a:solidFill>
                  <a:srgbClr val="5B677A"/>
                </a:solidFill>
                <a:latin typeface="Arial"/>
              </a:rPr>
              <a:t>Xây dựng hệ thống phát hiện và lọc spam email | Đồ án Truy hồi thông tin | Trang 13</a:t>
            </a:r>
          </a:p>
        </p:txBody>
      </p:sp>
      <p:sp>
        <p:nvSpPr>
          <p:cNvPr id="7" name="Rounded Rectangle 6"/>
          <p:cNvSpPr/>
          <p:nvPr/>
        </p:nvSpPr>
        <p:spPr>
          <a:xfrm>
            <a:off x="502920" y="1417320"/>
            <a:ext cx="11155680" cy="4709160"/>
          </a:xfrm>
          <a:prstGeom prst="roundRect">
            <a:avLst/>
          </a:prstGeom>
          <a:solidFill>
            <a:srgbClr val="FFFF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normAutofit/>
          </a:bodyPr>
          <a:lstStyle/>
          <a:p>
            <a:pPr algn="l">
              <a:lnSpc>
                <a:spcPct val="112000"/>
              </a:lnSpc>
              <a:spcAft>
                <a:spcPts val="400"/>
              </a:spcAft>
            </a:pPr>
            <a:r>
              <a:rPr sz="1600" b="0">
                <a:solidFill>
                  <a:srgbClr val="1F2937"/>
                </a:solidFill>
                <a:latin typeface="Arial"/>
              </a:rPr>
              <a:t>Hướng tiếp cận này bám sát đề bài đã đăng ký: Python, TF-IDF và Naive Bayes hoặc SVM. Việc chọn đúng tinh thần đề tài là yếu tố đầu tiên để bảo đảm tính nhất quán giữa mục tiêu, báo cáo và phần demo.</a:t>
            </a:r>
          </a:p>
          <a:p>
            <a:pPr algn="l">
              <a:lnSpc>
                <a:spcPct val="112000"/>
              </a:lnSpc>
              <a:spcAft>
                <a:spcPts val="400"/>
              </a:spcAft>
            </a:pPr>
            <a:r>
              <a:rPr sz="1600" b="0">
                <a:solidFill>
                  <a:srgbClr val="1F2937"/>
                </a:solidFill>
                <a:latin typeface="Arial"/>
              </a:rPr>
              <a:t>• TF-IDF giúp biểu diễn email đúng tư duy của môn IR và phù hợp với dữ liệu văn bản thưa. Trên nền biểu diễn này, các mô hình tuyến tính và xác suất cổ điển thường hoạt động rất tốt mà không cần tài nguyên huấn luyện lớn.</a:t>
            </a:r>
          </a:p>
          <a:p>
            <a:pPr algn="l">
              <a:lnSpc>
                <a:spcPct val="112000"/>
              </a:lnSpc>
              <a:spcAft>
                <a:spcPts val="400"/>
              </a:spcAft>
            </a:pPr>
            <a:r>
              <a:rPr sz="1600" b="0">
                <a:solidFill>
                  <a:srgbClr val="1F2937"/>
                </a:solidFill>
                <a:latin typeface="Arial"/>
              </a:rPr>
              <a:t>• Naive Bayes là mô hình nhẹ, train nhanh, thường có recall_spam cao. Linear SVM mạnh trên không gian TF-IDF nhiều chiều và cho ranh giới phân lớp ổn định. Hai mô hình này đủ rõ để so sánh và bảo vệ bằng lập luận kỹ thuật.</a:t>
            </a:r>
          </a:p>
          <a:p>
            <a:pPr algn="l">
              <a:lnSpc>
                <a:spcPct val="112000"/>
              </a:lnSpc>
              <a:spcAft>
                <a:spcPts val="400"/>
              </a:spcAft>
            </a:pPr>
            <a:r>
              <a:rPr sz="1600" b="0">
                <a:solidFill>
                  <a:srgbClr val="1F2937"/>
                </a:solidFill>
                <a:latin typeface="Arial"/>
              </a:rPr>
              <a:t>• So với deep learning, hướng này dễ tái huấn luyện hơn khi bổ sung dữ liệu mới, dễ chạy trên máy phổ thông, và đặc biệt là dễ giải thích hơn nhiều trong lúc demo trước lớp.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0F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75488"/>
            <a:ext cx="201168" cy="6382512"/>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8912" y="164592"/>
            <a:ext cx="1417320" cy="292608"/>
          </a:xfrm>
          <a:prstGeom prst="roundRect">
            <a:avLst/>
          </a:prstGeom>
          <a:solidFill>
            <a:srgbClr val="E46A2E"/>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t">
            <a:normAutofit/>
          </a:bodyPr>
          <a:lstStyle/>
          <a:p>
            <a:pPr algn="ctr">
              <a:lnSpc>
                <a:spcPct val="112000"/>
              </a:lnSpc>
              <a:spcAft>
                <a:spcPts val="400"/>
              </a:spcAft>
            </a:pPr>
            <a:r>
              <a:rPr sz="1200" b="1">
                <a:solidFill>
                  <a:srgbClr val="FFFFFF"/>
                </a:solidFill>
                <a:latin typeface="Arial"/>
              </a:rPr>
              <a:t>CHƯƠNG 3</a:t>
            </a:r>
          </a:p>
        </p:txBody>
      </p:sp>
      <p:sp>
        <p:nvSpPr>
          <p:cNvPr id="5" name="TextBox 4"/>
          <p:cNvSpPr txBox="1"/>
          <p:nvPr/>
        </p:nvSpPr>
        <p:spPr>
          <a:xfrm>
            <a:off x="502920" y="658368"/>
            <a:ext cx="8138160" cy="475488"/>
          </a:xfrm>
          <a:prstGeom prst="rect">
            <a:avLst/>
          </a:prstGeom>
          <a:noFill/>
        </p:spPr>
        <p:txBody>
          <a:bodyPr wrap="square" lIns="0" tIns="0" rIns="0" bIns="0" anchor="t">
            <a:normAutofit/>
          </a:bodyPr>
          <a:lstStyle/>
          <a:p>
            <a:pPr algn="l">
              <a:lnSpc>
                <a:spcPct val="112000"/>
              </a:lnSpc>
              <a:spcAft>
                <a:spcPts val="400"/>
              </a:spcAft>
            </a:pPr>
            <a:r>
              <a:rPr sz="2400" b="1">
                <a:solidFill>
                  <a:srgbClr val="0F2747"/>
                </a:solidFill>
                <a:latin typeface="Arial"/>
              </a:rPr>
              <a:t>Tổng quan hệ thống</a:t>
            </a:r>
          </a:p>
        </p:txBody>
      </p:sp>
      <p:sp>
        <p:nvSpPr>
          <p:cNvPr id="6" name="TextBox 5"/>
          <p:cNvSpPr txBox="1"/>
          <p:nvPr/>
        </p:nvSpPr>
        <p:spPr>
          <a:xfrm>
            <a:off x="521207" y="1078992"/>
            <a:ext cx="10058400" cy="292608"/>
          </a:xfrm>
          <a:prstGeom prst="rect">
            <a:avLst/>
          </a:prstGeom>
          <a:noFill/>
        </p:spPr>
        <p:txBody>
          <a:bodyPr wrap="square" lIns="0" tIns="0" rIns="0" bIns="0" anchor="t">
            <a:normAutofit/>
          </a:bodyPr>
          <a:lstStyle/>
          <a:p>
            <a:pPr algn="l">
              <a:lnSpc>
                <a:spcPct val="112000"/>
              </a:lnSpc>
              <a:spcAft>
                <a:spcPts val="400"/>
              </a:spcAft>
            </a:pPr>
            <a:r>
              <a:rPr sz="1050" b="0" dirty="0" err="1">
                <a:solidFill>
                  <a:srgbClr val="5B677A"/>
                </a:solidFill>
                <a:latin typeface="Arial"/>
              </a:rPr>
              <a:t>Luồng</a:t>
            </a:r>
            <a:r>
              <a:rPr sz="1050" b="0" dirty="0">
                <a:solidFill>
                  <a:srgbClr val="5B677A"/>
                </a:solidFill>
                <a:latin typeface="Arial"/>
              </a:rPr>
              <a:t> </a:t>
            </a:r>
            <a:r>
              <a:rPr sz="1050" b="0" dirty="0" err="1">
                <a:solidFill>
                  <a:srgbClr val="5B677A"/>
                </a:solidFill>
                <a:latin typeface="Arial"/>
              </a:rPr>
              <a:t>xử</a:t>
            </a:r>
            <a:r>
              <a:rPr sz="1050" b="0" dirty="0">
                <a:solidFill>
                  <a:srgbClr val="5B677A"/>
                </a:solidFill>
                <a:latin typeface="Arial"/>
              </a:rPr>
              <a:t> </a:t>
            </a:r>
            <a:r>
              <a:rPr sz="1050" b="0" dirty="0" err="1">
                <a:solidFill>
                  <a:srgbClr val="5B677A"/>
                </a:solidFill>
                <a:latin typeface="Arial"/>
              </a:rPr>
              <a:t>lý</a:t>
            </a:r>
            <a:r>
              <a:rPr sz="1050" b="0" dirty="0">
                <a:solidFill>
                  <a:srgbClr val="5B677A"/>
                </a:solidFill>
                <a:latin typeface="Arial"/>
              </a:rPr>
              <a:t> </a:t>
            </a:r>
            <a:r>
              <a:rPr sz="1050" b="0" dirty="0" err="1">
                <a:solidFill>
                  <a:srgbClr val="5B677A"/>
                </a:solidFill>
                <a:latin typeface="Arial"/>
              </a:rPr>
              <a:t>từ</a:t>
            </a:r>
            <a:r>
              <a:rPr sz="1050" b="0" dirty="0">
                <a:solidFill>
                  <a:srgbClr val="5B677A"/>
                </a:solidFill>
                <a:latin typeface="Arial"/>
              </a:rPr>
              <a:t> </a:t>
            </a:r>
            <a:r>
              <a:rPr sz="1050" b="0" dirty="0" err="1">
                <a:solidFill>
                  <a:srgbClr val="5B677A"/>
                </a:solidFill>
                <a:latin typeface="Arial"/>
              </a:rPr>
              <a:t>dữ</a:t>
            </a:r>
            <a:r>
              <a:rPr sz="1050" b="0" dirty="0">
                <a:solidFill>
                  <a:srgbClr val="5B677A"/>
                </a:solidFill>
                <a:latin typeface="Arial"/>
              </a:rPr>
              <a:t> </a:t>
            </a:r>
            <a:r>
              <a:rPr sz="1050" b="0" dirty="0" err="1">
                <a:solidFill>
                  <a:srgbClr val="5B677A"/>
                </a:solidFill>
                <a:latin typeface="Arial"/>
              </a:rPr>
              <a:t>liệu</a:t>
            </a:r>
            <a:r>
              <a:rPr sz="1050" b="0" dirty="0">
                <a:solidFill>
                  <a:srgbClr val="5B677A"/>
                </a:solidFill>
                <a:latin typeface="Arial"/>
              </a:rPr>
              <a:t> </a:t>
            </a:r>
            <a:r>
              <a:rPr sz="1050" b="0" dirty="0" err="1">
                <a:solidFill>
                  <a:srgbClr val="5B677A"/>
                </a:solidFill>
                <a:latin typeface="Arial"/>
              </a:rPr>
              <a:t>thô</a:t>
            </a:r>
            <a:r>
              <a:rPr sz="1050" b="0" dirty="0">
                <a:solidFill>
                  <a:srgbClr val="5B677A"/>
                </a:solidFill>
                <a:latin typeface="Arial"/>
              </a:rPr>
              <a:t> </a:t>
            </a:r>
            <a:r>
              <a:rPr sz="1050" b="0" dirty="0" err="1">
                <a:solidFill>
                  <a:srgbClr val="5B677A"/>
                </a:solidFill>
                <a:latin typeface="Arial"/>
              </a:rPr>
              <a:t>tới</a:t>
            </a:r>
            <a:r>
              <a:rPr sz="1050" b="0" dirty="0">
                <a:solidFill>
                  <a:srgbClr val="5B677A"/>
                </a:solidFill>
                <a:latin typeface="Arial"/>
              </a:rPr>
              <a:t> </a:t>
            </a:r>
            <a:r>
              <a:rPr sz="1050" b="0" dirty="0" err="1">
                <a:solidFill>
                  <a:srgbClr val="5B677A"/>
                </a:solidFill>
                <a:latin typeface="Arial"/>
              </a:rPr>
              <a:t>dự</a:t>
            </a:r>
            <a:r>
              <a:rPr sz="1050" b="0" dirty="0">
                <a:solidFill>
                  <a:srgbClr val="5B677A"/>
                </a:solidFill>
                <a:latin typeface="Arial"/>
              </a:rPr>
              <a:t> </a:t>
            </a:r>
            <a:r>
              <a:rPr sz="1050" b="0" dirty="0" err="1">
                <a:solidFill>
                  <a:srgbClr val="5B677A"/>
                </a:solidFill>
                <a:latin typeface="Arial"/>
              </a:rPr>
              <a:t>đoán</a:t>
            </a:r>
            <a:r>
              <a:rPr sz="1050" b="0" dirty="0">
                <a:solidFill>
                  <a:srgbClr val="5B677A"/>
                </a:solidFill>
                <a:latin typeface="Arial"/>
              </a:rPr>
              <a:t> spam/ham</a:t>
            </a:r>
          </a:p>
        </p:txBody>
      </p:sp>
      <p:pic>
        <p:nvPicPr>
          <p:cNvPr id="8" name="Pipeline Diagram"/>
          <p:cNvPicPr>
            <a:picLocks noChangeAspect="1"/>
          </p:cNvPicPr>
          <p:nvPr/>
        </p:nvPicPr>
        <p:blipFill>
          <a:blip r:embed="rId2"/>
          <a:stretch>
            <a:fillRect/>
          </a:stretch>
        </p:blipFill>
        <p:spPr>
          <a:xfrm>
            <a:off x="680000" y="2080000"/>
            <a:ext cx="10800000" cy="3317142"/>
          </a:xfrm>
          <a:prstGeom prst="rect">
            <a:avLst/>
          </a:prstGeom>
        </p:spPr>
      </p:pic>
      <p:sp>
        <p:nvSpPr>
          <p:cNvPr id="7" name="TextBox 6"/>
          <p:cNvSpPr txBox="1"/>
          <p:nvPr/>
        </p:nvSpPr>
        <p:spPr>
          <a:xfrm>
            <a:off x="502920" y="6446520"/>
            <a:ext cx="10789920" cy="164592"/>
          </a:xfrm>
          <a:prstGeom prst="rect">
            <a:avLst/>
          </a:prstGeom>
          <a:noFill/>
        </p:spPr>
        <p:txBody>
          <a:bodyPr wrap="square" lIns="0" tIns="0" rIns="0" bIns="0" anchor="t">
            <a:normAutofit/>
          </a:bodyPr>
          <a:lstStyle/>
          <a:p>
            <a:pPr algn="l">
              <a:lnSpc>
                <a:spcPct val="112000"/>
              </a:lnSpc>
              <a:spcAft>
                <a:spcPts val="400"/>
              </a:spcAft>
            </a:pPr>
            <a:r>
              <a:rPr sz="850" b="0">
                <a:solidFill>
                  <a:srgbClr val="5B677A"/>
                </a:solidFill>
                <a:latin typeface="Arial"/>
              </a:rPr>
              <a:t>Xây dựng hệ thống phát hiện và lọc spam email | Đồ án Truy hồi thông tin | Trang 14</a:t>
            </a:r>
          </a:p>
        </p:txBody>
      </p:sp>
    </p:spTree>
  </p:cSld>
  <p:clrMapOvr>
    <a:masterClrMapping/>
  </p:clrMapOvr>
</p:sld>
</file>

<file path=ppt/slides/slide15.xml><?xml version="1.0" encoding="utf-8"?>
<ns0:sld xmlns:ns0="http://schemas.openxmlformats.org/presentationml/2006/main" xmlns:ns1="http://schemas.openxmlformats.org/drawingml/2006/main">
  <ns0:cSld>
    <ns0:bg>
      <ns0:bgPr>
        <ns1:solidFill>
          <ns1:srgbClr val="F5F7FB"/>
        </ns1:solidFill>
        <ns1:effectLst/>
      </ns0:bgPr>
    </ns0:bg>
    <ns0:spTree>
      <ns0:nvGrpSpPr>
        <ns0:cNvPr id="1" name=""/>
        <ns0:cNvGrpSpPr/>
        <ns0:nvPr/>
      </ns0:nvGrpSpPr>
      <ns0:grpSpPr>
        <ns1:xfrm>
          <ns1:off x="0" y="0"/>
          <ns1:ext cx="0" cy="0"/>
          <ns1:chOff x="0" y="0"/>
          <ns1:chExt cx="0" cy="0"/>
        </ns1:xfrm>
      </ns0:grpSpPr>
      <ns0:sp>
        <ns0:nvSpPr>
          <ns0:cNvPr id="2" name="Rectangle 1"/>
          <ns0:cNvSpPr/>
          <ns0:nvPr/>
        </ns0:nvSpPr>
        <ns0:spPr>
          <ns1:xfrm>
            <ns1:off x="0" y="0"/>
            <ns1:ext cx="12191695" cy="475488"/>
          </ns1:xfrm>
          <ns1:prstGeom prst="rect">
            <ns1:avLst/>
          </ns1:prstGeom>
          <ns1:solidFill>
            <ns1:srgbClr val="0F2747"/>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3" name="Rectangle 2"/>
          <ns0:cNvSpPr/>
          <ns0:nvPr/>
        </ns0:nvSpPr>
        <ns0:spPr>
          <ns1:xfrm>
            <ns1:off x="0" y="475488"/>
            <ns1:ext cx="201168" cy="6382512"/>
          </ns1:xfrm>
          <ns1:prstGeom prst="rect">
            <ns1:avLst/>
          </ns1:prstGeom>
          <ns1:solidFill>
            <ns1:srgbClr val="0F8B8D"/>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4" name="Rounded Rectangle 3"/>
          <ns0:cNvSpPr/>
          <ns0:nvPr/>
        </ns0:nvSpPr>
        <ns0:spPr>
          <ns1:xfrm>
            <ns1:off x="438912" y="164592"/>
            <ns1:ext cx="1417320" cy="292608"/>
          </ns1:xfrm>
          <ns1:prstGeom prst="roundRect">
            <ns1:avLst/>
          </ns1:prstGeom>
          <ns1:solidFill>
            <ns1:srgbClr val="E46A2E"/>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wrap="square" lIns="18288" tIns="0" rIns="18288" bIns="0" rtlCol="0" anchor="t">
            <ns1:normAutofit/>
          </ns1:bodyPr>
          <ns1:lstStyle/>
          <ns1:p>
            <ns1:pPr algn="ctr">
              <ns1:lnSpc>
                <ns1:spcPct val="112000"/>
              </ns1:lnSpc>
              <ns1:spcAft>
                <ns1:spcPts val="400"/>
              </ns1:spcAft>
            </ns1:pPr>
            <ns1:r>
              <ns1:rPr sz="1200" b="1">
                <ns1:solidFill>
                  <ns1:srgbClr val="FFFFFF"/>
                </ns1:solidFill>
                <ns1:latin typeface="Arial"/>
              </ns1:rPr>
              <ns1:t>CHƯƠNG 3</ns1:t>
            </ns1:r>
          </ns1:p>
        </ns0:txBody>
      </ns0:sp>
      <ns0:sp>
        <ns0:nvSpPr>
          <ns0:cNvPr id="5" name="TextBox 4"/>
          <ns0:cNvSpPr txBox="1"/>
          <ns0:nvPr/>
        </ns0:nvSpPr>
        <ns0:spPr>
          <ns1:xfrm>
            <ns1:off x="502920" y="658368"/>
            <ns1:ext cx="8138160" cy="475488"/>
          </ns1:xfrm>
          <ns1:prstGeom prst="rect">
            <ns1:avLst/>
          </ns1:prstGeom>
          <ns1:noFill/>
        </ns0:spPr>
        <ns0:txBody>
          <ns1:bodyPr wrap="square" lIns="0" tIns="0" rIns="0" bIns="0" anchor="t">
            <ns1:normAutofit/>
          </ns1:bodyPr>
          <ns1:lstStyle/>
          <ns1:p>
            <ns1:pPr algn="l">
              <ns1:lnSpc>
                <ns1:spcPct val="112000"/>
              </ns1:lnSpc>
              <ns1:spcAft>
                <ns1:spcPts val="400"/>
              </ns1:spcAft>
            </ns1:pPr>
            <ns1:r>
              <ns1:rPr sz="2400" b="1">
                <ns1:solidFill>
                  <ns1:srgbClr val="0F2747"/>
                </ns1:solidFill>
                <ns1:latin typeface="Arial"/>
              </ns1:rPr>
              <ns1:t>Pipeline end-to-end của đồ án</ns1:t>
            </ns1:r>
          </ns1:p>
        </ns0:txBody>
      </ns0:sp>
      <ns0:sp>
        <ns0:nvSpPr>
          <ns0:cNvPr id="6" name="TextBox 5"/>
          <ns0:cNvSpPr txBox="1"/>
          <ns0:nvPr/>
        </ns0:nvSpPr>
        <ns0:spPr>
          <ns1:xfrm>
            <ns1:off x="502920" y="6446520"/>
            <ns1:ext cx="10789920" cy="164592"/>
          </ns1:xfrm>
          <ns1:prstGeom prst="rect">
            <ns1:avLst/>
          </ns1:prstGeom>
          <ns1:noFill/>
        </ns0:spPr>
        <ns0:txBody>
          <ns1:bodyPr wrap="square" lIns="0" tIns="0" rIns="0" bIns="0" anchor="t">
            <ns1:normAutofit/>
          </ns1:bodyPr>
          <ns1:lstStyle/>
          <ns1:p>
            <ns1:pPr algn="l">
              <ns1:lnSpc>
                <ns1:spcPct val="112000"/>
              </ns1:lnSpc>
              <ns1:spcAft>
                <ns1:spcPts val="400"/>
              </ns1:spcAft>
            </ns1:pPr>
            <ns1:r>
              <ns1:rPr sz="850" b="0">
                <ns1:solidFill>
                  <ns1:srgbClr val="5B677A"/>
                </ns1:solidFill>
                <ns1:latin typeface="Arial"/>
              </ns1:rPr>
              <ns1:t>Xây dựng hệ thống phát hiện và lọc spam email | Đồ án Truy hồi thông tin | Trang 15</ns1:t>
            </ns1:r>
          </ns1:p>
        </ns0:txBody>
      </ns0:sp>
      <ns0:sp>
        <ns0:nvSpPr>
          <ns0:cNvPr id="7" name="Rounded Rectangle 6"/>
          <ns0:cNvSpPr/>
          <ns0:nvPr/>
        </ns0:nvSpPr>
        <ns0:spPr>
          <ns1:xfrm>
            <ns1:off x="502920" y="1417320"/>
            <ns1:ext cx="11155680" cy="4709160"/>
          </ns1:xfrm>
          <ns1:prstGeom prst="roundRect">
            <ns1:avLst/>
          </ns1:prstGeom>
          <ns1:solidFill>
            <ns1:srgbClr val="FFFFFF"/>
          </ns1:solidFill>
          <ns1:ln>
            <ns1:solidFill>
              <ns1:srgbClr val="D6DCE7"/>
            </ns1:solidFill>
          </ns1:ln>
        </ns0:spPr>
        <ns0:style>
          <ns1:lnRef idx="1">
            <ns1:schemeClr val="accent1"/>
          </ns1:lnRef>
          <ns1:fillRef idx="3">
            <ns1:schemeClr val="accent1"/>
          </ns1:fillRef>
          <ns1:effectRef idx="2">
            <ns1:schemeClr val="accent1"/>
          </ns1:effectRef>
          <ns1:fontRef idx="minor">
            <ns1:schemeClr val="lt1"/>
          </ns1:fontRef>
        </ns0:style>
        <ns0:txBody>
          <ns1:bodyPr wrap="square" lIns="109728" tIns="73152" rIns="109728" bIns="73152" rtlCol="0" anchor="t">
            <ns1:normAutofit/>
          </ns1:bodyPr>
          <ns1:lstStyle/>
          <ns1:p>
            <ns1:pPr algn="l">
              <ns1:lnSpc>
                <ns1:spcPct val="112000"/>
              </ns1:lnSpc>
              <ns1:spcAft>
                <ns1:spcPts val="400"/>
              </ns1:spcAft>
            </ns1:pPr>
            <ns1:r>
              <ns1:rPr sz="1600" b="0">
                <ns1:solidFill>
                  <ns1:srgbClr val="1F2937"/>
                </ns1:solidFill>
                <ns1:latin typeface="Arial"/>
              </ns1:rPr>
              <ns1:t>Đầu vào của hệ thống là email thô nằm trong thư mục data/bilingual/ham và data/bilingual/spam; ở phần demo, người dùng cũng có thể dán trực tiếp nội dung email hoặc tải file .txt/.eml để kiểm tra nhanh.</ns1:t>
            </ns1:r>
          </ns1:p>
          <ns1:p>
            <ns1:pPr algn="l">
              <ns1:lnSpc>
                <ns1:spcPct val="112000"/>
              </ns1:lnSpc>
              <ns1:spcAft>
                <ns1:spcPts val="400"/>
              </ns1:spcAft>
            </ns1:pPr>
            <ns1:r>
              <ns1:rPr sz="1600" b="0">
                <ns1:solidFill>
                  <ns1:srgbClr val="1F2937"/>
                </ns1:solidFill>
                <ns1:latin typeface="Arial"/>
              </ns1:rPr>
              <ns1:t>• Ở bước parsing, hệ thống đọc cấu trúc MIME, lấy subject và body, bỏ qua attachment ngoài phạm vi đề tài và chuẩn hóa đầu ra về dạng một chuỗi text duy nhất để các bước sau xử lý thống nhất.</ns1:t>
            </ns1:r>
          </ns1:p>
          <ns1:p>
            <ns1:pPr algn="l">
              <ns1:lnSpc>
                <ns1:spcPct val="112000"/>
              </ns1:lnSpc>
              <ns1:spcAft>
                <ns1:spcPts val="400"/>
              </ns1:spcAft>
            </ns1:pPr>
            <ns1:r>
              <ns1:rPr sz="1600" b="0">
                <ns1:solidFill>
                  <ns1:srgbClr val="1F2937"/>
                </ns1:solidFill>
                <ns1:latin typeface="Arial"/>
              </ns1:rPr>
              <ns1:t>• Sau đó văn bản được làm sạch, thay các mẫu URL, email, money, number bằng token đại diện và đưa qua vectorizer TF-IDF. Đây là bước nối trực tiếp từ dữ liệu thô sang không gian đặc trưng cho mô hình học máy.</ns1:t>
            </ns1:r>
          </ns1:p>
          <ns1:p>
            <ns1:pPr algn="l">
              <ns1:lnSpc>
                <ns1:spcPct val="112000"/>
              </ns1:lnSpc>
              <ns1:spcAft>
                <ns1:spcPts val="400"/>
              </ns1:spcAft>
            </ns1:pPr>
            <ns1:r>
              <ns1:rPr sz="1600" b="0">
                <ns1:solidFill>
                  <ns1:srgbClr val="1F2937"/>
                </ns1:solidFill>
                <ns1:latin typeface="Arial"/>
              </ns1:rPr>
              <ns1:t>• Trong bản demo, pipeline active là TF-IDF để biểu diễn đặc trưng và Linear SVM để phân loại; các model khác vẫn được lưu để benchmark và so sánh trực tiếp.</ns1:t>
            </ns1:r>
          </ns1:p>
        </ns0:txBody>
      </ns0:sp>
    </ns0:spTree>
  </ns0:cSld>
  <ns0:clrMapOvr>
    <ns1:masterClrMapping/>
  </ns0:clrMapOvr>
</ns0: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0F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75488"/>
            <a:ext cx="201168" cy="6382512"/>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8912" y="164592"/>
            <a:ext cx="1417320" cy="292608"/>
          </a:xfrm>
          <a:prstGeom prst="roundRect">
            <a:avLst/>
          </a:prstGeom>
          <a:solidFill>
            <a:srgbClr val="E46A2E"/>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t">
            <a:normAutofit/>
          </a:bodyPr>
          <a:lstStyle/>
          <a:p>
            <a:pPr algn="ctr">
              <a:lnSpc>
                <a:spcPct val="112000"/>
              </a:lnSpc>
              <a:spcAft>
                <a:spcPts val="400"/>
              </a:spcAft>
            </a:pPr>
            <a:r>
              <a:rPr sz="1200" b="1">
                <a:solidFill>
                  <a:srgbClr val="FFFFFF"/>
                </a:solidFill>
                <a:latin typeface="Arial"/>
              </a:rPr>
              <a:t>CHƯƠNG 3</a:t>
            </a:r>
          </a:p>
        </p:txBody>
      </p:sp>
      <p:sp>
        <p:nvSpPr>
          <p:cNvPr id="5" name="TextBox 4"/>
          <p:cNvSpPr txBox="1"/>
          <p:nvPr/>
        </p:nvSpPr>
        <p:spPr>
          <a:xfrm>
            <a:off x="502920" y="658368"/>
            <a:ext cx="8138160" cy="475488"/>
          </a:xfrm>
          <a:prstGeom prst="rect">
            <a:avLst/>
          </a:prstGeom>
          <a:noFill/>
        </p:spPr>
        <p:txBody>
          <a:bodyPr wrap="square" lIns="0" tIns="0" rIns="0" bIns="0" anchor="t">
            <a:normAutofit/>
          </a:bodyPr>
          <a:lstStyle/>
          <a:p>
            <a:pPr algn="l">
              <a:lnSpc>
                <a:spcPct val="112000"/>
              </a:lnSpc>
              <a:spcAft>
                <a:spcPts val="400"/>
              </a:spcAft>
            </a:pPr>
            <a:r>
              <a:rPr sz="2400" b="1">
                <a:solidFill>
                  <a:srgbClr val="0F2747"/>
                </a:solidFill>
                <a:latin typeface="Arial"/>
              </a:rPr>
              <a:t>Module parse email: src/utils/email_parse.py</a:t>
            </a:r>
          </a:p>
        </p:txBody>
      </p:sp>
      <p:sp>
        <p:nvSpPr>
          <p:cNvPr id="6" name="TextBox 5"/>
          <p:cNvSpPr txBox="1"/>
          <p:nvPr/>
        </p:nvSpPr>
        <p:spPr>
          <a:xfrm>
            <a:off x="521207" y="1078992"/>
            <a:ext cx="10058400" cy="292608"/>
          </a:xfrm>
          <a:prstGeom prst="rect">
            <a:avLst/>
          </a:prstGeom>
          <a:noFill/>
        </p:spPr>
        <p:txBody>
          <a:bodyPr wrap="square" lIns="0" tIns="0" rIns="0" bIns="0" anchor="t">
            <a:normAutofit/>
          </a:bodyPr>
          <a:lstStyle/>
          <a:p>
            <a:pPr algn="l">
              <a:lnSpc>
                <a:spcPct val="112000"/>
              </a:lnSpc>
              <a:spcAft>
                <a:spcPts val="400"/>
              </a:spcAft>
            </a:pPr>
            <a:r>
              <a:rPr sz="1050" b="0">
                <a:solidFill>
                  <a:srgbClr val="5B677A"/>
                </a:solidFill>
                <a:latin typeface="Arial"/>
              </a:rPr>
              <a:t>Parser MIME trích subject và body từ email thô trước khi đưa vào pipeline.</a:t>
            </a:r>
          </a:p>
        </p:txBody>
      </p:sp>
      <p:sp>
        <p:nvSpPr>
          <p:cNvPr id="7" name="TextBox 6"/>
          <p:cNvSpPr txBox="1"/>
          <p:nvPr/>
        </p:nvSpPr>
        <p:spPr>
          <a:xfrm>
            <a:off x="502920" y="6446520"/>
            <a:ext cx="10789920" cy="164592"/>
          </a:xfrm>
          <a:prstGeom prst="rect">
            <a:avLst/>
          </a:prstGeom>
          <a:noFill/>
        </p:spPr>
        <p:txBody>
          <a:bodyPr wrap="square" lIns="0" tIns="0" rIns="0" bIns="0" anchor="t">
            <a:normAutofit/>
          </a:bodyPr>
          <a:lstStyle/>
          <a:p>
            <a:pPr algn="l">
              <a:lnSpc>
                <a:spcPct val="112000"/>
              </a:lnSpc>
              <a:spcAft>
                <a:spcPts val="400"/>
              </a:spcAft>
            </a:pPr>
            <a:r>
              <a:rPr sz="850" b="0">
                <a:solidFill>
                  <a:srgbClr val="5B677A"/>
                </a:solidFill>
                <a:latin typeface="Arial"/>
              </a:rPr>
              <a:t>Xây dựng hệ thống phát hiện và lọc spam email | Đồ án Truy hồi thông tin | Trang 16</a:t>
            </a:r>
          </a:p>
        </p:txBody>
      </p:sp>
      <p:sp>
        <p:nvSpPr>
          <p:cNvPr id="8" name="Rounded Rectangle 7"/>
          <p:cNvSpPr/>
          <p:nvPr/>
        </p:nvSpPr>
        <p:spPr>
          <a:xfrm>
            <a:off x="502920" y="1417320"/>
            <a:ext cx="5074920" cy="4709160"/>
          </a:xfrm>
          <a:prstGeom prst="roundRect">
            <a:avLst/>
          </a:prstGeom>
          <a:solidFill>
            <a:srgbClr val="FFFF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normAutofit/>
          </a:bodyPr>
          <a:lstStyle/>
          <a:p>
            <a:pPr algn="l">
              <a:lnSpc>
                <a:spcPct val="112000"/>
              </a:lnSpc>
              <a:spcAft>
                <a:spcPts val="400"/>
              </a:spcAft>
            </a:pPr>
            <a:r>
              <a:rPr sz="1400" b="0">
                <a:solidFill>
                  <a:srgbClr val="1F2937"/>
                </a:solidFill>
                <a:latin typeface="Arial"/>
              </a:rPr>
              <a:t>Hàm trung tâm là parse_email_bytes(raw_bytes). Hàm này dùng BytesParser của thư viện email trong Python để đọc cấu trúc message theo policy mặc định và lấy ra subject cùng body.</a:t>
            </a:r>
          </a:p>
          <a:p>
            <a:pPr algn="l">
              <a:lnSpc>
                <a:spcPct val="112000"/>
              </a:lnSpc>
              <a:spcAft>
                <a:spcPts val="400"/>
              </a:spcAft>
            </a:pPr>
            <a:r>
              <a:rPr sz="1400" b="0">
                <a:solidFill>
                  <a:srgbClr val="1F2937"/>
                </a:solidFill>
                <a:latin typeface="Arial"/>
              </a:rPr>
              <a:t>• Nếu email là multipart, hệ thống duyệt qua các part bằng msg.walk(), ưu tiên lấy text/plain. Chỉ khi không có plain text thì mới dùng phần text/html và chuyển HTML về text bằng html_to_text.</a:t>
            </a:r>
          </a:p>
          <a:p>
            <a:pPr algn="l">
              <a:lnSpc>
                <a:spcPct val="112000"/>
              </a:lnSpc>
              <a:spcAft>
                <a:spcPts val="400"/>
              </a:spcAft>
            </a:pPr>
            <a:r>
              <a:rPr sz="1400" b="0">
                <a:solidFill>
                  <a:srgbClr val="1F2937"/>
                </a:solidFill>
                <a:latin typeface="Arial"/>
              </a:rPr>
              <a:t>• Các part có content_disposition là attachment sẽ bị bỏ qua.</a:t>
            </a:r>
          </a:p>
          <a:p>
            <a:pPr algn="l">
              <a:lnSpc>
                <a:spcPct val="112000"/>
              </a:lnSpc>
              <a:spcAft>
                <a:spcPts val="400"/>
              </a:spcAft>
            </a:pPr>
            <a:r>
              <a:rPr sz="1400" b="0">
                <a:solidFill>
                  <a:srgbClr val="1F2937"/>
                </a:solidFill>
                <a:latin typeface="Arial"/>
              </a:rPr>
              <a:t>• Khi payload là bytes, hệ thống dùng hàm decode_bytes để giải mã; khi payload đã là string thì giữ nguyên.</a:t>
            </a:r>
          </a:p>
        </p:txBody>
      </p:sp>
      <p:pic>
        <p:nvPicPr>
          <p:cNvPr id="10" name="Picture 9" descr="code_email_parse.png"/>
          <p:cNvPicPr>
            <a:picLocks noChangeAspect="1"/>
          </p:cNvPicPr>
          <p:nvPr/>
        </p:nvPicPr>
        <p:blipFill>
          <a:blip r:embed="rId2"/>
          <a:stretch>
            <a:fillRect/>
          </a:stretch>
        </p:blipFill>
        <p:spPr>
          <a:xfrm>
            <a:off x="5814508" y="1417320"/>
            <a:ext cx="6198198" cy="4069079"/>
          </a:xfrm>
          <a:prstGeom prst="rect">
            <a:avLst/>
          </a:prstGeom>
        </p:spPr>
      </p:pic>
      <p:sp>
        <p:nvSpPr>
          <p:cNvPr id="11" name="Rounded Rectangle 10"/>
          <p:cNvSpPr/>
          <p:nvPr/>
        </p:nvSpPr>
        <p:spPr>
          <a:xfrm>
            <a:off x="5806440" y="5559552"/>
            <a:ext cx="5532120" cy="411480"/>
          </a:xfrm>
          <a:prstGeom prst="roundRect">
            <a:avLst/>
          </a:prstGeom>
          <a:solidFill>
            <a:srgbClr val="EAF2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t">
            <a:normAutofit/>
          </a:bodyPr>
          <a:lstStyle/>
          <a:p>
            <a:pPr algn="l">
              <a:lnSpc>
                <a:spcPct val="112000"/>
              </a:lnSpc>
              <a:spcAft>
                <a:spcPts val="400"/>
              </a:spcAft>
            </a:pPr>
            <a:r>
              <a:rPr sz="1050" b="0">
                <a:solidFill>
                  <a:srgbClr val="1F2937"/>
                </a:solidFill>
                <a:latin typeface="Arial"/>
              </a:rPr>
              <a:t>Code cut-out của parser MIME dùng trong hệ thống.</a:t>
            </a:r>
          </a:p>
        </p:txBody>
      </p:sp>
      <p:sp>
        <p:nvSpPr>
          <p:cNvPr id="12" name="Rounded Rectangle 11"/>
          <p:cNvSpPr/>
          <p:nvPr/>
        </p:nvSpPr>
        <p:spPr>
          <a:xfrm>
            <a:off x="5806440" y="6094207"/>
            <a:ext cx="5532120" cy="384048"/>
          </a:xfrm>
          <a:prstGeom prst="roundRect">
            <a:avLst/>
          </a:prstGeom>
          <a:solidFill>
            <a:srgbClr val="FFF1E8"/>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t">
            <a:normAutofit/>
          </a:bodyPr>
          <a:lstStyle/>
          <a:p>
            <a:pPr algn="l">
              <a:lnSpc>
                <a:spcPct val="112000"/>
              </a:lnSpc>
              <a:spcAft>
                <a:spcPts val="400"/>
              </a:spcAft>
            </a:pPr>
            <a:r>
              <a:rPr sz="980" b="0">
                <a:solidFill>
                  <a:srgbClr val="1F2937"/>
                </a:solidFill>
                <a:latin typeface="Arial"/>
              </a:rPr>
              <a:t>Trích đoạn: parse_email_bytes(), ưu tiên text/plain rồi mới fallback sang HTML.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0F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75488"/>
            <a:ext cx="201168" cy="6382512"/>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8912" y="164592"/>
            <a:ext cx="1417320" cy="292608"/>
          </a:xfrm>
          <a:prstGeom prst="roundRect">
            <a:avLst/>
          </a:prstGeom>
          <a:solidFill>
            <a:srgbClr val="E46A2E"/>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t">
            <a:normAutofit/>
          </a:bodyPr>
          <a:lstStyle/>
          <a:p>
            <a:pPr algn="ctr">
              <a:lnSpc>
                <a:spcPct val="112000"/>
              </a:lnSpc>
              <a:spcAft>
                <a:spcPts val="400"/>
              </a:spcAft>
            </a:pPr>
            <a:r>
              <a:rPr sz="1200" b="1">
                <a:solidFill>
                  <a:srgbClr val="FFFFFF"/>
                </a:solidFill>
                <a:latin typeface="Arial"/>
              </a:rPr>
              <a:t>CHƯƠNG 3</a:t>
            </a:r>
          </a:p>
        </p:txBody>
      </p:sp>
      <p:sp>
        <p:nvSpPr>
          <p:cNvPr id="5" name="TextBox 4"/>
          <p:cNvSpPr txBox="1"/>
          <p:nvPr/>
        </p:nvSpPr>
        <p:spPr>
          <a:xfrm>
            <a:off x="502920" y="658368"/>
            <a:ext cx="8138160" cy="475488"/>
          </a:xfrm>
          <a:prstGeom prst="rect">
            <a:avLst/>
          </a:prstGeom>
          <a:noFill/>
        </p:spPr>
        <p:txBody>
          <a:bodyPr wrap="square" lIns="0" tIns="0" rIns="0" bIns="0" anchor="t">
            <a:normAutofit/>
          </a:bodyPr>
          <a:lstStyle/>
          <a:p>
            <a:pPr algn="l">
              <a:lnSpc>
                <a:spcPct val="112000"/>
              </a:lnSpc>
              <a:spcAft>
                <a:spcPts val="400"/>
              </a:spcAft>
            </a:pPr>
            <a:r>
              <a:rPr sz="2400" b="1">
                <a:solidFill>
                  <a:srgbClr val="0F2747"/>
                </a:solidFill>
                <a:latin typeface="Arial"/>
              </a:rPr>
              <a:t>Module làm sạch văn bản: src/utils/text_clean.py</a:t>
            </a:r>
          </a:p>
        </p:txBody>
      </p:sp>
      <p:sp>
        <p:nvSpPr>
          <p:cNvPr id="6" name="TextBox 5"/>
          <p:cNvSpPr txBox="1"/>
          <p:nvPr/>
        </p:nvSpPr>
        <p:spPr>
          <a:xfrm>
            <a:off x="521207" y="1078992"/>
            <a:ext cx="10058400" cy="292608"/>
          </a:xfrm>
          <a:prstGeom prst="rect">
            <a:avLst/>
          </a:prstGeom>
          <a:noFill/>
        </p:spPr>
        <p:txBody>
          <a:bodyPr wrap="square" lIns="0" tIns="0" rIns="0" bIns="0" anchor="t">
            <a:normAutofit/>
          </a:bodyPr>
          <a:lstStyle/>
          <a:p>
            <a:pPr algn="l">
              <a:lnSpc>
                <a:spcPct val="112000"/>
              </a:lnSpc>
              <a:spcAft>
                <a:spcPts val="400"/>
              </a:spcAft>
            </a:pPr>
            <a:r>
              <a:rPr sz="1050" b="0">
                <a:solidFill>
                  <a:srgbClr val="5B677A"/>
                </a:solidFill>
                <a:latin typeface="Arial"/>
              </a:rPr>
              <a:t>Cleaning chuẩn hóa văn bản và thay các pattern nhiễu bằng token đại diện.</a:t>
            </a:r>
          </a:p>
        </p:txBody>
      </p:sp>
      <p:sp>
        <p:nvSpPr>
          <p:cNvPr id="7" name="TextBox 6"/>
          <p:cNvSpPr txBox="1"/>
          <p:nvPr/>
        </p:nvSpPr>
        <p:spPr>
          <a:xfrm>
            <a:off x="502920" y="6446520"/>
            <a:ext cx="10789920" cy="164592"/>
          </a:xfrm>
          <a:prstGeom prst="rect">
            <a:avLst/>
          </a:prstGeom>
          <a:noFill/>
        </p:spPr>
        <p:txBody>
          <a:bodyPr wrap="square" lIns="0" tIns="0" rIns="0" bIns="0" anchor="t">
            <a:normAutofit/>
          </a:bodyPr>
          <a:lstStyle/>
          <a:p>
            <a:pPr algn="l">
              <a:lnSpc>
                <a:spcPct val="112000"/>
              </a:lnSpc>
              <a:spcAft>
                <a:spcPts val="400"/>
              </a:spcAft>
            </a:pPr>
            <a:r>
              <a:rPr sz="850" b="0">
                <a:solidFill>
                  <a:srgbClr val="5B677A"/>
                </a:solidFill>
                <a:latin typeface="Arial"/>
              </a:rPr>
              <a:t>Xây dựng hệ thống phát hiện và lọc spam email | Đồ án Truy hồi thông tin | Trang 17</a:t>
            </a:r>
          </a:p>
        </p:txBody>
      </p:sp>
      <p:sp>
        <p:nvSpPr>
          <p:cNvPr id="8" name="Rounded Rectangle 7"/>
          <p:cNvSpPr/>
          <p:nvPr/>
        </p:nvSpPr>
        <p:spPr>
          <a:xfrm>
            <a:off x="502920" y="1417320"/>
            <a:ext cx="5074920" cy="4709160"/>
          </a:xfrm>
          <a:prstGeom prst="roundRect">
            <a:avLst/>
          </a:prstGeom>
          <a:solidFill>
            <a:srgbClr val="FFFF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normAutofit/>
          </a:bodyPr>
          <a:lstStyle/>
          <a:p>
            <a:pPr algn="l">
              <a:lnSpc>
                <a:spcPct val="112000"/>
              </a:lnSpc>
              <a:spcAft>
                <a:spcPts val="400"/>
              </a:spcAft>
            </a:pPr>
            <a:r>
              <a:rPr sz="1400" b="0">
                <a:solidFill>
                  <a:srgbClr val="1F2937"/>
                </a:solidFill>
                <a:latin typeface="Arial"/>
              </a:rPr>
              <a:t>Bước đầu tiên của cleaning là chuẩn hóa chuỗi theo Unicode NFKC. Việc này giúp giảm rủi ro sai khác biểu diễn ký tự và làm cho các mẫu token hóa hoạt động ổn định hơn.</a:t>
            </a:r>
          </a:p>
          <a:p>
            <a:pPr algn="l">
              <a:lnSpc>
                <a:spcPct val="112000"/>
              </a:lnSpc>
              <a:spcAft>
                <a:spcPts val="400"/>
              </a:spcAft>
            </a:pPr>
            <a:r>
              <a:rPr sz="1400" b="0">
                <a:solidFill>
                  <a:srgbClr val="1F2937"/>
                </a:solidFill>
                <a:latin typeface="Arial"/>
              </a:rPr>
              <a:t>• Hệ thống loại bỏ các dòng header phổ biến như from, to, subject, cc, bcc, date ngay trong thân email. Mục tiêu là tránh để các đoạn header lặp lại tạo ra tín hiệu giả trong TF-IDF.</a:t>
            </a:r>
          </a:p>
          <a:p>
            <a:pPr algn="l">
              <a:lnSpc>
                <a:spcPct val="112000"/>
              </a:lnSpc>
              <a:spcAft>
                <a:spcPts val="400"/>
              </a:spcAft>
            </a:pPr>
            <a:r>
              <a:rPr sz="1400" b="0">
                <a:solidFill>
                  <a:srgbClr val="1F2937"/>
                </a:solidFill>
                <a:latin typeface="Arial"/>
              </a:rPr>
              <a:t>• Toàn bộ nội dung được chuyển về chữ thường. Sau đó các biểu thức chính quy sẽ thay URL thành urltoken, email thành emailtoken, tiền thành moneytoken, số thành numtoken.</a:t>
            </a:r>
          </a:p>
          <a:p>
            <a:pPr algn="l">
              <a:lnSpc>
                <a:spcPct val="112000"/>
              </a:lnSpc>
              <a:spcAft>
                <a:spcPts val="400"/>
              </a:spcAft>
            </a:pPr>
            <a:r>
              <a:rPr sz="1400" b="0">
                <a:solidFill>
                  <a:srgbClr val="1F2937"/>
                </a:solidFill>
                <a:latin typeface="Arial"/>
              </a:rPr>
              <a:t>• Các đoạn base64 dài, HTML tag và khoảng trắng thừa đều bị loại bỏ hoặc gom lại.</a:t>
            </a:r>
          </a:p>
        </p:txBody>
      </p:sp>
      <p:pic>
        <p:nvPicPr>
          <p:cNvPr id="10" name="Picture 9" descr="code_text_clean.png"/>
          <p:cNvPicPr>
            <a:picLocks noChangeAspect="1"/>
          </p:cNvPicPr>
          <p:nvPr/>
        </p:nvPicPr>
        <p:blipFill>
          <a:blip r:embed="rId2"/>
          <a:stretch>
            <a:fillRect/>
          </a:stretch>
        </p:blipFill>
        <p:spPr>
          <a:xfrm>
            <a:off x="5806439" y="1453896"/>
            <a:ext cx="6071795" cy="4096512"/>
          </a:xfrm>
          <a:prstGeom prst="rect">
            <a:avLst/>
          </a:prstGeom>
        </p:spPr>
      </p:pic>
      <p:sp>
        <p:nvSpPr>
          <p:cNvPr id="11" name="Rounded Rectangle 10"/>
          <p:cNvSpPr/>
          <p:nvPr/>
        </p:nvSpPr>
        <p:spPr>
          <a:xfrm>
            <a:off x="5806440" y="5559552"/>
            <a:ext cx="5532120" cy="411480"/>
          </a:xfrm>
          <a:prstGeom prst="roundRect">
            <a:avLst/>
          </a:prstGeom>
          <a:solidFill>
            <a:srgbClr val="EAF2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t">
            <a:normAutofit/>
          </a:bodyPr>
          <a:lstStyle/>
          <a:p>
            <a:pPr algn="l">
              <a:lnSpc>
                <a:spcPct val="112000"/>
              </a:lnSpc>
              <a:spcAft>
                <a:spcPts val="400"/>
              </a:spcAft>
            </a:pPr>
            <a:r>
              <a:rPr sz="1050" b="0">
                <a:solidFill>
                  <a:srgbClr val="1F2937"/>
                </a:solidFill>
                <a:latin typeface="Arial"/>
              </a:rPr>
              <a:t>Code cut-out của module clean_text().</a:t>
            </a:r>
          </a:p>
        </p:txBody>
      </p:sp>
      <p:sp>
        <p:nvSpPr>
          <p:cNvPr id="12" name="Rounded Rectangle 11"/>
          <p:cNvSpPr/>
          <p:nvPr/>
        </p:nvSpPr>
        <p:spPr>
          <a:xfrm>
            <a:off x="5806440" y="6099048"/>
            <a:ext cx="5532120" cy="384048"/>
          </a:xfrm>
          <a:prstGeom prst="roundRect">
            <a:avLst/>
          </a:prstGeom>
          <a:solidFill>
            <a:srgbClr val="FFF1E8"/>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t">
            <a:normAutofit/>
          </a:bodyPr>
          <a:lstStyle/>
          <a:p>
            <a:pPr algn="l">
              <a:lnSpc>
                <a:spcPct val="112000"/>
              </a:lnSpc>
              <a:spcAft>
                <a:spcPts val="400"/>
              </a:spcAft>
            </a:pPr>
            <a:r>
              <a:rPr sz="980" b="0" dirty="0" err="1">
                <a:solidFill>
                  <a:srgbClr val="1F2937"/>
                </a:solidFill>
                <a:latin typeface="Arial"/>
              </a:rPr>
              <a:t>Các</a:t>
            </a:r>
            <a:r>
              <a:rPr sz="980" b="0" dirty="0">
                <a:solidFill>
                  <a:srgbClr val="1F2937"/>
                </a:solidFill>
                <a:latin typeface="Arial"/>
              </a:rPr>
              <a:t> token </a:t>
            </a:r>
            <a:r>
              <a:rPr sz="980" b="0" dirty="0" err="1">
                <a:solidFill>
                  <a:srgbClr val="1F2937"/>
                </a:solidFill>
                <a:latin typeface="Arial"/>
              </a:rPr>
              <a:t>chuẩn</a:t>
            </a:r>
            <a:r>
              <a:rPr sz="980" b="0" dirty="0">
                <a:solidFill>
                  <a:srgbClr val="1F2937"/>
                </a:solidFill>
                <a:latin typeface="Arial"/>
              </a:rPr>
              <a:t> </a:t>
            </a:r>
            <a:r>
              <a:rPr sz="980" b="0" dirty="0" err="1">
                <a:solidFill>
                  <a:srgbClr val="1F2937"/>
                </a:solidFill>
                <a:latin typeface="Arial"/>
              </a:rPr>
              <a:t>như</a:t>
            </a:r>
            <a:r>
              <a:rPr sz="980" b="0" dirty="0">
                <a:solidFill>
                  <a:srgbClr val="1F2937"/>
                </a:solidFill>
                <a:latin typeface="Arial"/>
              </a:rPr>
              <a:t> </a:t>
            </a:r>
            <a:r>
              <a:rPr sz="980" b="0" dirty="0" err="1">
                <a:solidFill>
                  <a:srgbClr val="1F2937"/>
                </a:solidFill>
                <a:latin typeface="Arial"/>
              </a:rPr>
              <a:t>urltoken</a:t>
            </a:r>
            <a:r>
              <a:rPr sz="980" b="0" dirty="0">
                <a:solidFill>
                  <a:srgbClr val="1F2937"/>
                </a:solidFill>
                <a:latin typeface="Arial"/>
              </a:rPr>
              <a:t>, </a:t>
            </a:r>
            <a:r>
              <a:rPr sz="980" b="0" dirty="0" err="1">
                <a:solidFill>
                  <a:srgbClr val="1F2937"/>
                </a:solidFill>
                <a:latin typeface="Arial"/>
              </a:rPr>
              <a:t>emailtoken</a:t>
            </a:r>
            <a:r>
              <a:rPr sz="980" b="0" dirty="0">
                <a:solidFill>
                  <a:srgbClr val="1F2937"/>
                </a:solidFill>
                <a:latin typeface="Arial"/>
              </a:rPr>
              <a:t>, </a:t>
            </a:r>
            <a:r>
              <a:rPr sz="980" b="0" dirty="0" err="1">
                <a:solidFill>
                  <a:srgbClr val="1F2937"/>
                </a:solidFill>
                <a:latin typeface="Arial"/>
              </a:rPr>
              <a:t>moneytoken</a:t>
            </a:r>
            <a:r>
              <a:rPr sz="980" b="0" dirty="0">
                <a:solidFill>
                  <a:srgbClr val="1F2937"/>
                </a:solidFill>
                <a:latin typeface="Arial"/>
              </a:rPr>
              <a:t>, </a:t>
            </a:r>
            <a:r>
              <a:rPr sz="980" b="0" dirty="0" err="1">
                <a:solidFill>
                  <a:srgbClr val="1F2937"/>
                </a:solidFill>
                <a:latin typeface="Arial"/>
              </a:rPr>
              <a:t>numtoken</a:t>
            </a:r>
            <a:r>
              <a:rPr sz="980" b="0" dirty="0">
                <a:solidFill>
                  <a:srgbClr val="1F2937"/>
                </a:solidFill>
                <a:latin typeface="Arial"/>
              </a:rPr>
              <a:t> </a:t>
            </a:r>
            <a:r>
              <a:rPr sz="980" b="0" dirty="0" err="1">
                <a:solidFill>
                  <a:srgbClr val="1F2937"/>
                </a:solidFill>
                <a:latin typeface="Arial"/>
              </a:rPr>
              <a:t>giúp</a:t>
            </a:r>
            <a:r>
              <a:rPr sz="980" b="0" dirty="0">
                <a:solidFill>
                  <a:srgbClr val="1F2937"/>
                </a:solidFill>
                <a:latin typeface="Arial"/>
              </a:rPr>
              <a:t> </a:t>
            </a:r>
            <a:r>
              <a:rPr sz="980" b="0" dirty="0" err="1">
                <a:solidFill>
                  <a:srgbClr val="1F2937"/>
                </a:solidFill>
                <a:latin typeface="Arial"/>
              </a:rPr>
              <a:t>giảm</a:t>
            </a:r>
            <a:r>
              <a:rPr sz="980" b="0" dirty="0">
                <a:solidFill>
                  <a:srgbClr val="1F2937"/>
                </a:solidFill>
                <a:latin typeface="Arial"/>
              </a:rPr>
              <a:t> </a:t>
            </a:r>
            <a:r>
              <a:rPr sz="980" b="0" dirty="0" err="1">
                <a:solidFill>
                  <a:srgbClr val="1F2937"/>
                </a:solidFill>
                <a:latin typeface="Arial"/>
              </a:rPr>
              <a:t>nhiễu</a:t>
            </a:r>
            <a:r>
              <a:rPr sz="980" b="0" dirty="0">
                <a:solidFill>
                  <a:srgbClr val="1F2937"/>
                </a:solidFill>
                <a:latin typeface="Arial"/>
              </a:rPr>
              <a:t> lexical.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0F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75488"/>
            <a:ext cx="201168" cy="6382512"/>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8912" y="164592"/>
            <a:ext cx="1417320" cy="292608"/>
          </a:xfrm>
          <a:prstGeom prst="roundRect">
            <a:avLst/>
          </a:prstGeom>
          <a:solidFill>
            <a:srgbClr val="E46A2E"/>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t">
            <a:normAutofit/>
          </a:bodyPr>
          <a:lstStyle/>
          <a:p>
            <a:pPr algn="ctr">
              <a:lnSpc>
                <a:spcPct val="112000"/>
              </a:lnSpc>
              <a:spcAft>
                <a:spcPts val="400"/>
              </a:spcAft>
            </a:pPr>
            <a:r>
              <a:rPr sz="1200" b="1">
                <a:solidFill>
                  <a:srgbClr val="FFFFFF"/>
                </a:solidFill>
                <a:latin typeface="Arial"/>
              </a:rPr>
              <a:t>CHƯƠNG 3</a:t>
            </a:r>
          </a:p>
        </p:txBody>
      </p:sp>
      <p:sp>
        <p:nvSpPr>
          <p:cNvPr id="5" name="TextBox 4"/>
          <p:cNvSpPr txBox="1"/>
          <p:nvPr/>
        </p:nvSpPr>
        <p:spPr>
          <a:xfrm>
            <a:off x="502920" y="658368"/>
            <a:ext cx="8138160" cy="475488"/>
          </a:xfrm>
          <a:prstGeom prst="rect">
            <a:avLst/>
          </a:prstGeom>
          <a:noFill/>
        </p:spPr>
        <p:txBody>
          <a:bodyPr wrap="square" lIns="0" tIns="0" rIns="0" bIns="0" anchor="t">
            <a:normAutofit fontScale="92500"/>
          </a:bodyPr>
          <a:lstStyle/>
          <a:p>
            <a:pPr algn="l">
              <a:lnSpc>
                <a:spcPct val="112000"/>
              </a:lnSpc>
              <a:spcAft>
                <a:spcPts val="400"/>
              </a:spcAft>
            </a:pPr>
            <a:r>
              <a:rPr sz="2400" b="1">
                <a:solidFill>
                  <a:srgbClr val="0F2747"/>
                </a:solidFill>
                <a:latin typeface="Arial"/>
              </a:rPr>
              <a:t>Module vector hóa và stopword: src/features/vectorize.py</a:t>
            </a:r>
          </a:p>
        </p:txBody>
      </p:sp>
      <p:sp>
        <p:nvSpPr>
          <p:cNvPr id="7" name="TextBox 6"/>
          <p:cNvSpPr txBox="1"/>
          <p:nvPr/>
        </p:nvSpPr>
        <p:spPr>
          <a:xfrm>
            <a:off x="502920" y="6446520"/>
            <a:ext cx="10789920" cy="164592"/>
          </a:xfrm>
          <a:prstGeom prst="rect">
            <a:avLst/>
          </a:prstGeom>
          <a:noFill/>
        </p:spPr>
        <p:txBody>
          <a:bodyPr wrap="square" lIns="0" tIns="0" rIns="0" bIns="0" anchor="t">
            <a:normAutofit/>
          </a:bodyPr>
          <a:lstStyle/>
          <a:p>
            <a:pPr algn="l">
              <a:lnSpc>
                <a:spcPct val="112000"/>
              </a:lnSpc>
              <a:spcAft>
                <a:spcPts val="400"/>
              </a:spcAft>
            </a:pPr>
            <a:r>
              <a:rPr sz="850" b="0">
                <a:solidFill>
                  <a:srgbClr val="5B677A"/>
                </a:solidFill>
                <a:latin typeface="Arial"/>
              </a:rPr>
              <a:t>Xây dựng hệ thống phát hiện và lọc spam email | Đồ án Truy hồi thông tin | Trang 18</a:t>
            </a:r>
          </a:p>
        </p:txBody>
      </p:sp>
      <p:sp>
        <p:nvSpPr>
          <p:cNvPr id="8" name="Rounded Rectangle 7"/>
          <p:cNvSpPr/>
          <p:nvPr/>
        </p:nvSpPr>
        <p:spPr>
          <a:xfrm>
            <a:off x="502920" y="1417320"/>
            <a:ext cx="5074920" cy="4709160"/>
          </a:xfrm>
          <a:prstGeom prst="roundRect">
            <a:avLst/>
          </a:prstGeom>
          <a:solidFill>
            <a:srgbClr val="FFFF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normAutofit/>
          </a:bodyPr>
          <a:lstStyle/>
          <a:p>
            <a:pPr algn="l">
              <a:lnSpc>
                <a:spcPct val="112000"/>
              </a:lnSpc>
              <a:spcAft>
                <a:spcPts val="400"/>
              </a:spcAft>
            </a:pPr>
            <a:r>
              <a:rPr sz="1400" b="0">
                <a:solidFill>
                  <a:srgbClr val="1F2937"/>
                </a:solidFill>
                <a:latin typeface="Arial"/>
              </a:rPr>
              <a:t>Module vectorize.py cung cấp build_vectorizer() để tạo TfidfVectorizer theo cấu hình trong src/config.py.</a:t>
            </a:r>
          </a:p>
          <a:p>
            <a:pPr algn="l">
              <a:lnSpc>
                <a:spcPct val="112000"/>
              </a:lnSpc>
              <a:spcAft>
                <a:spcPts val="400"/>
              </a:spcAft>
            </a:pPr>
            <a:r>
              <a:rPr sz="1400" b="0">
                <a:solidFill>
                  <a:srgbClr val="1F2937"/>
                </a:solidFill>
                <a:latin typeface="Arial"/>
              </a:rPr>
              <a:t>• Nếu analyzer là word và người dùng không truyền stop_words riêng, hệ thống sẽ tự ghép stopword tiếng Anh mặc định với danh sách stopword tiếng Việt trong data/stopwords_vi.txt.</a:t>
            </a:r>
          </a:p>
          <a:p>
            <a:pPr algn="l">
              <a:lnSpc>
                <a:spcPct val="112000"/>
              </a:lnSpc>
              <a:spcAft>
                <a:spcPts val="400"/>
              </a:spcAft>
            </a:pPr>
            <a:r>
              <a:rPr sz="1400" b="0">
                <a:solidFill>
                  <a:srgbClr val="1F2937"/>
                </a:solidFill>
                <a:latin typeface="Arial"/>
              </a:rPr>
              <a:t>• Vectorizer chỉ dùng token_pattern=(?u)\b\w+\b cho word analyzer, giúp giữ lại cả token đơn giản và các token đại diện như urltoken, emailtoken, numtoken.</a:t>
            </a:r>
          </a:p>
          <a:p>
            <a:pPr algn="l">
              <a:lnSpc>
                <a:spcPct val="112000"/>
              </a:lnSpc>
              <a:spcAft>
                <a:spcPts val="400"/>
              </a:spcAft>
            </a:pPr>
            <a:r>
              <a:rPr sz="1400" b="0">
                <a:solidFill>
                  <a:srgbClr val="1F2937"/>
                </a:solidFill>
                <a:latin typeface="Arial"/>
              </a:rPr>
              <a:t>• Trong phần thí nghiệm SVM, module train.py còn chạy thêm danh sách EXPERIMENTS để so sánh word_1_2 với char_3_5.</a:t>
            </a:r>
          </a:p>
        </p:txBody>
      </p:sp>
      <p:pic>
        <p:nvPicPr>
          <p:cNvPr id="10" name="Picture 9" descr="code_vectorize.png"/>
          <p:cNvPicPr>
            <a:picLocks noChangeAspect="1"/>
          </p:cNvPicPr>
          <p:nvPr/>
        </p:nvPicPr>
        <p:blipFill>
          <a:blip r:embed="rId2"/>
          <a:stretch>
            <a:fillRect/>
          </a:stretch>
        </p:blipFill>
        <p:spPr>
          <a:xfrm>
            <a:off x="5806440" y="1453895"/>
            <a:ext cx="6233160" cy="3992521"/>
          </a:xfrm>
          <a:prstGeom prst="rect">
            <a:avLst/>
          </a:prstGeom>
        </p:spPr>
      </p:pic>
      <p:sp>
        <p:nvSpPr>
          <p:cNvPr id="11" name="Rounded Rectangle 10"/>
          <p:cNvSpPr/>
          <p:nvPr/>
        </p:nvSpPr>
        <p:spPr>
          <a:xfrm>
            <a:off x="5806440" y="5559552"/>
            <a:ext cx="5532120" cy="411480"/>
          </a:xfrm>
          <a:prstGeom prst="roundRect">
            <a:avLst/>
          </a:prstGeom>
          <a:solidFill>
            <a:srgbClr val="EAF2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t">
            <a:normAutofit/>
          </a:bodyPr>
          <a:lstStyle/>
          <a:p>
            <a:pPr algn="l">
              <a:lnSpc>
                <a:spcPct val="112000"/>
              </a:lnSpc>
              <a:spcAft>
                <a:spcPts val="400"/>
              </a:spcAft>
            </a:pPr>
            <a:r>
              <a:rPr sz="1050" b="0">
                <a:solidFill>
                  <a:srgbClr val="1F2937"/>
                </a:solidFill>
                <a:latin typeface="Arial"/>
              </a:rPr>
              <a:t>Code cut-out của hàm build_vectorizer().</a:t>
            </a:r>
          </a:p>
        </p:txBody>
      </p:sp>
      <p:sp>
        <p:nvSpPr>
          <p:cNvPr id="12" name="Rounded Rectangle 11"/>
          <p:cNvSpPr/>
          <p:nvPr/>
        </p:nvSpPr>
        <p:spPr>
          <a:xfrm>
            <a:off x="5806440" y="6084167"/>
            <a:ext cx="5532120" cy="384048"/>
          </a:xfrm>
          <a:prstGeom prst="roundRect">
            <a:avLst/>
          </a:prstGeom>
          <a:solidFill>
            <a:srgbClr val="FFF1E8"/>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t">
            <a:normAutofit/>
          </a:bodyPr>
          <a:lstStyle/>
          <a:p>
            <a:pPr algn="l">
              <a:lnSpc>
                <a:spcPct val="112000"/>
              </a:lnSpc>
              <a:spcAft>
                <a:spcPts val="400"/>
              </a:spcAft>
            </a:pPr>
            <a:r>
              <a:rPr sz="980" b="0">
                <a:solidFill>
                  <a:srgbClr val="1F2937"/>
                </a:solidFill>
                <a:latin typeface="Arial"/>
              </a:rPr>
              <a:t>Phần code thể hiện rõ preprocessor, stopword song ngữ và cấu hình TF-IDF.</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0F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75488"/>
            <a:ext cx="201168" cy="6382512"/>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8912" y="164592"/>
            <a:ext cx="1417320" cy="292608"/>
          </a:xfrm>
          <a:prstGeom prst="roundRect">
            <a:avLst/>
          </a:prstGeom>
          <a:solidFill>
            <a:srgbClr val="E46A2E"/>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t">
            <a:normAutofit/>
          </a:bodyPr>
          <a:lstStyle/>
          <a:p>
            <a:pPr algn="ctr">
              <a:lnSpc>
                <a:spcPct val="112000"/>
              </a:lnSpc>
              <a:spcAft>
                <a:spcPts val="400"/>
              </a:spcAft>
            </a:pPr>
            <a:r>
              <a:rPr sz="1200" b="1">
                <a:solidFill>
                  <a:srgbClr val="FFFFFF"/>
                </a:solidFill>
                <a:latin typeface="Arial"/>
              </a:rPr>
              <a:t>CHƯƠNG 3</a:t>
            </a:r>
          </a:p>
        </p:txBody>
      </p:sp>
      <p:sp>
        <p:nvSpPr>
          <p:cNvPr id="5" name="TextBox 4"/>
          <p:cNvSpPr txBox="1"/>
          <p:nvPr/>
        </p:nvSpPr>
        <p:spPr>
          <a:xfrm>
            <a:off x="502920" y="658368"/>
            <a:ext cx="8138160" cy="475488"/>
          </a:xfrm>
          <a:prstGeom prst="rect">
            <a:avLst/>
          </a:prstGeom>
          <a:noFill/>
        </p:spPr>
        <p:txBody>
          <a:bodyPr wrap="square" lIns="0" tIns="0" rIns="0" bIns="0" anchor="t">
            <a:normAutofit/>
          </a:bodyPr>
          <a:lstStyle/>
          <a:p>
            <a:pPr algn="l">
              <a:lnSpc>
                <a:spcPct val="112000"/>
              </a:lnSpc>
              <a:spcAft>
                <a:spcPts val="400"/>
              </a:spcAft>
            </a:pPr>
            <a:r>
              <a:rPr sz="2400" b="1">
                <a:solidFill>
                  <a:srgbClr val="0F2747"/>
                </a:solidFill>
                <a:latin typeface="Arial"/>
              </a:rPr>
              <a:t>Module huấn luyện và benchmark: src/models/train.py</a:t>
            </a:r>
          </a:p>
        </p:txBody>
      </p:sp>
      <p:sp>
        <p:nvSpPr>
          <p:cNvPr id="6" name="TextBox 5"/>
          <p:cNvSpPr txBox="1"/>
          <p:nvPr/>
        </p:nvSpPr>
        <p:spPr>
          <a:xfrm>
            <a:off x="521207" y="1078992"/>
            <a:ext cx="10058400" cy="292608"/>
          </a:xfrm>
          <a:prstGeom prst="rect">
            <a:avLst/>
          </a:prstGeom>
          <a:noFill/>
        </p:spPr>
        <p:txBody>
          <a:bodyPr wrap="square" lIns="0" tIns="0" rIns="0" bIns="0" anchor="t">
            <a:normAutofit/>
          </a:bodyPr>
          <a:lstStyle/>
          <a:p>
            <a:pPr algn="l">
              <a:lnSpc>
                <a:spcPct val="112000"/>
              </a:lnSpc>
              <a:spcAft>
                <a:spcPts val="400"/>
              </a:spcAft>
            </a:pPr>
            <a:r>
              <a:rPr sz="1050" b="0">
                <a:solidFill>
                  <a:srgbClr val="5B677A"/>
                </a:solidFill>
                <a:latin typeface="Arial"/>
              </a:rPr>
              <a:t>Huấn luyện, grid search và benchmark nhiều mô hình trên cùng tập dữ liệu.</a:t>
            </a:r>
          </a:p>
        </p:txBody>
      </p:sp>
      <p:sp>
        <p:nvSpPr>
          <p:cNvPr id="7" name="TextBox 6"/>
          <p:cNvSpPr txBox="1"/>
          <p:nvPr/>
        </p:nvSpPr>
        <p:spPr>
          <a:xfrm>
            <a:off x="502920" y="6446520"/>
            <a:ext cx="10789920" cy="164592"/>
          </a:xfrm>
          <a:prstGeom prst="rect">
            <a:avLst/>
          </a:prstGeom>
          <a:noFill/>
        </p:spPr>
        <p:txBody>
          <a:bodyPr wrap="square" lIns="0" tIns="0" rIns="0" bIns="0" anchor="t">
            <a:normAutofit/>
          </a:bodyPr>
          <a:lstStyle/>
          <a:p>
            <a:pPr algn="l">
              <a:lnSpc>
                <a:spcPct val="112000"/>
              </a:lnSpc>
              <a:spcAft>
                <a:spcPts val="400"/>
              </a:spcAft>
            </a:pPr>
            <a:r>
              <a:rPr sz="850" b="0">
                <a:solidFill>
                  <a:srgbClr val="5B677A"/>
                </a:solidFill>
                <a:latin typeface="Arial"/>
              </a:rPr>
              <a:t>Xây dựng hệ thống phát hiện và lọc spam email | Đồ án Truy hồi thông tin | Trang 19</a:t>
            </a:r>
          </a:p>
        </p:txBody>
      </p:sp>
      <p:sp>
        <p:nvSpPr>
          <p:cNvPr id="8" name="Rounded Rectangle 7"/>
          <p:cNvSpPr/>
          <p:nvPr/>
        </p:nvSpPr>
        <p:spPr>
          <a:xfrm>
            <a:off x="502920" y="1417320"/>
            <a:ext cx="5074920" cy="4709160"/>
          </a:xfrm>
          <a:prstGeom prst="roundRect">
            <a:avLst/>
          </a:prstGeom>
          <a:solidFill>
            <a:srgbClr val="FFFF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normAutofit/>
          </a:bodyPr>
          <a:lstStyle/>
          <a:p>
            <a:pPr algn="l">
              <a:lnSpc>
                <a:spcPct val="112000"/>
              </a:lnSpc>
              <a:spcAft>
                <a:spcPts val="400"/>
              </a:spcAft>
            </a:pPr>
            <a:r>
              <a:rPr sz="1400" b="0">
                <a:solidFill>
                  <a:srgbClr val="1F2937"/>
                </a:solidFill>
                <a:latin typeface="Arial"/>
              </a:rPr>
              <a:t>Hàm prepare_data() đọc dữ liệu, loại các mẫu text rỗng, ép kiểu cột label và chia train/test với test_size=0.2, stratify theo nhãn và random_state=42.</a:t>
            </a:r>
          </a:p>
          <a:p>
            <a:pPr algn="l">
              <a:lnSpc>
                <a:spcPct val="112000"/>
              </a:lnSpc>
              <a:spcAft>
                <a:spcPts val="400"/>
              </a:spcAft>
            </a:pPr>
            <a:r>
              <a:rPr sz="1400" b="0">
                <a:solidFill>
                  <a:srgbClr val="1F2937"/>
                </a:solidFill>
                <a:latin typeface="Arial"/>
              </a:rPr>
              <a:t>• Trước khi chạy các mô hình chính, hệ thống còn dựng hai baseline đơn giản là majority baseline và keyword baseline.</a:t>
            </a:r>
          </a:p>
          <a:p>
            <a:pPr algn="l">
              <a:lnSpc>
                <a:spcPct val="112000"/>
              </a:lnSpc>
              <a:spcAft>
                <a:spcPts val="400"/>
              </a:spcAft>
            </a:pPr>
            <a:r>
              <a:rPr sz="1400" b="0">
                <a:solidFill>
                  <a:srgbClr val="1F2937"/>
                </a:solidFill>
                <a:latin typeface="Arial"/>
              </a:rPr>
              <a:t>• Các mô hình được hỗ trợ trong code gồm MultinomialNB, LinearSVC, RandomForestClassifier, LogisticRegression và XGBClassifier nếu môi trường có xgboost.</a:t>
            </a:r>
          </a:p>
          <a:p>
            <a:pPr algn="l">
              <a:lnSpc>
                <a:spcPct val="112000"/>
              </a:lnSpc>
              <a:spcAft>
                <a:spcPts val="400"/>
              </a:spcAft>
            </a:pPr>
            <a:r>
              <a:rPr sz="1400" b="0">
                <a:solidFill>
                  <a:srgbClr val="1F2937"/>
                </a:solidFill>
                <a:latin typeface="Arial"/>
              </a:rPr>
              <a:t>• Mỗi mô hình đều được grid search bằng GridSearchCV với scoring='f1' và cv=3.</a:t>
            </a:r>
          </a:p>
        </p:txBody>
      </p:sp>
      <p:pic>
        <p:nvPicPr>
          <p:cNvPr id="10" name="Picture 9" descr="code_train.png"/>
          <p:cNvPicPr>
            <a:picLocks noChangeAspect="1"/>
          </p:cNvPicPr>
          <p:nvPr/>
        </p:nvPicPr>
        <p:blipFill>
          <a:blip r:embed="rId2"/>
          <a:stretch>
            <a:fillRect/>
          </a:stretch>
        </p:blipFill>
        <p:spPr>
          <a:xfrm>
            <a:off x="5806439" y="1453896"/>
            <a:ext cx="6062831" cy="4023360"/>
          </a:xfrm>
          <a:prstGeom prst="rect">
            <a:avLst/>
          </a:prstGeom>
        </p:spPr>
      </p:pic>
      <p:sp>
        <p:nvSpPr>
          <p:cNvPr id="11" name="Rounded Rectangle 10"/>
          <p:cNvSpPr/>
          <p:nvPr/>
        </p:nvSpPr>
        <p:spPr>
          <a:xfrm>
            <a:off x="5806440" y="5559552"/>
            <a:ext cx="5532120" cy="411480"/>
          </a:xfrm>
          <a:prstGeom prst="roundRect">
            <a:avLst/>
          </a:prstGeom>
          <a:solidFill>
            <a:srgbClr val="EAF2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t">
            <a:normAutofit/>
          </a:bodyPr>
          <a:lstStyle/>
          <a:p>
            <a:pPr algn="l">
              <a:lnSpc>
                <a:spcPct val="112000"/>
              </a:lnSpc>
              <a:spcAft>
                <a:spcPts val="400"/>
              </a:spcAft>
            </a:pPr>
            <a:r>
              <a:rPr sz="1050" b="0">
                <a:solidFill>
                  <a:srgbClr val="1F2937"/>
                </a:solidFill>
                <a:latin typeface="Arial"/>
              </a:rPr>
              <a:t>Code cut-out của phần search và chọn mô hình.</a:t>
            </a:r>
          </a:p>
        </p:txBody>
      </p:sp>
      <p:sp>
        <p:nvSpPr>
          <p:cNvPr id="12" name="Rounded Rectangle 11"/>
          <p:cNvSpPr/>
          <p:nvPr/>
        </p:nvSpPr>
        <p:spPr>
          <a:xfrm>
            <a:off x="5806440" y="6053328"/>
            <a:ext cx="5532120" cy="384048"/>
          </a:xfrm>
          <a:prstGeom prst="roundRect">
            <a:avLst/>
          </a:prstGeom>
          <a:solidFill>
            <a:srgbClr val="FFF1E8"/>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t">
            <a:normAutofit/>
          </a:bodyPr>
          <a:lstStyle/>
          <a:p>
            <a:pPr algn="l">
              <a:lnSpc>
                <a:spcPct val="112000"/>
              </a:lnSpc>
              <a:spcAft>
                <a:spcPts val="400"/>
              </a:spcAft>
            </a:pPr>
            <a:r>
              <a:rPr sz="980" b="0">
                <a:solidFill>
                  <a:srgbClr val="1F2937"/>
                </a:solidFill>
                <a:latin typeface="Arial"/>
              </a:rPr>
              <a:t>Trích đoạn thể hiện GridSearchCV và logic chọn cấu hình tốt nhất cho SVM.</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0F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75488"/>
            <a:ext cx="201168" cy="6382512"/>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8912" y="164592"/>
            <a:ext cx="1417320" cy="292608"/>
          </a:xfrm>
          <a:prstGeom prst="roundRect">
            <a:avLst/>
          </a:prstGeom>
          <a:solidFill>
            <a:srgbClr val="E46A2E"/>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t">
            <a:normAutofit/>
          </a:bodyPr>
          <a:lstStyle/>
          <a:p>
            <a:pPr algn="ctr">
              <a:lnSpc>
                <a:spcPct val="112000"/>
              </a:lnSpc>
              <a:spcAft>
                <a:spcPts val="400"/>
              </a:spcAft>
            </a:pPr>
            <a:r>
              <a:rPr sz="1200" b="1">
                <a:solidFill>
                  <a:srgbClr val="FFFFFF"/>
                </a:solidFill>
                <a:latin typeface="Arial"/>
              </a:rPr>
              <a:t>CHƯƠNG 3</a:t>
            </a:r>
          </a:p>
        </p:txBody>
      </p:sp>
      <p:sp>
        <p:nvSpPr>
          <p:cNvPr id="5" name="TextBox 4"/>
          <p:cNvSpPr txBox="1"/>
          <p:nvPr/>
        </p:nvSpPr>
        <p:spPr>
          <a:xfrm>
            <a:off x="502920" y="658368"/>
            <a:ext cx="8138160" cy="475488"/>
          </a:xfrm>
          <a:prstGeom prst="rect">
            <a:avLst/>
          </a:prstGeom>
          <a:noFill/>
        </p:spPr>
        <p:txBody>
          <a:bodyPr wrap="square" lIns="0" tIns="0" rIns="0" bIns="0" anchor="t">
            <a:normAutofit/>
          </a:bodyPr>
          <a:lstStyle/>
          <a:p>
            <a:pPr algn="l">
              <a:lnSpc>
                <a:spcPct val="112000"/>
              </a:lnSpc>
              <a:spcAft>
                <a:spcPts val="400"/>
              </a:spcAft>
            </a:pPr>
            <a:r>
              <a:rPr sz="2400" b="1">
                <a:solidFill>
                  <a:srgbClr val="0F2747"/>
                </a:solidFill>
                <a:latin typeface="Arial"/>
              </a:rPr>
              <a:t>Module đánh giá, phân tích lỗi và dự đoán</a:t>
            </a:r>
          </a:p>
        </p:txBody>
      </p:sp>
      <p:sp>
        <p:nvSpPr>
          <p:cNvPr id="6" name="TextBox 5"/>
          <p:cNvSpPr txBox="1"/>
          <p:nvPr/>
        </p:nvSpPr>
        <p:spPr>
          <a:xfrm>
            <a:off x="521207" y="1078992"/>
            <a:ext cx="10058400" cy="292608"/>
          </a:xfrm>
          <a:prstGeom prst="rect">
            <a:avLst/>
          </a:prstGeom>
          <a:noFill/>
        </p:spPr>
        <p:txBody>
          <a:bodyPr wrap="square" lIns="0" tIns="0" rIns="0" bIns="0" anchor="t">
            <a:normAutofit/>
          </a:bodyPr>
          <a:lstStyle/>
          <a:p>
            <a:pPr algn="l">
              <a:lnSpc>
                <a:spcPct val="112000"/>
              </a:lnSpc>
              <a:spcAft>
                <a:spcPts val="400"/>
              </a:spcAft>
            </a:pPr>
            <a:r>
              <a:rPr sz="1050" b="0">
                <a:solidFill>
                  <a:srgbClr val="5B677A"/>
                </a:solidFill>
                <a:latin typeface="Arial"/>
              </a:rPr>
              <a:t>Evaluation sinh ra metrics, confusion matrix và danh sách lỗi dự đoán.</a:t>
            </a:r>
          </a:p>
        </p:txBody>
      </p:sp>
      <p:sp>
        <p:nvSpPr>
          <p:cNvPr id="7" name="TextBox 6"/>
          <p:cNvSpPr txBox="1"/>
          <p:nvPr/>
        </p:nvSpPr>
        <p:spPr>
          <a:xfrm>
            <a:off x="502920" y="6446520"/>
            <a:ext cx="10789920" cy="164592"/>
          </a:xfrm>
          <a:prstGeom prst="rect">
            <a:avLst/>
          </a:prstGeom>
          <a:noFill/>
        </p:spPr>
        <p:txBody>
          <a:bodyPr wrap="square" lIns="0" tIns="0" rIns="0" bIns="0" anchor="t">
            <a:normAutofit/>
          </a:bodyPr>
          <a:lstStyle/>
          <a:p>
            <a:pPr algn="l">
              <a:lnSpc>
                <a:spcPct val="112000"/>
              </a:lnSpc>
              <a:spcAft>
                <a:spcPts val="400"/>
              </a:spcAft>
            </a:pPr>
            <a:r>
              <a:rPr sz="850" b="0">
                <a:solidFill>
                  <a:srgbClr val="5B677A"/>
                </a:solidFill>
                <a:latin typeface="Arial"/>
              </a:rPr>
              <a:t>Xây dựng hệ thống phát hiện và lọc spam email | Đồ án Truy hồi thông tin | Trang 20</a:t>
            </a:r>
          </a:p>
        </p:txBody>
      </p:sp>
      <p:sp>
        <p:nvSpPr>
          <p:cNvPr id="8" name="Rounded Rectangle 7"/>
          <p:cNvSpPr/>
          <p:nvPr/>
        </p:nvSpPr>
        <p:spPr>
          <a:xfrm>
            <a:off x="502920" y="1417320"/>
            <a:ext cx="5074920" cy="4709160"/>
          </a:xfrm>
          <a:prstGeom prst="roundRect">
            <a:avLst/>
          </a:prstGeom>
          <a:solidFill>
            <a:srgbClr val="FFFF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normAutofit/>
          </a:bodyPr>
          <a:lstStyle/>
          <a:p>
            <a:pPr algn="l">
              <a:lnSpc>
                <a:spcPct val="112000"/>
              </a:lnSpc>
              <a:spcAft>
                <a:spcPts val="400"/>
              </a:spcAft>
            </a:pPr>
            <a:r>
              <a:rPr sz="1400" b="0">
                <a:solidFill>
                  <a:srgbClr val="1F2937"/>
                </a:solidFill>
                <a:latin typeface="Arial"/>
              </a:rPr>
              <a:t>src/models/evaluate.py không chỉ tính accuracy, precision, recall và F1 mà còn tính thêm macro F1, weighted F1, balanced accuracy, specificity, NPV, false positive rate, false negative rate và...</a:t>
            </a:r>
          </a:p>
          <a:p>
            <a:pPr algn="l">
              <a:lnSpc>
                <a:spcPct val="112000"/>
              </a:lnSpc>
              <a:spcAft>
                <a:spcPts val="400"/>
              </a:spcAft>
            </a:pPr>
            <a:r>
              <a:rPr sz="1400" b="0">
                <a:solidFill>
                  <a:srgbClr val="1F2937"/>
                </a:solidFill>
                <a:latin typeface="Arial"/>
              </a:rPr>
              <a:t>• Hàm build_classification_report() sinh bảng report cho từng lớp ham và spam, trong khi build_error_analysis() tạo file misclassified_examples.csv chứa id, path, nhãn đúng, nhãn dự đoán, score...</a:t>
            </a:r>
          </a:p>
          <a:p>
            <a:pPr algn="l">
              <a:lnSpc>
                <a:spcPct val="112000"/>
              </a:lnSpc>
              <a:spcAft>
                <a:spcPts val="400"/>
              </a:spcAft>
            </a:pPr>
            <a:r>
              <a:rPr sz="1400" b="0">
                <a:solidFill>
                  <a:srgbClr val="1F2937"/>
                </a:solidFill>
                <a:latin typeface="Arial"/>
              </a:rPr>
              <a:t>• Điểm mạnh của bước đánh giá là nó đi xuống mức lỗi cụ thể chứ không chỉ dừng ở con số tổng hợp. Nhờ đó phần thảo luận có thể chỉ ra chính xác mô hình đang vấp ở email nào và vì sao.</a:t>
            </a:r>
          </a:p>
          <a:p>
            <a:pPr algn="l">
              <a:lnSpc>
                <a:spcPct val="112000"/>
              </a:lnSpc>
              <a:spcAft>
                <a:spcPts val="400"/>
              </a:spcAft>
            </a:pPr>
            <a:r>
              <a:rPr sz="1400" b="0">
                <a:solidFill>
                  <a:srgbClr val="1F2937"/>
                </a:solidFill>
                <a:latin typeface="Arial"/>
              </a:rPr>
              <a:t>• src/models/predict.py hỗ trợ hai đầu vào: --email-file hoặc --text. Với app demo, chức năng tương tự được gói lại trong giao diện Streamlit để người dùng nhập dữ liệu linh hoạt hơn.</a:t>
            </a:r>
          </a:p>
        </p:txBody>
      </p:sp>
      <p:pic>
        <p:nvPicPr>
          <p:cNvPr id="10" name="Picture 9" descr="code_evaluate.png"/>
          <p:cNvPicPr>
            <a:picLocks noChangeAspect="1"/>
          </p:cNvPicPr>
          <p:nvPr/>
        </p:nvPicPr>
        <p:blipFill>
          <a:blip r:embed="rId2"/>
          <a:stretch>
            <a:fillRect/>
          </a:stretch>
        </p:blipFill>
        <p:spPr>
          <a:xfrm>
            <a:off x="5806440" y="1448696"/>
            <a:ext cx="6179372" cy="4033760"/>
          </a:xfrm>
          <a:prstGeom prst="rect">
            <a:avLst/>
          </a:prstGeom>
        </p:spPr>
      </p:pic>
      <p:sp>
        <p:nvSpPr>
          <p:cNvPr id="11" name="Rounded Rectangle 10"/>
          <p:cNvSpPr/>
          <p:nvPr/>
        </p:nvSpPr>
        <p:spPr>
          <a:xfrm>
            <a:off x="5806440" y="5559552"/>
            <a:ext cx="5532120" cy="411480"/>
          </a:xfrm>
          <a:prstGeom prst="roundRect">
            <a:avLst/>
          </a:prstGeom>
          <a:solidFill>
            <a:srgbClr val="EAF2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t">
            <a:normAutofit/>
          </a:bodyPr>
          <a:lstStyle/>
          <a:p>
            <a:pPr algn="l">
              <a:lnSpc>
                <a:spcPct val="112000"/>
              </a:lnSpc>
              <a:spcAft>
                <a:spcPts val="400"/>
              </a:spcAft>
            </a:pPr>
            <a:r>
              <a:rPr sz="1050" b="0">
                <a:solidFill>
                  <a:srgbClr val="1F2937"/>
                </a:solidFill>
                <a:latin typeface="Arial"/>
              </a:rPr>
              <a:t>Code cut-out của phần compute_metrics().</a:t>
            </a:r>
          </a:p>
        </p:txBody>
      </p:sp>
      <p:sp>
        <p:nvSpPr>
          <p:cNvPr id="12" name="Rounded Rectangle 11"/>
          <p:cNvSpPr/>
          <p:nvPr/>
        </p:nvSpPr>
        <p:spPr>
          <a:xfrm>
            <a:off x="5806440" y="6048128"/>
            <a:ext cx="5532120" cy="384048"/>
          </a:xfrm>
          <a:prstGeom prst="roundRect">
            <a:avLst/>
          </a:prstGeom>
          <a:solidFill>
            <a:srgbClr val="FFF1E8"/>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t">
            <a:normAutofit lnSpcReduction="10000"/>
          </a:bodyPr>
          <a:lstStyle/>
          <a:p>
            <a:pPr algn="l">
              <a:lnSpc>
                <a:spcPct val="112000"/>
              </a:lnSpc>
              <a:spcAft>
                <a:spcPts val="400"/>
              </a:spcAft>
            </a:pPr>
            <a:r>
              <a:rPr sz="980" b="0" dirty="0" err="1">
                <a:solidFill>
                  <a:srgbClr val="1F2937"/>
                </a:solidFill>
                <a:latin typeface="Arial"/>
              </a:rPr>
              <a:t>Điểm</a:t>
            </a:r>
            <a:r>
              <a:rPr sz="980" b="0" dirty="0">
                <a:solidFill>
                  <a:srgbClr val="1F2937"/>
                </a:solidFill>
                <a:latin typeface="Arial"/>
              </a:rPr>
              <a:t> </a:t>
            </a:r>
            <a:r>
              <a:rPr sz="980" b="0" dirty="0" err="1">
                <a:solidFill>
                  <a:srgbClr val="1F2937"/>
                </a:solidFill>
                <a:latin typeface="Arial"/>
              </a:rPr>
              <a:t>chính</a:t>
            </a:r>
            <a:r>
              <a:rPr sz="980" b="0" dirty="0">
                <a:solidFill>
                  <a:srgbClr val="1F2937"/>
                </a:solidFill>
                <a:latin typeface="Arial"/>
              </a:rPr>
              <a:t>: </a:t>
            </a:r>
            <a:r>
              <a:rPr sz="980" b="0" dirty="0" err="1">
                <a:solidFill>
                  <a:srgbClr val="1F2937"/>
                </a:solidFill>
                <a:latin typeface="Arial"/>
              </a:rPr>
              <a:t>nhóm</a:t>
            </a:r>
            <a:r>
              <a:rPr sz="980" b="0" dirty="0">
                <a:solidFill>
                  <a:srgbClr val="1F2937"/>
                </a:solidFill>
                <a:latin typeface="Arial"/>
              </a:rPr>
              <a:t> </a:t>
            </a:r>
            <a:r>
              <a:rPr sz="980" b="0" dirty="0" err="1">
                <a:solidFill>
                  <a:srgbClr val="1F2937"/>
                </a:solidFill>
                <a:latin typeface="Arial"/>
              </a:rPr>
              <a:t>không</a:t>
            </a:r>
            <a:r>
              <a:rPr sz="980" b="0" dirty="0">
                <a:solidFill>
                  <a:srgbClr val="1F2937"/>
                </a:solidFill>
                <a:latin typeface="Arial"/>
              </a:rPr>
              <a:t> </a:t>
            </a:r>
            <a:r>
              <a:rPr sz="980" b="0" dirty="0" err="1">
                <a:solidFill>
                  <a:srgbClr val="1F2937"/>
                </a:solidFill>
                <a:latin typeface="Arial"/>
              </a:rPr>
              <a:t>chỉ</a:t>
            </a:r>
            <a:r>
              <a:rPr sz="980" b="0" dirty="0">
                <a:solidFill>
                  <a:srgbClr val="1F2937"/>
                </a:solidFill>
                <a:latin typeface="Arial"/>
              </a:rPr>
              <a:t> </a:t>
            </a:r>
            <a:r>
              <a:rPr sz="980" b="0" dirty="0" err="1">
                <a:solidFill>
                  <a:srgbClr val="1F2937"/>
                </a:solidFill>
                <a:latin typeface="Arial"/>
              </a:rPr>
              <a:t>đo</a:t>
            </a:r>
            <a:r>
              <a:rPr sz="980" b="0" dirty="0">
                <a:solidFill>
                  <a:srgbClr val="1F2937"/>
                </a:solidFill>
                <a:latin typeface="Arial"/>
              </a:rPr>
              <a:t> accuracy </a:t>
            </a:r>
            <a:r>
              <a:rPr sz="980" b="0" dirty="0" err="1">
                <a:solidFill>
                  <a:srgbClr val="1F2937"/>
                </a:solidFill>
                <a:latin typeface="Arial"/>
              </a:rPr>
              <a:t>mà</a:t>
            </a:r>
            <a:r>
              <a:rPr sz="980" b="0" dirty="0">
                <a:solidFill>
                  <a:srgbClr val="1F2937"/>
                </a:solidFill>
                <a:latin typeface="Arial"/>
              </a:rPr>
              <a:t> </a:t>
            </a:r>
            <a:r>
              <a:rPr sz="980" b="0" dirty="0" err="1">
                <a:solidFill>
                  <a:srgbClr val="1F2937"/>
                </a:solidFill>
                <a:latin typeface="Arial"/>
              </a:rPr>
              <a:t>còn</a:t>
            </a:r>
            <a:r>
              <a:rPr sz="980" b="0" dirty="0">
                <a:solidFill>
                  <a:srgbClr val="1F2937"/>
                </a:solidFill>
                <a:latin typeface="Arial"/>
              </a:rPr>
              <a:t> </a:t>
            </a:r>
            <a:r>
              <a:rPr sz="980" b="0" dirty="0" err="1">
                <a:solidFill>
                  <a:srgbClr val="1F2937"/>
                </a:solidFill>
                <a:latin typeface="Arial"/>
              </a:rPr>
              <a:t>xuất</a:t>
            </a:r>
            <a:r>
              <a:rPr sz="980" b="0" dirty="0">
                <a:solidFill>
                  <a:srgbClr val="1F2937"/>
                </a:solidFill>
                <a:latin typeface="Arial"/>
              </a:rPr>
              <a:t> </a:t>
            </a:r>
            <a:r>
              <a:rPr sz="980" b="0" dirty="0" err="1">
                <a:solidFill>
                  <a:srgbClr val="1F2937"/>
                </a:solidFill>
                <a:latin typeface="Arial"/>
              </a:rPr>
              <a:t>thêm</a:t>
            </a:r>
            <a:r>
              <a:rPr sz="980" b="0" dirty="0">
                <a:solidFill>
                  <a:srgbClr val="1F2937"/>
                </a:solidFill>
                <a:latin typeface="Arial"/>
              </a:rPr>
              <a:t> confusion matrix, ROC-AUC </a:t>
            </a:r>
            <a:r>
              <a:rPr sz="980" b="0" dirty="0" err="1">
                <a:solidFill>
                  <a:srgbClr val="1F2937"/>
                </a:solidFill>
                <a:latin typeface="Arial"/>
              </a:rPr>
              <a:t>và</a:t>
            </a:r>
            <a:r>
              <a:rPr sz="980" b="0" dirty="0">
                <a:solidFill>
                  <a:srgbClr val="1F2937"/>
                </a:solidFill>
                <a:latin typeface="Arial"/>
              </a:rPr>
              <a:t> error analysis.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0F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75488"/>
            <a:ext cx="201168" cy="6382512"/>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8912" y="164592"/>
            <a:ext cx="1417320" cy="292608"/>
          </a:xfrm>
          <a:prstGeom prst="roundRect">
            <a:avLst/>
          </a:prstGeom>
          <a:solidFill>
            <a:srgbClr val="E46A2E"/>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t">
            <a:normAutofit/>
          </a:bodyPr>
          <a:lstStyle/>
          <a:p>
            <a:pPr algn="ctr">
              <a:lnSpc>
                <a:spcPct val="112000"/>
              </a:lnSpc>
              <a:spcAft>
                <a:spcPts val="400"/>
              </a:spcAft>
            </a:pPr>
            <a:r>
              <a:rPr sz="1200" b="1">
                <a:solidFill>
                  <a:srgbClr val="FFFFFF"/>
                </a:solidFill>
                <a:latin typeface="Arial"/>
              </a:rPr>
              <a:t>CHƯƠNG 3</a:t>
            </a:r>
          </a:p>
        </p:txBody>
      </p:sp>
      <p:sp>
        <p:nvSpPr>
          <p:cNvPr id="5" name="TextBox 4"/>
          <p:cNvSpPr txBox="1"/>
          <p:nvPr/>
        </p:nvSpPr>
        <p:spPr>
          <a:xfrm>
            <a:off x="502920" y="658368"/>
            <a:ext cx="8138160" cy="475488"/>
          </a:xfrm>
          <a:prstGeom prst="rect">
            <a:avLst/>
          </a:prstGeom>
          <a:noFill/>
        </p:spPr>
        <p:txBody>
          <a:bodyPr wrap="square" lIns="0" tIns="0" rIns="0" bIns="0" anchor="t">
            <a:normAutofit/>
          </a:bodyPr>
          <a:lstStyle/>
          <a:p>
            <a:pPr algn="l">
              <a:lnSpc>
                <a:spcPct val="112000"/>
              </a:lnSpc>
              <a:spcAft>
                <a:spcPts val="400"/>
              </a:spcAft>
            </a:pPr>
            <a:r>
              <a:rPr sz="2400" b="1">
                <a:solidFill>
                  <a:srgbClr val="0F2747"/>
                </a:solidFill>
                <a:latin typeface="Arial"/>
              </a:rPr>
              <a:t>Giao diện demo bằng Streamlit</a:t>
            </a:r>
          </a:p>
        </p:txBody>
      </p:sp>
      <p:sp>
        <p:nvSpPr>
          <p:cNvPr id="6" name="TextBox 5"/>
          <p:cNvSpPr txBox="1"/>
          <p:nvPr/>
        </p:nvSpPr>
        <p:spPr>
          <a:xfrm>
            <a:off x="521207" y="1078992"/>
            <a:ext cx="10058400" cy="292608"/>
          </a:xfrm>
          <a:prstGeom prst="rect">
            <a:avLst/>
          </a:prstGeom>
          <a:noFill/>
        </p:spPr>
        <p:txBody>
          <a:bodyPr wrap="square" lIns="0" tIns="0" rIns="0" bIns="0" anchor="t">
            <a:normAutofit/>
          </a:bodyPr>
          <a:lstStyle/>
          <a:p>
            <a:pPr algn="l">
              <a:lnSpc>
                <a:spcPct val="112000"/>
              </a:lnSpc>
              <a:spcAft>
                <a:spcPts val="400"/>
              </a:spcAft>
            </a:pPr>
            <a:r>
              <a:rPr sz="1050" b="0">
                <a:solidFill>
                  <a:srgbClr val="5B677A"/>
                </a:solidFill>
                <a:latin typeface="Arial"/>
              </a:rPr>
              <a:t>App hỗ trợ Predict, Metrics và Dataset trong cùng một giao diện demo.</a:t>
            </a:r>
          </a:p>
        </p:txBody>
      </p:sp>
      <p:sp>
        <p:nvSpPr>
          <p:cNvPr id="7" name="TextBox 6"/>
          <p:cNvSpPr txBox="1"/>
          <p:nvPr/>
        </p:nvSpPr>
        <p:spPr>
          <a:xfrm>
            <a:off x="502920" y="6446520"/>
            <a:ext cx="10789920" cy="164592"/>
          </a:xfrm>
          <a:prstGeom prst="rect">
            <a:avLst/>
          </a:prstGeom>
          <a:noFill/>
        </p:spPr>
        <p:txBody>
          <a:bodyPr wrap="square" lIns="0" tIns="0" rIns="0" bIns="0" anchor="t">
            <a:normAutofit/>
          </a:bodyPr>
          <a:lstStyle/>
          <a:p>
            <a:pPr algn="l">
              <a:lnSpc>
                <a:spcPct val="112000"/>
              </a:lnSpc>
              <a:spcAft>
                <a:spcPts val="400"/>
              </a:spcAft>
            </a:pPr>
            <a:r>
              <a:rPr sz="850" b="0">
                <a:solidFill>
                  <a:srgbClr val="5B677A"/>
                </a:solidFill>
                <a:latin typeface="Arial"/>
              </a:rPr>
              <a:t>Xây dựng hệ thống phát hiện và lọc spam email | Đồ án Truy hồi thông tin | Trang 21</a:t>
            </a:r>
          </a:p>
        </p:txBody>
      </p:sp>
      <p:sp>
        <p:nvSpPr>
          <p:cNvPr id="8" name="Rounded Rectangle 7"/>
          <p:cNvSpPr/>
          <p:nvPr/>
        </p:nvSpPr>
        <p:spPr>
          <a:xfrm>
            <a:off x="502920" y="1417320"/>
            <a:ext cx="5074920" cy="4709160"/>
          </a:xfrm>
          <a:prstGeom prst="roundRect">
            <a:avLst/>
          </a:prstGeom>
          <a:solidFill>
            <a:srgbClr val="FFFF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normAutofit/>
          </a:bodyPr>
          <a:lstStyle/>
          <a:p>
            <a:pPr algn="l">
              <a:lnSpc>
                <a:spcPct val="112000"/>
              </a:lnSpc>
              <a:spcAft>
                <a:spcPts val="400"/>
              </a:spcAft>
            </a:pPr>
            <a:r>
              <a:rPr sz="1400" b="0">
                <a:solidFill>
                  <a:srgbClr val="1F2937"/>
                </a:solidFill>
                <a:latin typeface="Arial"/>
              </a:rPr>
              <a:t>Ứng dụng app.py được xây dựng bằng Streamlit với cấu hình page rộng, giao diện tùy chọn theme và bố cục hiện đại.</a:t>
            </a:r>
          </a:p>
          <a:p>
            <a:pPr algn="l">
              <a:lnSpc>
                <a:spcPct val="112000"/>
              </a:lnSpc>
              <a:spcAft>
                <a:spcPts val="400"/>
              </a:spcAft>
            </a:pPr>
            <a:r>
              <a:rPr sz="1400" b="0">
                <a:solidFill>
                  <a:srgbClr val="1F2937"/>
                </a:solidFill>
                <a:latin typeface="Arial"/>
              </a:rPr>
              <a:t>• Tab Predict cho phép người dùng chọn chế độ dán text hoặc tải file email.</a:t>
            </a:r>
          </a:p>
          <a:p>
            <a:pPr algn="l">
              <a:lnSpc>
                <a:spcPct val="112000"/>
              </a:lnSpc>
              <a:spcAft>
                <a:spcPts val="400"/>
              </a:spcAft>
            </a:pPr>
            <a:r>
              <a:rPr sz="1400" b="0">
                <a:solidFill>
                  <a:srgbClr val="1F2937"/>
                </a:solidFill>
                <a:latin typeface="Arial"/>
              </a:rPr>
              <a:t>• Tab Metrics gom toàn bộ chỉ số quan trọng: precision, recall, F1, accuracy, confusion matrix, class-wise report, bảng so sánh mô hình và danh sách các email dự đoán sai.</a:t>
            </a:r>
          </a:p>
          <a:p>
            <a:pPr algn="l">
              <a:lnSpc>
                <a:spcPct val="112000"/>
              </a:lnSpc>
              <a:spcAft>
                <a:spcPts val="400"/>
              </a:spcAft>
            </a:pPr>
            <a:r>
              <a:rPr sz="1400" b="0">
                <a:solidFill>
                  <a:srgbClr val="1F2937"/>
                </a:solidFill>
                <a:latin typeface="Arial"/>
              </a:rPr>
              <a:t>• Tab Dataset hiển thị quy mô ham/spam và biểu đồ train/test split. Phần này giúp người nghe thấy rõ mô hình học trên dữ liệu nào và vì sao kết quả đánh giá là có cơ sở.</a:t>
            </a:r>
          </a:p>
        </p:txBody>
      </p:sp>
      <p:pic>
        <p:nvPicPr>
          <p:cNvPr id="10" name="Picture 9" descr="code_app.png"/>
          <p:cNvPicPr>
            <a:picLocks noChangeAspect="1"/>
          </p:cNvPicPr>
          <p:nvPr/>
        </p:nvPicPr>
        <p:blipFill>
          <a:blip r:embed="rId2"/>
          <a:stretch>
            <a:fillRect/>
          </a:stretch>
        </p:blipFill>
        <p:spPr>
          <a:xfrm>
            <a:off x="5806440" y="1453896"/>
            <a:ext cx="5882640" cy="3977640"/>
          </a:xfrm>
          <a:prstGeom prst="rect">
            <a:avLst/>
          </a:prstGeom>
        </p:spPr>
      </p:pic>
      <p:sp>
        <p:nvSpPr>
          <p:cNvPr id="11" name="Rounded Rectangle 10"/>
          <p:cNvSpPr/>
          <p:nvPr/>
        </p:nvSpPr>
        <p:spPr>
          <a:xfrm>
            <a:off x="5806440" y="5559552"/>
            <a:ext cx="5532120" cy="411480"/>
          </a:xfrm>
          <a:prstGeom prst="roundRect">
            <a:avLst/>
          </a:prstGeom>
          <a:solidFill>
            <a:srgbClr val="EAF2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t">
            <a:normAutofit/>
          </a:bodyPr>
          <a:lstStyle/>
          <a:p>
            <a:pPr algn="l">
              <a:lnSpc>
                <a:spcPct val="112000"/>
              </a:lnSpc>
              <a:spcAft>
                <a:spcPts val="400"/>
              </a:spcAft>
            </a:pPr>
            <a:r>
              <a:rPr sz="1050" b="0">
                <a:solidFill>
                  <a:srgbClr val="1F2937"/>
                </a:solidFill>
                <a:latin typeface="Arial"/>
              </a:rPr>
              <a:t>Code cut-out phần tabs Predict / Metrics / Dataset trong app.py.</a:t>
            </a:r>
          </a:p>
        </p:txBody>
      </p:sp>
      <p:sp>
        <p:nvSpPr>
          <p:cNvPr id="12" name="Rounded Rectangle 11"/>
          <p:cNvSpPr/>
          <p:nvPr/>
        </p:nvSpPr>
        <p:spPr>
          <a:xfrm>
            <a:off x="5806440" y="5934456"/>
            <a:ext cx="5532120" cy="384048"/>
          </a:xfrm>
          <a:prstGeom prst="roundRect">
            <a:avLst/>
          </a:prstGeom>
          <a:solidFill>
            <a:srgbClr val="FFF1E8"/>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t">
            <a:normAutofit/>
          </a:bodyPr>
          <a:lstStyle/>
          <a:p>
            <a:pPr algn="l">
              <a:lnSpc>
                <a:spcPct val="112000"/>
              </a:lnSpc>
              <a:spcAft>
                <a:spcPts val="400"/>
              </a:spcAft>
            </a:pPr>
            <a:r>
              <a:rPr sz="980" b="0">
                <a:solidFill>
                  <a:srgbClr val="1F2937"/>
                </a:solidFill>
                <a:latin typeface="Arial"/>
              </a:rPr>
              <a:t>App có 3 tab chính và hỗ trợ token contribution cho Linear SVM.</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0F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75488"/>
            <a:ext cx="201168" cy="6382512"/>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8912" y="164592"/>
            <a:ext cx="1417320" cy="292608"/>
          </a:xfrm>
          <a:prstGeom prst="roundRect">
            <a:avLst/>
          </a:prstGeom>
          <a:solidFill>
            <a:srgbClr val="E46A2E"/>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t">
            <a:normAutofit/>
          </a:bodyPr>
          <a:lstStyle/>
          <a:p>
            <a:pPr algn="ctr">
              <a:lnSpc>
                <a:spcPct val="112000"/>
              </a:lnSpc>
              <a:spcAft>
                <a:spcPts val="400"/>
              </a:spcAft>
            </a:pPr>
            <a:r>
              <a:rPr sz="1200" b="1">
                <a:solidFill>
                  <a:srgbClr val="FFFFFF"/>
                </a:solidFill>
                <a:latin typeface="Arial"/>
              </a:rPr>
              <a:t>CHƯƠNG 3</a:t>
            </a:r>
          </a:p>
        </p:txBody>
      </p:sp>
      <p:sp>
        <p:nvSpPr>
          <p:cNvPr id="5" name="TextBox 4"/>
          <p:cNvSpPr txBox="1"/>
          <p:nvPr/>
        </p:nvSpPr>
        <p:spPr>
          <a:xfrm>
            <a:off x="502920" y="658368"/>
            <a:ext cx="8138160" cy="475488"/>
          </a:xfrm>
          <a:prstGeom prst="rect">
            <a:avLst/>
          </a:prstGeom>
          <a:noFill/>
        </p:spPr>
        <p:txBody>
          <a:bodyPr wrap="square" lIns="0" tIns="0" rIns="0" bIns="0" anchor="t">
            <a:normAutofit/>
          </a:bodyPr>
          <a:lstStyle/>
          <a:p>
            <a:pPr algn="l">
              <a:lnSpc>
                <a:spcPct val="112000"/>
              </a:lnSpc>
              <a:spcAft>
                <a:spcPts val="400"/>
              </a:spcAft>
            </a:pPr>
            <a:r>
              <a:rPr sz="2400" b="1">
                <a:solidFill>
                  <a:srgbClr val="0F2747"/>
                </a:solidFill>
                <a:latin typeface="Arial"/>
              </a:rPr>
              <a:t>Công cụ, môi trường và cách chạy hệ thống</a:t>
            </a:r>
          </a:p>
        </p:txBody>
      </p:sp>
      <p:sp>
        <p:nvSpPr>
          <p:cNvPr id="6" name="TextBox 5"/>
          <p:cNvSpPr txBox="1"/>
          <p:nvPr/>
        </p:nvSpPr>
        <p:spPr>
          <a:xfrm>
            <a:off x="521207" y="1078992"/>
            <a:ext cx="10058400" cy="292608"/>
          </a:xfrm>
          <a:prstGeom prst="rect">
            <a:avLst/>
          </a:prstGeom>
          <a:noFill/>
        </p:spPr>
        <p:txBody>
          <a:bodyPr wrap="square" lIns="0" tIns="0" rIns="0" bIns="0" anchor="t">
            <a:normAutofit/>
          </a:bodyPr>
          <a:lstStyle/>
          <a:p>
            <a:pPr algn="l">
              <a:lnSpc>
                <a:spcPct val="112000"/>
              </a:lnSpc>
              <a:spcAft>
                <a:spcPts val="400"/>
              </a:spcAft>
            </a:pPr>
            <a:r>
              <a:rPr sz="1050" b="0">
                <a:solidFill>
                  <a:srgbClr val="5B677A"/>
                </a:solidFill>
                <a:latin typeface="Arial"/>
              </a:rPr>
              <a:t>Thông tin này rất hữu ích khi giảng viên hỏi về khả năng tái lập và cách kiểm thử hệ thống</a:t>
            </a:r>
          </a:p>
        </p:txBody>
      </p:sp>
      <p:sp>
        <p:nvSpPr>
          <p:cNvPr id="7" name="TextBox 6"/>
          <p:cNvSpPr txBox="1"/>
          <p:nvPr/>
        </p:nvSpPr>
        <p:spPr>
          <a:xfrm>
            <a:off x="502920" y="6446520"/>
            <a:ext cx="10789920" cy="164592"/>
          </a:xfrm>
          <a:prstGeom prst="rect">
            <a:avLst/>
          </a:prstGeom>
          <a:noFill/>
        </p:spPr>
        <p:txBody>
          <a:bodyPr wrap="square" lIns="0" tIns="0" rIns="0" bIns="0" anchor="t">
            <a:normAutofit/>
          </a:bodyPr>
          <a:lstStyle/>
          <a:p>
            <a:pPr algn="l">
              <a:lnSpc>
                <a:spcPct val="112000"/>
              </a:lnSpc>
              <a:spcAft>
                <a:spcPts val="400"/>
              </a:spcAft>
            </a:pPr>
            <a:r>
              <a:rPr sz="850" b="0">
                <a:solidFill>
                  <a:srgbClr val="5B677A"/>
                </a:solidFill>
                <a:latin typeface="Arial"/>
              </a:rPr>
              <a:t>Xây dựng hệ thống phát hiện và lọc spam email | Đồ án Truy hồi thông tin | Trang 22</a:t>
            </a:r>
          </a:p>
        </p:txBody>
      </p:sp>
      <p:sp>
        <p:nvSpPr>
          <p:cNvPr id="8" name="Rounded Rectangle 7"/>
          <p:cNvSpPr/>
          <p:nvPr/>
        </p:nvSpPr>
        <p:spPr>
          <a:xfrm>
            <a:off x="502920" y="1417320"/>
            <a:ext cx="5486400" cy="4709160"/>
          </a:xfrm>
          <a:prstGeom prst="roundRect">
            <a:avLst/>
          </a:prstGeom>
          <a:solidFill>
            <a:srgbClr val="FFFF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normAutofit/>
          </a:bodyPr>
          <a:lstStyle/>
          <a:p>
            <a:pPr algn="l">
              <a:lnSpc>
                <a:spcPct val="112000"/>
              </a:lnSpc>
              <a:spcAft>
                <a:spcPts val="400"/>
              </a:spcAft>
            </a:pPr>
            <a:r>
              <a:rPr sz="1500" b="1">
                <a:solidFill>
                  <a:srgbClr val="1F2937"/>
                </a:solidFill>
                <a:latin typeface="Arial"/>
              </a:rPr>
              <a:t>Môi trường và thư viện</a:t>
            </a:r>
          </a:p>
          <a:p>
            <a:pPr algn="l">
              <a:lnSpc>
                <a:spcPct val="112000"/>
              </a:lnSpc>
              <a:spcAft>
                <a:spcPts val="400"/>
              </a:spcAft>
            </a:pPr>
            <a:r>
              <a:rPr sz="1500" b="0">
                <a:solidFill>
                  <a:srgbClr val="1F2937"/>
                </a:solidFill>
                <a:latin typeface="Arial"/>
              </a:rPr>
              <a:t>Ngôn ngữ chính là Python 3.13.5.</a:t>
            </a:r>
          </a:p>
          <a:p>
            <a:pPr algn="l">
              <a:lnSpc>
                <a:spcPct val="112000"/>
              </a:lnSpc>
              <a:spcAft>
                <a:spcPts val="400"/>
              </a:spcAft>
            </a:pPr>
            <a:r>
              <a:rPr sz="1500" b="0">
                <a:solidFill>
                  <a:srgbClr val="1F2937"/>
                </a:solidFill>
                <a:latin typeface="Arial"/>
              </a:rPr>
              <a:t>Code còn hỗ trợ XGBoost như một lựa chọn mở rộng, nhưng requirements hiện tại chưa khai báo đầy đủ cho hướng này. Đây cũng là một chi tiết hạn chế mà nhóm nêu trung thực trong báo cáo.</a:t>
            </a:r>
          </a:p>
          <a:p>
            <a:pPr algn="l">
              <a:lnSpc>
                <a:spcPct val="112000"/>
              </a:lnSpc>
              <a:spcAft>
                <a:spcPts val="400"/>
              </a:spcAft>
            </a:pPr>
            <a:r>
              <a:rPr sz="1500" b="0">
                <a:solidFill>
                  <a:srgbClr val="1F2937"/>
                </a:solidFill>
                <a:latin typeface="Arial"/>
              </a:rPr>
              <a:t>Cấu trúc thư mục của repo tách rõ data, models, reports, src và app.py, giúp người đọc dễ tìm từ dữ liệu gốc cho tới artifact cuối cùng.</a:t>
            </a:r>
          </a:p>
        </p:txBody>
      </p:sp>
      <p:sp>
        <p:nvSpPr>
          <p:cNvPr id="9" name="Rounded Rectangle 8"/>
          <p:cNvSpPr/>
          <p:nvPr/>
        </p:nvSpPr>
        <p:spPr>
          <a:xfrm>
            <a:off x="6217920" y="1417320"/>
            <a:ext cx="5440680" cy="4709160"/>
          </a:xfrm>
          <a:prstGeom prst="roundRect">
            <a:avLst/>
          </a:prstGeom>
          <a:solidFill>
            <a:srgbClr val="EAF9F7"/>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normAutofit/>
          </a:bodyPr>
          <a:lstStyle/>
          <a:p>
            <a:pPr algn="l">
              <a:lnSpc>
                <a:spcPct val="112000"/>
              </a:lnSpc>
              <a:spcAft>
                <a:spcPts val="400"/>
              </a:spcAft>
            </a:pPr>
            <a:r>
              <a:rPr sz="1500" b="1">
                <a:solidFill>
                  <a:srgbClr val="1F2937"/>
                </a:solidFill>
                <a:latin typeface="Arial"/>
              </a:rPr>
              <a:t>Các lệnh chạy chính</a:t>
            </a:r>
          </a:p>
          <a:p>
            <a:pPr algn="l">
              <a:lnSpc>
                <a:spcPct val="112000"/>
              </a:lnSpc>
              <a:spcAft>
                <a:spcPts val="400"/>
              </a:spcAft>
            </a:pPr>
            <a:r>
              <a:rPr sz="1500" b="0">
                <a:solidFill>
                  <a:srgbClr val="1F2937"/>
                </a:solidFill>
                <a:latin typeface="Arial"/>
              </a:rPr>
              <a:t>Huấn luyện: `python -m src.models.train --data-dir data\bilingual`</a:t>
            </a:r>
          </a:p>
          <a:p>
            <a:pPr algn="l">
              <a:lnSpc>
                <a:spcPct val="112000"/>
              </a:lnSpc>
              <a:spcAft>
                <a:spcPts val="400"/>
              </a:spcAft>
            </a:pPr>
            <a:r>
              <a:rPr sz="1500" b="0">
                <a:solidFill>
                  <a:srgbClr val="1F2937"/>
                </a:solidFill>
                <a:latin typeface="Arial"/>
              </a:rPr>
              <a:t>Đánh giá: `python -m src.models.evaluate --model models/best_model.joblib`</a:t>
            </a:r>
          </a:p>
          <a:p>
            <a:pPr algn="l">
              <a:lnSpc>
                <a:spcPct val="112000"/>
              </a:lnSpc>
              <a:spcAft>
                <a:spcPts val="400"/>
              </a:spcAft>
            </a:pPr>
            <a:r>
              <a:rPr sz="1500" b="0">
                <a:solidFill>
                  <a:srgbClr val="1F2937"/>
                </a:solidFill>
                <a:latin typeface="Arial"/>
              </a:rPr>
              <a:t>Dự đoán nhanh: `python -m src.models.predict --text "Chúc mừng! Bạn đã trúng thưởng"`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0F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75488"/>
            <a:ext cx="201168" cy="6382512"/>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8912" y="164592"/>
            <a:ext cx="1417320" cy="292608"/>
          </a:xfrm>
          <a:prstGeom prst="roundRect">
            <a:avLst/>
          </a:prstGeom>
          <a:solidFill>
            <a:srgbClr val="E46A2E"/>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t">
            <a:normAutofit/>
          </a:bodyPr>
          <a:lstStyle/>
          <a:p>
            <a:pPr algn="ctr">
              <a:lnSpc>
                <a:spcPct val="112000"/>
              </a:lnSpc>
              <a:spcAft>
                <a:spcPts val="400"/>
              </a:spcAft>
            </a:pPr>
            <a:r>
              <a:rPr sz="1200" b="1">
                <a:solidFill>
                  <a:srgbClr val="FFFFFF"/>
                </a:solidFill>
                <a:latin typeface="Arial"/>
              </a:rPr>
              <a:t>CHƯƠNG 4</a:t>
            </a:r>
          </a:p>
        </p:txBody>
      </p:sp>
      <p:sp>
        <p:nvSpPr>
          <p:cNvPr id="5" name="TextBox 4"/>
          <p:cNvSpPr txBox="1"/>
          <p:nvPr/>
        </p:nvSpPr>
        <p:spPr>
          <a:xfrm>
            <a:off x="502920" y="658368"/>
            <a:ext cx="8138160" cy="475488"/>
          </a:xfrm>
          <a:prstGeom prst="rect">
            <a:avLst/>
          </a:prstGeom>
          <a:noFill/>
        </p:spPr>
        <p:txBody>
          <a:bodyPr wrap="square" lIns="0" tIns="0" rIns="0" bIns="0" anchor="t">
            <a:normAutofit/>
          </a:bodyPr>
          <a:lstStyle/>
          <a:p>
            <a:pPr algn="l">
              <a:lnSpc>
                <a:spcPct val="112000"/>
              </a:lnSpc>
              <a:spcAft>
                <a:spcPts val="400"/>
              </a:spcAft>
            </a:pPr>
            <a:r>
              <a:rPr sz="2400" b="1">
                <a:solidFill>
                  <a:srgbClr val="0F2747"/>
                </a:solidFill>
                <a:latin typeface="Arial"/>
              </a:rPr>
              <a:t>Nguồn gốc và thành phần của tập dữ liệu</a:t>
            </a:r>
          </a:p>
        </p:txBody>
      </p:sp>
      <p:sp>
        <p:nvSpPr>
          <p:cNvPr id="6" name="TextBox 5"/>
          <p:cNvSpPr txBox="1"/>
          <p:nvPr/>
        </p:nvSpPr>
        <p:spPr>
          <a:xfrm>
            <a:off x="502920" y="6446520"/>
            <a:ext cx="10789920" cy="164592"/>
          </a:xfrm>
          <a:prstGeom prst="rect">
            <a:avLst/>
          </a:prstGeom>
          <a:noFill/>
        </p:spPr>
        <p:txBody>
          <a:bodyPr wrap="square" lIns="0" tIns="0" rIns="0" bIns="0" anchor="t">
            <a:normAutofit/>
          </a:bodyPr>
          <a:lstStyle/>
          <a:p>
            <a:pPr algn="l">
              <a:lnSpc>
                <a:spcPct val="112000"/>
              </a:lnSpc>
              <a:spcAft>
                <a:spcPts val="400"/>
              </a:spcAft>
            </a:pPr>
            <a:r>
              <a:rPr sz="850" b="0">
                <a:solidFill>
                  <a:srgbClr val="5B677A"/>
                </a:solidFill>
                <a:latin typeface="Arial"/>
              </a:rPr>
              <a:t>Xây dựng hệ thống phát hiện và lọc spam email | Đồ án Truy hồi thông tin | Trang 23</a:t>
            </a:r>
          </a:p>
        </p:txBody>
      </p:sp>
      <p:sp>
        <p:nvSpPr>
          <p:cNvPr id="7" name="Rounded Rectangle 6"/>
          <p:cNvSpPr/>
          <p:nvPr/>
        </p:nvSpPr>
        <p:spPr>
          <a:xfrm>
            <a:off x="502920" y="1417320"/>
            <a:ext cx="11155680" cy="4709160"/>
          </a:xfrm>
          <a:prstGeom prst="roundRect">
            <a:avLst/>
          </a:prstGeom>
          <a:solidFill>
            <a:srgbClr val="FFFF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normAutofit/>
          </a:bodyPr>
          <a:lstStyle/>
          <a:p>
            <a:pPr algn="l">
              <a:lnSpc>
                <a:spcPct val="112000"/>
              </a:lnSpc>
              <a:spcAft>
                <a:spcPts val="400"/>
              </a:spcAft>
            </a:pPr>
            <a:r>
              <a:rPr sz="1600" b="0">
                <a:solidFill>
                  <a:srgbClr val="1F2937"/>
                </a:solidFill>
                <a:latin typeface="Arial"/>
              </a:rPr>
              <a:t>Thư mục dữ liệu gốc chứa 3,957 email ham và 1,750 email spam, tổng cộng 5,707 file. Sau bước parse và loại các email không còn nội dung hữu ích, pipeline sử dụng được 5,691 mẫu cho thực nghiệm.</a:t>
            </a:r>
          </a:p>
          <a:p>
            <a:pPr algn="l">
              <a:lnSpc>
                <a:spcPct val="112000"/>
              </a:lnSpc>
              <a:spcAft>
                <a:spcPts val="400"/>
              </a:spcAft>
            </a:pPr>
            <a:r>
              <a:rPr sz="1600" b="0">
                <a:solidFill>
                  <a:srgbClr val="1F2937"/>
                </a:solidFill>
                <a:latin typeface="Arial"/>
              </a:rPr>
              <a:t>• Thành phần nền của dataset đến từ Enron corpus và các nguồn spam mở rộng, gồm 3672 ham và 1500 spam tiếng Anh. Đây là lớp dữ liệu chính giúp mô hình học được các tín hiệu doanh nghiệp và spam tiếng Anh cổ điển.</a:t>
            </a:r>
          </a:p>
          <a:p>
            <a:pPr algn="l">
              <a:lnSpc>
                <a:spcPct val="112000"/>
              </a:lnSpc>
              <a:spcAft>
                <a:spcPts val="400"/>
              </a:spcAft>
            </a:pPr>
            <a:r>
              <a:rPr sz="1600" b="0">
                <a:solidFill>
                  <a:srgbClr val="1F2937"/>
                </a:solidFill>
                <a:latin typeface="Arial"/>
              </a:rPr>
              <a:t>• Bên cạnh đó, nhóm tự xây dựng thêm 535 email tiếng Việt gồm 285 ham và 250 spam.</a:t>
            </a:r>
          </a:p>
          <a:p>
            <a:pPr algn="l">
              <a:lnSpc>
                <a:spcPct val="112000"/>
              </a:lnSpc>
              <a:spcAft>
                <a:spcPts val="400"/>
              </a:spcAft>
            </a:pPr>
            <a:r>
              <a:rPr sz="1600" b="0">
                <a:solidFill>
                  <a:srgbClr val="1F2937"/>
                </a:solidFill>
                <a:latin typeface="Arial"/>
              </a:rPr>
              <a:t>• Việc bổ sung dữ liệu tiếng Việt là điểm quan trọng vì nó đưa đồ án gần hơn với bối cảnh sử dụng thực tế của nhóm.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0F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75488"/>
            <a:ext cx="201168" cy="6382512"/>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8912" y="164592"/>
            <a:ext cx="1417320" cy="292608"/>
          </a:xfrm>
          <a:prstGeom prst="roundRect">
            <a:avLst/>
          </a:prstGeom>
          <a:solidFill>
            <a:srgbClr val="E46A2E"/>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t">
            <a:normAutofit/>
          </a:bodyPr>
          <a:lstStyle/>
          <a:p>
            <a:pPr algn="ctr">
              <a:lnSpc>
                <a:spcPct val="112000"/>
              </a:lnSpc>
              <a:spcAft>
                <a:spcPts val="400"/>
              </a:spcAft>
            </a:pPr>
            <a:r>
              <a:rPr sz="1200" b="1">
                <a:solidFill>
                  <a:srgbClr val="FFFFFF"/>
                </a:solidFill>
                <a:latin typeface="Arial"/>
              </a:rPr>
              <a:t>CHƯƠNG 4</a:t>
            </a:r>
          </a:p>
        </p:txBody>
      </p:sp>
      <p:sp>
        <p:nvSpPr>
          <p:cNvPr id="5" name="TextBox 4"/>
          <p:cNvSpPr txBox="1"/>
          <p:nvPr/>
        </p:nvSpPr>
        <p:spPr>
          <a:xfrm>
            <a:off x="502920" y="658368"/>
            <a:ext cx="8138160" cy="475488"/>
          </a:xfrm>
          <a:prstGeom prst="rect">
            <a:avLst/>
          </a:prstGeom>
          <a:noFill/>
        </p:spPr>
        <p:txBody>
          <a:bodyPr wrap="square" lIns="0" tIns="0" rIns="0" bIns="0" anchor="t">
            <a:normAutofit/>
          </a:bodyPr>
          <a:lstStyle/>
          <a:p>
            <a:pPr algn="l">
              <a:lnSpc>
                <a:spcPct val="112000"/>
              </a:lnSpc>
              <a:spcAft>
                <a:spcPts val="400"/>
              </a:spcAft>
            </a:pPr>
            <a:r>
              <a:rPr sz="2400" b="1" dirty="0" err="1">
                <a:solidFill>
                  <a:srgbClr val="0F2747"/>
                </a:solidFill>
                <a:latin typeface="Arial"/>
              </a:rPr>
              <a:t>Tổ</a:t>
            </a:r>
            <a:r>
              <a:rPr sz="2400" b="1" dirty="0">
                <a:solidFill>
                  <a:srgbClr val="0F2747"/>
                </a:solidFill>
                <a:latin typeface="Arial"/>
              </a:rPr>
              <a:t> </a:t>
            </a:r>
            <a:r>
              <a:rPr sz="2400" b="1" dirty="0" err="1">
                <a:solidFill>
                  <a:srgbClr val="0F2747"/>
                </a:solidFill>
                <a:latin typeface="Arial"/>
              </a:rPr>
              <a:t>chức</a:t>
            </a:r>
            <a:r>
              <a:rPr sz="2400" b="1" dirty="0">
                <a:solidFill>
                  <a:srgbClr val="0F2747"/>
                </a:solidFill>
                <a:latin typeface="Arial"/>
              </a:rPr>
              <a:t> </a:t>
            </a:r>
            <a:r>
              <a:rPr sz="2400" b="1" dirty="0" err="1">
                <a:solidFill>
                  <a:srgbClr val="0F2747"/>
                </a:solidFill>
                <a:latin typeface="Arial"/>
              </a:rPr>
              <a:t>lưu</a:t>
            </a:r>
            <a:r>
              <a:rPr sz="2400" b="1" dirty="0">
                <a:solidFill>
                  <a:srgbClr val="0F2747"/>
                </a:solidFill>
                <a:latin typeface="Arial"/>
              </a:rPr>
              <a:t> </a:t>
            </a:r>
            <a:r>
              <a:rPr sz="2400" b="1" dirty="0" err="1">
                <a:solidFill>
                  <a:srgbClr val="0F2747"/>
                </a:solidFill>
                <a:latin typeface="Arial"/>
              </a:rPr>
              <a:t>trữ</a:t>
            </a:r>
            <a:r>
              <a:rPr sz="2400" b="1" dirty="0">
                <a:solidFill>
                  <a:srgbClr val="0F2747"/>
                </a:solidFill>
                <a:latin typeface="Arial"/>
              </a:rPr>
              <a:t> </a:t>
            </a:r>
            <a:r>
              <a:rPr sz="2400" b="1" dirty="0" err="1">
                <a:solidFill>
                  <a:srgbClr val="0F2747"/>
                </a:solidFill>
                <a:latin typeface="Arial"/>
              </a:rPr>
              <a:t>dữ</a:t>
            </a:r>
            <a:r>
              <a:rPr sz="2400" b="1" dirty="0">
                <a:solidFill>
                  <a:srgbClr val="0F2747"/>
                </a:solidFill>
                <a:latin typeface="Arial"/>
              </a:rPr>
              <a:t> </a:t>
            </a:r>
            <a:r>
              <a:rPr sz="2400" b="1" dirty="0" err="1">
                <a:solidFill>
                  <a:srgbClr val="0F2747"/>
                </a:solidFill>
                <a:latin typeface="Arial"/>
              </a:rPr>
              <a:t>liệu</a:t>
            </a:r>
            <a:r>
              <a:rPr sz="2400" b="1" dirty="0">
                <a:solidFill>
                  <a:srgbClr val="0F2747"/>
                </a:solidFill>
                <a:latin typeface="Arial"/>
              </a:rPr>
              <a:t> </a:t>
            </a:r>
            <a:r>
              <a:rPr sz="2400" b="1" dirty="0" err="1">
                <a:solidFill>
                  <a:srgbClr val="0F2747"/>
                </a:solidFill>
                <a:latin typeface="Arial"/>
              </a:rPr>
              <a:t>và</a:t>
            </a:r>
            <a:r>
              <a:rPr sz="2400" b="1" dirty="0">
                <a:solidFill>
                  <a:srgbClr val="0F2747"/>
                </a:solidFill>
                <a:latin typeface="Arial"/>
              </a:rPr>
              <a:t> artifact </a:t>
            </a:r>
            <a:r>
              <a:rPr sz="2400" b="1" dirty="0" err="1">
                <a:solidFill>
                  <a:srgbClr val="0F2747"/>
                </a:solidFill>
                <a:latin typeface="Arial"/>
              </a:rPr>
              <a:t>trong</a:t>
            </a:r>
            <a:r>
              <a:rPr sz="2400" b="1" dirty="0">
                <a:solidFill>
                  <a:srgbClr val="0F2747"/>
                </a:solidFill>
                <a:latin typeface="Arial"/>
              </a:rPr>
              <a:t> </a:t>
            </a:r>
            <a:r>
              <a:rPr sz="2400" b="1" dirty="0" err="1">
                <a:solidFill>
                  <a:srgbClr val="0F2747"/>
                </a:solidFill>
                <a:latin typeface="Arial"/>
              </a:rPr>
              <a:t>dự</a:t>
            </a:r>
            <a:r>
              <a:rPr sz="2400" b="1" dirty="0">
                <a:solidFill>
                  <a:srgbClr val="0F2747"/>
                </a:solidFill>
                <a:latin typeface="Arial"/>
              </a:rPr>
              <a:t> </a:t>
            </a:r>
            <a:r>
              <a:rPr sz="2400" b="1" dirty="0" err="1">
                <a:solidFill>
                  <a:srgbClr val="0F2747"/>
                </a:solidFill>
                <a:latin typeface="Arial"/>
              </a:rPr>
              <a:t>án</a:t>
            </a:r>
            <a:endParaRPr sz="2400" b="1" dirty="0">
              <a:solidFill>
                <a:srgbClr val="0F2747"/>
              </a:solidFill>
              <a:latin typeface="Arial"/>
            </a:endParaRPr>
          </a:p>
        </p:txBody>
      </p:sp>
      <p:sp>
        <p:nvSpPr>
          <p:cNvPr id="7" name="TextBox 6"/>
          <p:cNvSpPr txBox="1"/>
          <p:nvPr/>
        </p:nvSpPr>
        <p:spPr>
          <a:xfrm>
            <a:off x="502920" y="6446520"/>
            <a:ext cx="10789920" cy="164592"/>
          </a:xfrm>
          <a:prstGeom prst="rect">
            <a:avLst/>
          </a:prstGeom>
          <a:noFill/>
        </p:spPr>
        <p:txBody>
          <a:bodyPr wrap="square" lIns="0" tIns="0" rIns="0" bIns="0" anchor="t">
            <a:normAutofit/>
          </a:bodyPr>
          <a:lstStyle/>
          <a:p>
            <a:pPr algn="l">
              <a:lnSpc>
                <a:spcPct val="112000"/>
              </a:lnSpc>
              <a:spcAft>
                <a:spcPts val="400"/>
              </a:spcAft>
            </a:pPr>
            <a:r>
              <a:rPr sz="850" b="0">
                <a:solidFill>
                  <a:srgbClr val="5B677A"/>
                </a:solidFill>
                <a:latin typeface="Arial"/>
              </a:rPr>
              <a:t>Xây dựng hệ thống phát hiện và lọc spam email | Đồ án Truy hồi thông tin | Trang 24</a:t>
            </a:r>
          </a:p>
        </p:txBody>
      </p:sp>
      <p:graphicFrame>
        <p:nvGraphicFramePr>
          <p:cNvPr id="8" name="Table 7"/>
          <p:cNvGraphicFramePr>
            <a:graphicFrameLocks noGrp="1"/>
          </p:cNvGraphicFramePr>
          <p:nvPr/>
        </p:nvGraphicFramePr>
        <p:xfrm>
          <a:off x="502920" y="1554480"/>
          <a:ext cx="11155680" cy="4297680"/>
        </p:xfrm>
        <a:graphic>
          <a:graphicData uri="http://schemas.openxmlformats.org/drawingml/2006/table">
            <a:tbl>
              <a:tblPr firstRow="1" bandRow="1">
                <a:tableStyleId>{5C22544A-7EE6-4342-B048-85BDC9FD1C3A}</a:tableStyleId>
              </a:tblPr>
              <a:tblGrid>
                <a:gridCol w="3840480">
                  <a:extLst>
                    <a:ext uri="{9D8B030D-6E8A-4147-A177-3AD203B41FA5}">
                      <a16:colId xmlns:a16="http://schemas.microsoft.com/office/drawing/2014/main" val="20000"/>
                    </a:ext>
                  </a:extLst>
                </a:gridCol>
                <a:gridCol w="7315200">
                  <a:extLst>
                    <a:ext uri="{9D8B030D-6E8A-4147-A177-3AD203B41FA5}">
                      <a16:colId xmlns:a16="http://schemas.microsoft.com/office/drawing/2014/main" val="20001"/>
                    </a:ext>
                  </a:extLst>
                </a:gridCol>
              </a:tblGrid>
              <a:tr h="429768">
                <a:tc>
                  <a:txBody>
                    <a:bodyPr/>
                    <a:lstStyle/>
                    <a:p>
                      <a:pPr algn="l"/>
                      <a:r>
                        <a:rPr sz="1100" b="1">
                          <a:solidFill>
                            <a:srgbClr val="FFFFFF"/>
                          </a:solidFill>
                          <a:latin typeface="Arial"/>
                        </a:rPr>
                        <a:t>Đường dẫn</a:t>
                      </a:r>
                    </a:p>
                  </a:txBody>
                  <a:tcPr marL="54864" marR="54864" marT="27432" marB="27432" anchor="ctr">
                    <a:solidFill>
                      <a:srgbClr val="0F2747"/>
                    </a:solidFill>
                  </a:tcPr>
                </a:tc>
                <a:tc>
                  <a:txBody>
                    <a:bodyPr/>
                    <a:lstStyle/>
                    <a:p>
                      <a:pPr algn="l"/>
                      <a:r>
                        <a:rPr sz="1100" b="1">
                          <a:solidFill>
                            <a:srgbClr val="FFFFFF"/>
                          </a:solidFill>
                          <a:latin typeface="Arial"/>
                        </a:rPr>
                        <a:t>Nội dung lưu trữ</a:t>
                      </a:r>
                    </a:p>
                  </a:txBody>
                  <a:tcPr marL="54864" marR="54864" marT="27432" marB="27432" anchor="ctr">
                    <a:solidFill>
                      <a:srgbClr val="0F2747"/>
                    </a:solidFill>
                  </a:tcPr>
                </a:tc>
                <a:extLst>
                  <a:ext uri="{0D108BD9-81ED-4DB2-BD59-A6C34878D82A}">
                    <a16:rowId xmlns:a16="http://schemas.microsoft.com/office/drawing/2014/main" val="10000"/>
                  </a:ext>
                </a:extLst>
              </a:tr>
              <a:tr h="429768">
                <a:tc>
                  <a:txBody>
                    <a:bodyPr/>
                    <a:lstStyle/>
                    <a:p>
                      <a:pPr algn="l"/>
                      <a:r>
                        <a:rPr sz="1050" b="0">
                          <a:solidFill>
                            <a:srgbClr val="1F2937"/>
                          </a:solidFill>
                          <a:latin typeface="Arial"/>
                        </a:rPr>
                        <a:t>data/bilingual/ham, data/bilingual/spam</a:t>
                      </a:r>
                    </a:p>
                  </a:txBody>
                  <a:tcPr marL="54864" marR="54864" marT="27432" marB="27432" anchor="ctr">
                    <a:solidFill>
                      <a:srgbClr val="EEF2F8"/>
                    </a:solidFill>
                  </a:tcPr>
                </a:tc>
                <a:tc>
                  <a:txBody>
                    <a:bodyPr/>
                    <a:lstStyle/>
                    <a:p>
                      <a:pPr algn="l"/>
                      <a:r>
                        <a:rPr sz="1050" b="0">
                          <a:solidFill>
                            <a:srgbClr val="1F2937"/>
                          </a:solidFill>
                          <a:latin typeface="Arial"/>
                        </a:rPr>
                        <a:t>Email gốc phân theo nhãn để parser duyệt trực tiếp.</a:t>
                      </a:r>
                    </a:p>
                  </a:txBody>
                  <a:tcPr marL="54864" marR="54864" marT="27432" marB="27432" anchor="ctr">
                    <a:solidFill>
                      <a:srgbClr val="EEF2F8"/>
                    </a:solidFill>
                  </a:tcPr>
                </a:tc>
                <a:extLst>
                  <a:ext uri="{0D108BD9-81ED-4DB2-BD59-A6C34878D82A}">
                    <a16:rowId xmlns:a16="http://schemas.microsoft.com/office/drawing/2014/main" val="10001"/>
                  </a:ext>
                </a:extLst>
              </a:tr>
              <a:tr h="429768">
                <a:tc>
                  <a:txBody>
                    <a:bodyPr/>
                    <a:lstStyle/>
                    <a:p>
                      <a:pPr algn="l"/>
                      <a:r>
                        <a:rPr sz="1050" b="0">
                          <a:solidFill>
                            <a:srgbClr val="1F2937"/>
                          </a:solidFill>
                          <a:latin typeface="Arial"/>
                        </a:rPr>
                        <a:t>data/interim/emails_raw.csv</a:t>
                      </a:r>
                    </a:p>
                  </a:txBody>
                  <a:tcPr marL="54864" marR="54864" marT="27432" marB="27432" anchor="ctr">
                    <a:solidFill>
                      <a:srgbClr val="FFFFFF"/>
                    </a:solidFill>
                  </a:tcPr>
                </a:tc>
                <a:tc>
                  <a:txBody>
                    <a:bodyPr/>
                    <a:lstStyle/>
                    <a:p>
                      <a:pPr algn="l"/>
                      <a:r>
                        <a:rPr sz="1050" b="0">
                          <a:solidFill>
                            <a:srgbClr val="1F2937"/>
                          </a:solidFill>
                          <a:latin typeface="Arial"/>
                        </a:rPr>
                        <a:t>Bản trung gian sau khi parse toàn bộ email.</a:t>
                      </a:r>
                    </a:p>
                  </a:txBody>
                  <a:tcPr marL="54864" marR="54864" marT="27432" marB="27432" anchor="ctr">
                    <a:solidFill>
                      <a:srgbClr val="FFFFFF"/>
                    </a:solidFill>
                  </a:tcPr>
                </a:tc>
                <a:extLst>
                  <a:ext uri="{0D108BD9-81ED-4DB2-BD59-A6C34878D82A}">
                    <a16:rowId xmlns:a16="http://schemas.microsoft.com/office/drawing/2014/main" val="10002"/>
                  </a:ext>
                </a:extLst>
              </a:tr>
              <a:tr h="429768">
                <a:tc>
                  <a:txBody>
                    <a:bodyPr/>
                    <a:lstStyle/>
                    <a:p>
                      <a:pPr algn="l"/>
                      <a:r>
                        <a:rPr sz="1050" b="0">
                          <a:solidFill>
                            <a:srgbClr val="1F2937"/>
                          </a:solidFill>
                          <a:latin typeface="Arial"/>
                        </a:rPr>
                        <a:t>data/processed/train.csv</a:t>
                      </a:r>
                    </a:p>
                  </a:txBody>
                  <a:tcPr marL="54864" marR="54864" marT="27432" marB="27432" anchor="ctr">
                    <a:solidFill>
                      <a:srgbClr val="EEF2F8"/>
                    </a:solidFill>
                  </a:tcPr>
                </a:tc>
                <a:tc>
                  <a:txBody>
                    <a:bodyPr/>
                    <a:lstStyle/>
                    <a:p>
                      <a:pPr algn="l"/>
                      <a:r>
                        <a:rPr sz="1050" b="0">
                          <a:solidFill>
                            <a:srgbClr val="1F2937"/>
                          </a:solidFill>
                          <a:latin typeface="Arial"/>
                        </a:rPr>
                        <a:t>Tập huấn luyện sau khi chia train/test.</a:t>
                      </a:r>
                    </a:p>
                  </a:txBody>
                  <a:tcPr marL="54864" marR="54864" marT="27432" marB="27432" anchor="ctr">
                    <a:solidFill>
                      <a:srgbClr val="EEF2F8"/>
                    </a:solidFill>
                  </a:tcPr>
                </a:tc>
                <a:extLst>
                  <a:ext uri="{0D108BD9-81ED-4DB2-BD59-A6C34878D82A}">
                    <a16:rowId xmlns:a16="http://schemas.microsoft.com/office/drawing/2014/main" val="10003"/>
                  </a:ext>
                </a:extLst>
              </a:tr>
              <a:tr h="429768">
                <a:tc>
                  <a:txBody>
                    <a:bodyPr/>
                    <a:lstStyle/>
                    <a:p>
                      <a:pPr algn="l"/>
                      <a:r>
                        <a:rPr sz="1050" b="0">
                          <a:solidFill>
                            <a:srgbClr val="1F2937"/>
                          </a:solidFill>
                          <a:latin typeface="Arial"/>
                        </a:rPr>
                        <a:t>data/processed/test.csv</a:t>
                      </a:r>
                    </a:p>
                  </a:txBody>
                  <a:tcPr marL="54864" marR="54864" marT="27432" marB="27432" anchor="ctr">
                    <a:solidFill>
                      <a:srgbClr val="FFFFFF"/>
                    </a:solidFill>
                  </a:tcPr>
                </a:tc>
                <a:tc>
                  <a:txBody>
                    <a:bodyPr/>
                    <a:lstStyle/>
                    <a:p>
                      <a:pPr algn="l"/>
                      <a:r>
                        <a:rPr sz="1050" b="0">
                          <a:solidFill>
                            <a:srgbClr val="1F2937"/>
                          </a:solidFill>
                          <a:latin typeface="Arial"/>
                        </a:rPr>
                        <a:t>Tập kiểm thử dùng cho đánh giá cuối.</a:t>
                      </a:r>
                    </a:p>
                  </a:txBody>
                  <a:tcPr marL="54864" marR="54864" marT="27432" marB="27432" anchor="ctr">
                    <a:solidFill>
                      <a:srgbClr val="FFFFFF"/>
                    </a:solidFill>
                  </a:tcPr>
                </a:tc>
                <a:extLst>
                  <a:ext uri="{0D108BD9-81ED-4DB2-BD59-A6C34878D82A}">
                    <a16:rowId xmlns:a16="http://schemas.microsoft.com/office/drawing/2014/main" val="10004"/>
                  </a:ext>
                </a:extLst>
              </a:tr>
              <a:tr h="429768">
                <a:tc>
                  <a:txBody>
                    <a:bodyPr/>
                    <a:lstStyle/>
                    <a:p>
                      <a:pPr algn="l"/>
                      <a:r>
                        <a:rPr sz="1050" b="0">
                          <a:solidFill>
                            <a:srgbClr val="1F2937"/>
                          </a:solidFill>
                          <a:latin typeface="Arial"/>
                        </a:rPr>
                        <a:t>models/*.joblib</a:t>
                      </a:r>
                    </a:p>
                  </a:txBody>
                  <a:tcPr marL="54864" marR="54864" marT="27432" marB="27432" anchor="ctr">
                    <a:solidFill>
                      <a:srgbClr val="EEF2F8"/>
                    </a:solidFill>
                  </a:tcPr>
                </a:tc>
                <a:tc>
                  <a:txBody>
                    <a:bodyPr/>
                    <a:lstStyle/>
                    <a:p>
                      <a:pPr algn="l"/>
                      <a:r>
                        <a:rPr sz="1050" b="0">
                          <a:solidFill>
                            <a:srgbClr val="1F2937"/>
                          </a:solidFill>
                          <a:latin typeface="Arial"/>
                        </a:rPr>
                        <a:t>Các mô hình tốt nhất theo từng thuật toán và best_model.joblib.</a:t>
                      </a:r>
                    </a:p>
                  </a:txBody>
                  <a:tcPr marL="54864" marR="54864" marT="27432" marB="27432" anchor="ctr">
                    <a:solidFill>
                      <a:srgbClr val="EEF2F8"/>
                    </a:solidFill>
                  </a:tcPr>
                </a:tc>
                <a:extLst>
                  <a:ext uri="{0D108BD9-81ED-4DB2-BD59-A6C34878D82A}">
                    <a16:rowId xmlns:a16="http://schemas.microsoft.com/office/drawing/2014/main" val="10005"/>
                  </a:ext>
                </a:extLst>
              </a:tr>
              <a:tr h="429768">
                <a:tc>
                  <a:txBody>
                    <a:bodyPr/>
                    <a:lstStyle/>
                    <a:p>
                      <a:pPr algn="l"/>
                      <a:r>
                        <a:rPr sz="1050" b="0">
                          <a:solidFill>
                            <a:srgbClr val="1F2937"/>
                          </a:solidFill>
                          <a:latin typeface="Arial"/>
                        </a:rPr>
                        <a:t>reports/results/metrics.csv</a:t>
                      </a:r>
                    </a:p>
                  </a:txBody>
                  <a:tcPr marL="54864" marR="54864" marT="27432" marB="27432" anchor="ctr">
                    <a:solidFill>
                      <a:srgbClr val="FFFFFF"/>
                    </a:solidFill>
                  </a:tcPr>
                </a:tc>
                <a:tc>
                  <a:txBody>
                    <a:bodyPr/>
                    <a:lstStyle/>
                    <a:p>
                      <a:pPr algn="l"/>
                      <a:r>
                        <a:rPr sz="1050" b="0">
                          <a:solidFill>
                            <a:srgbClr val="1F2937"/>
                          </a:solidFill>
                          <a:latin typeface="Arial"/>
                        </a:rPr>
                        <a:t>Bảng benchmark so sánh hiệu năng các mô hình và baseline.</a:t>
                      </a:r>
                    </a:p>
                  </a:txBody>
                  <a:tcPr marL="54864" marR="54864" marT="27432" marB="27432" anchor="ctr">
                    <a:solidFill>
                      <a:srgbClr val="FFFFFF"/>
                    </a:solidFill>
                  </a:tcPr>
                </a:tc>
                <a:extLst>
                  <a:ext uri="{0D108BD9-81ED-4DB2-BD59-A6C34878D82A}">
                    <a16:rowId xmlns:a16="http://schemas.microsoft.com/office/drawing/2014/main" val="10006"/>
                  </a:ext>
                </a:extLst>
              </a:tr>
              <a:tr h="429768">
                <a:tc>
                  <a:txBody>
                    <a:bodyPr/>
                    <a:lstStyle/>
                    <a:p>
                      <a:pPr algn="l"/>
                      <a:r>
                        <a:rPr sz="1050" b="0">
                          <a:solidFill>
                            <a:srgbClr val="1F2937"/>
                          </a:solidFill>
                          <a:latin typeface="Arial"/>
                        </a:rPr>
                        <a:t>reports/results/eval_metrics.csv</a:t>
                      </a:r>
                    </a:p>
                  </a:txBody>
                  <a:tcPr marL="54864" marR="54864" marT="27432" marB="27432" anchor="ctr">
                    <a:solidFill>
                      <a:srgbClr val="EEF2F8"/>
                    </a:solidFill>
                  </a:tcPr>
                </a:tc>
                <a:tc>
                  <a:txBody>
                    <a:bodyPr/>
                    <a:lstStyle/>
                    <a:p>
                      <a:pPr algn="l"/>
                      <a:r>
                        <a:rPr sz="1050" b="0">
                          <a:solidFill>
                            <a:srgbClr val="1F2937"/>
                          </a:solidFill>
                          <a:latin typeface="Arial"/>
                        </a:rPr>
                        <a:t>Kết quả đánh giá chi tiết của mô hình đang dùng để demo.</a:t>
                      </a:r>
                    </a:p>
                  </a:txBody>
                  <a:tcPr marL="54864" marR="54864" marT="27432" marB="27432" anchor="ctr">
                    <a:solidFill>
                      <a:srgbClr val="EEF2F8"/>
                    </a:solidFill>
                  </a:tcPr>
                </a:tc>
                <a:extLst>
                  <a:ext uri="{0D108BD9-81ED-4DB2-BD59-A6C34878D82A}">
                    <a16:rowId xmlns:a16="http://schemas.microsoft.com/office/drawing/2014/main" val="10007"/>
                  </a:ext>
                </a:extLst>
              </a:tr>
              <a:tr h="429768">
                <a:tc>
                  <a:txBody>
                    <a:bodyPr/>
                    <a:lstStyle/>
                    <a:p>
                      <a:pPr algn="l"/>
                      <a:r>
                        <a:rPr sz="1050" b="0">
                          <a:solidFill>
                            <a:srgbClr val="1F2937"/>
                          </a:solidFill>
                          <a:latin typeface="Arial"/>
                        </a:rPr>
                        <a:t>reports/results/classification_report.csv</a:t>
                      </a:r>
                    </a:p>
                  </a:txBody>
                  <a:tcPr marL="54864" marR="54864" marT="27432" marB="27432" anchor="ctr">
                    <a:solidFill>
                      <a:srgbClr val="FFFFFF"/>
                    </a:solidFill>
                  </a:tcPr>
                </a:tc>
                <a:tc>
                  <a:txBody>
                    <a:bodyPr/>
                    <a:lstStyle/>
                    <a:p>
                      <a:pPr algn="l"/>
                      <a:r>
                        <a:rPr sz="1050" b="0">
                          <a:solidFill>
                            <a:srgbClr val="1F2937"/>
                          </a:solidFill>
                          <a:latin typeface="Arial"/>
                        </a:rPr>
                        <a:t>Bảng precision, recall, F1 theo từng lớp.</a:t>
                      </a:r>
                    </a:p>
                  </a:txBody>
                  <a:tcPr marL="54864" marR="54864" marT="27432" marB="27432" anchor="ctr">
                    <a:solidFill>
                      <a:srgbClr val="FFFFFF"/>
                    </a:solidFill>
                  </a:tcPr>
                </a:tc>
                <a:extLst>
                  <a:ext uri="{0D108BD9-81ED-4DB2-BD59-A6C34878D82A}">
                    <a16:rowId xmlns:a16="http://schemas.microsoft.com/office/drawing/2014/main" val="10008"/>
                  </a:ext>
                </a:extLst>
              </a:tr>
              <a:tr h="429768">
                <a:tc>
                  <a:txBody>
                    <a:bodyPr/>
                    <a:lstStyle/>
                    <a:p>
                      <a:pPr algn="l"/>
                      <a:r>
                        <a:rPr sz="1050" b="0">
                          <a:solidFill>
                            <a:srgbClr val="1F2937"/>
                          </a:solidFill>
                          <a:latin typeface="Arial"/>
                        </a:rPr>
                        <a:t>reports/results/misclassified_examples.csv</a:t>
                      </a:r>
                    </a:p>
                  </a:txBody>
                  <a:tcPr marL="54864" marR="54864" marT="27432" marB="27432" anchor="ctr">
                    <a:solidFill>
                      <a:srgbClr val="EEF2F8"/>
                    </a:solidFill>
                  </a:tcPr>
                </a:tc>
                <a:tc>
                  <a:txBody>
                    <a:bodyPr/>
                    <a:lstStyle/>
                    <a:p>
                      <a:pPr algn="l"/>
                      <a:r>
                        <a:rPr sz="1050" b="0">
                          <a:solidFill>
                            <a:srgbClr val="1F2937"/>
                          </a:solidFill>
                          <a:latin typeface="Arial"/>
                        </a:rPr>
                        <a:t>Danh sách các email mà mô hình dự đoán sai để phân tích lỗi.</a:t>
                      </a:r>
                    </a:p>
                  </a:txBody>
                  <a:tcPr marL="54864" marR="54864" marT="27432" marB="27432" anchor="ctr">
                    <a:solidFill>
                      <a:srgbClr val="EEF2F8"/>
                    </a:solidFill>
                  </a:tcPr>
                </a:tc>
                <a:extLst>
                  <a:ext uri="{0D108BD9-81ED-4DB2-BD59-A6C34878D82A}">
                    <a16:rowId xmlns:a16="http://schemas.microsoft.com/office/drawing/2014/main" val="10009"/>
                  </a:ext>
                </a:extLst>
              </a:tr>
            </a:tbl>
          </a:graphicData>
        </a:graphic>
      </p:graphicFrame>
      <p:sp>
        <p:nvSpPr>
          <p:cNvPr id="9" name="Rounded Rectangle 8"/>
          <p:cNvSpPr/>
          <p:nvPr/>
        </p:nvSpPr>
        <p:spPr>
          <a:xfrm>
            <a:off x="502920" y="5989320"/>
            <a:ext cx="11155680" cy="320040"/>
          </a:xfrm>
          <a:prstGeom prst="roundRect">
            <a:avLst/>
          </a:prstGeom>
          <a:solidFill>
            <a:srgbClr val="EAF2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t">
            <a:normAutofit/>
          </a:bodyPr>
          <a:lstStyle/>
          <a:p>
            <a:pPr algn="l">
              <a:lnSpc>
                <a:spcPct val="112000"/>
              </a:lnSpc>
              <a:spcAft>
                <a:spcPts val="400"/>
              </a:spcAft>
            </a:pPr>
            <a:r>
              <a:rPr sz="1050" b="0">
                <a:solidFill>
                  <a:srgbClr val="1F2937"/>
                </a:solidFill>
                <a:latin typeface="Arial"/>
              </a:rPr>
              <a:t>Điểm mạnh của cấu trúc này là tái lập được vòng đời dữ liệu -&gt; mô hình -&gt; đánh giá -&gt; trình bày mà không cần phụ thuộc vào notebook tạm thời.</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0F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75488"/>
            <a:ext cx="201168" cy="6382512"/>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8912" y="164592"/>
            <a:ext cx="1417320" cy="292608"/>
          </a:xfrm>
          <a:prstGeom prst="roundRect">
            <a:avLst/>
          </a:prstGeom>
          <a:solidFill>
            <a:srgbClr val="E46A2E"/>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t">
            <a:normAutofit/>
          </a:bodyPr>
          <a:lstStyle/>
          <a:p>
            <a:pPr algn="ctr">
              <a:lnSpc>
                <a:spcPct val="112000"/>
              </a:lnSpc>
              <a:spcAft>
                <a:spcPts val="400"/>
              </a:spcAft>
            </a:pPr>
            <a:r>
              <a:rPr sz="1200" b="1">
                <a:solidFill>
                  <a:srgbClr val="FFFFFF"/>
                </a:solidFill>
                <a:latin typeface="Arial"/>
              </a:rPr>
              <a:t>CHƯƠNG 4</a:t>
            </a:r>
          </a:p>
        </p:txBody>
      </p:sp>
      <p:sp>
        <p:nvSpPr>
          <p:cNvPr id="5" name="TextBox 4"/>
          <p:cNvSpPr txBox="1"/>
          <p:nvPr/>
        </p:nvSpPr>
        <p:spPr>
          <a:xfrm>
            <a:off x="502920" y="658368"/>
            <a:ext cx="8138160" cy="475488"/>
          </a:xfrm>
          <a:prstGeom prst="rect">
            <a:avLst/>
          </a:prstGeom>
          <a:noFill/>
        </p:spPr>
        <p:txBody>
          <a:bodyPr wrap="square" lIns="0" tIns="0" rIns="0" bIns="0" anchor="t">
            <a:normAutofit/>
          </a:bodyPr>
          <a:lstStyle/>
          <a:p>
            <a:pPr algn="l">
              <a:lnSpc>
                <a:spcPct val="112000"/>
              </a:lnSpc>
              <a:spcAft>
                <a:spcPts val="400"/>
              </a:spcAft>
            </a:pPr>
            <a:r>
              <a:rPr sz="2400" b="1">
                <a:solidFill>
                  <a:srgbClr val="0F2747"/>
                </a:solidFill>
                <a:latin typeface="Arial"/>
              </a:rPr>
              <a:t>Thống kê mô tả của dataset</a:t>
            </a:r>
          </a:p>
        </p:txBody>
      </p:sp>
      <p:sp>
        <p:nvSpPr>
          <p:cNvPr id="6" name="TextBox 5"/>
          <p:cNvSpPr txBox="1"/>
          <p:nvPr/>
        </p:nvSpPr>
        <p:spPr>
          <a:xfrm>
            <a:off x="521207" y="1078992"/>
            <a:ext cx="10058400" cy="292608"/>
          </a:xfrm>
          <a:prstGeom prst="rect">
            <a:avLst/>
          </a:prstGeom>
          <a:noFill/>
        </p:spPr>
        <p:txBody>
          <a:bodyPr wrap="square" lIns="0" tIns="0" rIns="0" bIns="0" anchor="t">
            <a:normAutofit/>
          </a:bodyPr>
          <a:lstStyle/>
          <a:p>
            <a:pPr algn="l">
              <a:lnSpc>
                <a:spcPct val="112000"/>
              </a:lnSpc>
              <a:spcAft>
                <a:spcPts val="400"/>
              </a:spcAft>
            </a:pPr>
            <a:r>
              <a:rPr sz="1050" b="0">
                <a:solidFill>
                  <a:srgbClr val="5B677A"/>
                </a:solidFill>
                <a:latin typeface="Arial"/>
              </a:rPr>
              <a:t>Số liệu mô tả giúp giải thích rõ tính chất dữ liệu trước khi đi vào benchmark mô hình</a:t>
            </a:r>
          </a:p>
        </p:txBody>
      </p:sp>
      <p:sp>
        <p:nvSpPr>
          <p:cNvPr id="7" name="TextBox 6"/>
          <p:cNvSpPr txBox="1"/>
          <p:nvPr/>
        </p:nvSpPr>
        <p:spPr>
          <a:xfrm>
            <a:off x="502920" y="6446520"/>
            <a:ext cx="10789920" cy="164592"/>
          </a:xfrm>
          <a:prstGeom prst="rect">
            <a:avLst/>
          </a:prstGeom>
          <a:noFill/>
        </p:spPr>
        <p:txBody>
          <a:bodyPr wrap="square" lIns="0" tIns="0" rIns="0" bIns="0" anchor="t">
            <a:normAutofit/>
          </a:bodyPr>
          <a:lstStyle/>
          <a:p>
            <a:pPr algn="l">
              <a:lnSpc>
                <a:spcPct val="112000"/>
              </a:lnSpc>
              <a:spcAft>
                <a:spcPts val="400"/>
              </a:spcAft>
            </a:pPr>
            <a:r>
              <a:rPr sz="850" b="0">
                <a:solidFill>
                  <a:srgbClr val="5B677A"/>
                </a:solidFill>
                <a:latin typeface="Arial"/>
              </a:rPr>
              <a:t>Xây dựng hệ thống phát hiện và lọc spam email | Đồ án Truy hồi thông tin | Trang 25</a:t>
            </a:r>
          </a:p>
        </p:txBody>
      </p:sp>
      <p:sp>
        <p:nvSpPr>
          <p:cNvPr id="8" name="Rounded Rectangle 7"/>
          <p:cNvSpPr/>
          <p:nvPr/>
        </p:nvSpPr>
        <p:spPr>
          <a:xfrm>
            <a:off x="502920" y="1417320"/>
            <a:ext cx="5074920" cy="4709160"/>
          </a:xfrm>
          <a:prstGeom prst="roundRect">
            <a:avLst/>
          </a:prstGeom>
          <a:solidFill>
            <a:srgbClr val="FFFF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normAutofit/>
          </a:bodyPr>
          <a:lstStyle/>
          <a:p>
            <a:pPr algn="l">
              <a:lnSpc>
                <a:spcPct val="112000"/>
              </a:lnSpc>
              <a:spcAft>
                <a:spcPts val="400"/>
              </a:spcAft>
            </a:pPr>
            <a:r>
              <a:rPr sz="1400" b="0">
                <a:solidFill>
                  <a:srgbClr val="1F2937"/>
                </a:solidFill>
                <a:latin typeface="Arial"/>
              </a:rPr>
              <a:t>Tập dữ liệu dùng được cuối cùng có 5,691 email, trong đó ham chiếm 69.53% và spam chiếm 30.47%. Mức lệch lớp này có tồn tại nhưng chưa quá cực đoan như nhiều bài toán mất cân bằng khác.</a:t>
            </a:r>
          </a:p>
          <a:p>
            <a:pPr algn="l">
              <a:lnSpc>
                <a:spcPct val="112000"/>
              </a:lnSpc>
              <a:spcAft>
                <a:spcPts val="400"/>
              </a:spcAft>
            </a:pPr>
            <a:r>
              <a:rPr sz="1400" b="0">
                <a:solidFill>
                  <a:srgbClr val="1F2937"/>
                </a:solidFill>
                <a:latin typeface="Arial"/>
              </a:rPr>
              <a:t>• Sau khi chia theo tỉ lệ 80/20 với stratify, tập train có 4,552 mẫu gồm 3,165 ham và 1,387 spam; tập test có 1,139 mẫu gồm 792 ham và 347 spam.</a:t>
            </a:r>
          </a:p>
          <a:p>
            <a:pPr algn="l">
              <a:lnSpc>
                <a:spcPct val="112000"/>
              </a:lnSpc>
              <a:spcAft>
                <a:spcPts val="400"/>
              </a:spcAft>
            </a:pPr>
            <a:r>
              <a:rPr sz="1400" b="0">
                <a:solidFill>
                  <a:srgbClr val="1F2937"/>
                </a:solidFill>
                <a:latin typeface="Arial"/>
              </a:rPr>
              <a:t>• Độ dài email biến thiên rất rộng: trung bình 934.85 ký tự và 207.55 từ mỗi email; trung vị lần lượt là 447 ký tự và 104 từ. Email dài nhất lên tới 31,851 ký tự và 8,861 từ.</a:t>
            </a:r>
          </a:p>
          <a:p>
            <a:pPr algn="l">
              <a:lnSpc>
                <a:spcPct val="112000"/>
              </a:lnSpc>
              <a:spcAft>
                <a:spcPts val="400"/>
              </a:spcAft>
            </a:pPr>
            <a:r>
              <a:rPr sz="1400" b="0">
                <a:solidFill>
                  <a:srgbClr val="1F2937"/>
                </a:solidFill>
                <a:latin typeface="Arial"/>
              </a:rPr>
              <a:t>• Khi chưa bật dedup, bộ dữ liệu còn 403 nội dung trùng lặp. Điều này rất đáng lưu ý vì nó có thể làm kết quả benchmark đẹp hơn thực tế nếu train và test vô tình chia sẻ các mẫu gần giống nhau.</a:t>
            </a:r>
          </a:p>
        </p:txBody>
      </p:sp>
      <p:sp>
        <p:nvSpPr>
          <p:cNvPr id="9" name="Rounded Rectangle 8"/>
          <p:cNvSpPr/>
          <p:nvPr/>
        </p:nvSpPr>
        <p:spPr>
          <a:xfrm>
            <a:off x="5806440" y="1463040"/>
            <a:ext cx="5532120" cy="4069080"/>
          </a:xfrm>
          <a:prstGeom prst="roundRect">
            <a:avLst/>
          </a:prstGeom>
          <a:solidFill>
            <a:srgbClr val="FFFFFF"/>
          </a:solidFill>
          <a:ln>
            <a:solidFill>
              <a:srgbClr val="D6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report_fig6.png"/>
          <p:cNvPicPr>
            <a:picLocks noChangeAspect="1"/>
          </p:cNvPicPr>
          <p:nvPr/>
        </p:nvPicPr>
        <p:blipFill>
          <a:blip r:embed="rId2"/>
          <a:stretch>
            <a:fillRect/>
          </a:stretch>
        </p:blipFill>
        <p:spPr>
          <a:xfrm>
            <a:off x="5806440" y="2203526"/>
            <a:ext cx="5532120" cy="2588106"/>
          </a:xfrm>
          <a:prstGeom prst="rect">
            <a:avLst/>
          </a:prstGeom>
        </p:spPr>
      </p:pic>
      <p:sp>
        <p:nvSpPr>
          <p:cNvPr id="11" name="Rounded Rectangle 10"/>
          <p:cNvSpPr/>
          <p:nvPr/>
        </p:nvSpPr>
        <p:spPr>
          <a:xfrm>
            <a:off x="5806440" y="5559552"/>
            <a:ext cx="5532120" cy="411480"/>
          </a:xfrm>
          <a:prstGeom prst="roundRect">
            <a:avLst/>
          </a:prstGeom>
          <a:solidFill>
            <a:srgbClr val="EAF2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t">
            <a:normAutofit/>
          </a:bodyPr>
          <a:lstStyle/>
          <a:p>
            <a:pPr algn="l">
              <a:lnSpc>
                <a:spcPct val="112000"/>
              </a:lnSpc>
              <a:spcAft>
                <a:spcPts val="400"/>
              </a:spcAft>
            </a:pPr>
            <a:r>
              <a:rPr sz="1050" b="0">
                <a:solidFill>
                  <a:srgbClr val="1F2937"/>
                </a:solidFill>
                <a:latin typeface="Arial"/>
              </a:rPr>
              <a:t>Hình: phân bố độ dài email theo lớp trên thang log.</a:t>
            </a:r>
          </a:p>
        </p:txBody>
      </p:sp>
      <p:sp>
        <p:nvSpPr>
          <p:cNvPr id="12" name="Rounded Rectangle 11"/>
          <p:cNvSpPr/>
          <p:nvPr/>
        </p:nvSpPr>
        <p:spPr>
          <a:xfrm>
            <a:off x="5806440" y="6112495"/>
            <a:ext cx="5532120" cy="384048"/>
          </a:xfrm>
          <a:prstGeom prst="roundRect">
            <a:avLst/>
          </a:prstGeom>
          <a:solidFill>
            <a:srgbClr val="FFF1E8"/>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t">
            <a:normAutofit lnSpcReduction="10000"/>
          </a:bodyPr>
          <a:lstStyle/>
          <a:p>
            <a:pPr algn="l">
              <a:lnSpc>
                <a:spcPct val="112000"/>
              </a:lnSpc>
              <a:spcAft>
                <a:spcPts val="400"/>
              </a:spcAft>
            </a:pPr>
            <a:r>
              <a:rPr sz="980" b="0" dirty="0" err="1">
                <a:solidFill>
                  <a:srgbClr val="1F2937"/>
                </a:solidFill>
                <a:latin typeface="Arial"/>
              </a:rPr>
              <a:t>Nhận</a:t>
            </a:r>
            <a:r>
              <a:rPr sz="980" b="0" dirty="0">
                <a:solidFill>
                  <a:srgbClr val="1F2937"/>
                </a:solidFill>
                <a:latin typeface="Arial"/>
              </a:rPr>
              <a:t> </a:t>
            </a:r>
            <a:r>
              <a:rPr sz="980" b="0" dirty="0" err="1">
                <a:solidFill>
                  <a:srgbClr val="1F2937"/>
                </a:solidFill>
                <a:latin typeface="Arial"/>
              </a:rPr>
              <a:t>xét</a:t>
            </a:r>
            <a:r>
              <a:rPr sz="980" b="0" dirty="0">
                <a:solidFill>
                  <a:srgbClr val="1F2937"/>
                </a:solidFill>
                <a:latin typeface="Arial"/>
              </a:rPr>
              <a:t> </a:t>
            </a:r>
            <a:r>
              <a:rPr sz="980" b="0" dirty="0" err="1">
                <a:solidFill>
                  <a:srgbClr val="1F2937"/>
                </a:solidFill>
                <a:latin typeface="Arial"/>
              </a:rPr>
              <a:t>chính</a:t>
            </a:r>
            <a:r>
              <a:rPr sz="980" b="0" dirty="0">
                <a:solidFill>
                  <a:srgbClr val="1F2937"/>
                </a:solidFill>
                <a:latin typeface="Arial"/>
              </a:rPr>
              <a:t>: ham </a:t>
            </a:r>
            <a:r>
              <a:rPr sz="980" b="0" dirty="0" err="1">
                <a:solidFill>
                  <a:srgbClr val="1F2937"/>
                </a:solidFill>
                <a:latin typeface="Arial"/>
              </a:rPr>
              <a:t>có</a:t>
            </a:r>
            <a:r>
              <a:rPr sz="980" b="0" dirty="0">
                <a:solidFill>
                  <a:srgbClr val="1F2937"/>
                </a:solidFill>
                <a:latin typeface="Arial"/>
              </a:rPr>
              <a:t> </a:t>
            </a:r>
            <a:r>
              <a:rPr sz="980" b="0" dirty="0" err="1">
                <a:solidFill>
                  <a:srgbClr val="1F2937"/>
                </a:solidFill>
                <a:latin typeface="Arial"/>
              </a:rPr>
              <a:t>đuôi</a:t>
            </a:r>
            <a:r>
              <a:rPr sz="980" b="0" dirty="0">
                <a:solidFill>
                  <a:srgbClr val="1F2937"/>
                </a:solidFill>
                <a:latin typeface="Arial"/>
              </a:rPr>
              <a:t> </a:t>
            </a:r>
            <a:r>
              <a:rPr sz="980" b="0" dirty="0" err="1">
                <a:solidFill>
                  <a:srgbClr val="1F2937"/>
                </a:solidFill>
                <a:latin typeface="Arial"/>
              </a:rPr>
              <a:t>dài</a:t>
            </a:r>
            <a:r>
              <a:rPr sz="980" b="0" dirty="0">
                <a:solidFill>
                  <a:srgbClr val="1F2937"/>
                </a:solidFill>
                <a:latin typeface="Arial"/>
              </a:rPr>
              <a:t> </a:t>
            </a:r>
            <a:r>
              <a:rPr sz="980" b="0" dirty="0" err="1">
                <a:solidFill>
                  <a:srgbClr val="1F2937"/>
                </a:solidFill>
                <a:latin typeface="Arial"/>
              </a:rPr>
              <a:t>hơn</a:t>
            </a:r>
            <a:r>
              <a:rPr sz="980" b="0" dirty="0">
                <a:solidFill>
                  <a:srgbClr val="1F2937"/>
                </a:solidFill>
                <a:latin typeface="Arial"/>
              </a:rPr>
              <a:t>, spam </a:t>
            </a:r>
            <a:r>
              <a:rPr sz="980" b="0" dirty="0" err="1">
                <a:solidFill>
                  <a:srgbClr val="1F2937"/>
                </a:solidFill>
                <a:latin typeface="Arial"/>
              </a:rPr>
              <a:t>trung</a:t>
            </a:r>
            <a:r>
              <a:rPr sz="980" b="0" dirty="0">
                <a:solidFill>
                  <a:srgbClr val="1F2937"/>
                </a:solidFill>
                <a:latin typeface="Arial"/>
              </a:rPr>
              <a:t> </a:t>
            </a:r>
            <a:r>
              <a:rPr sz="980" b="0" dirty="0" err="1">
                <a:solidFill>
                  <a:srgbClr val="1F2937"/>
                </a:solidFill>
                <a:latin typeface="Arial"/>
              </a:rPr>
              <a:t>bình</a:t>
            </a:r>
            <a:r>
              <a:rPr sz="980" b="0" dirty="0">
                <a:solidFill>
                  <a:srgbClr val="1F2937"/>
                </a:solidFill>
                <a:latin typeface="Arial"/>
              </a:rPr>
              <a:t> </a:t>
            </a:r>
            <a:r>
              <a:rPr sz="980" b="0" dirty="0" err="1">
                <a:solidFill>
                  <a:srgbClr val="1F2937"/>
                </a:solidFill>
                <a:latin typeface="Arial"/>
              </a:rPr>
              <a:t>dài</a:t>
            </a:r>
            <a:r>
              <a:rPr sz="980" b="0" dirty="0">
                <a:solidFill>
                  <a:srgbClr val="1F2937"/>
                </a:solidFill>
                <a:latin typeface="Arial"/>
              </a:rPr>
              <a:t> </a:t>
            </a:r>
            <a:r>
              <a:rPr sz="980" b="0" dirty="0" err="1">
                <a:solidFill>
                  <a:srgbClr val="1F2937"/>
                </a:solidFill>
                <a:latin typeface="Arial"/>
              </a:rPr>
              <a:t>hơn</a:t>
            </a:r>
            <a:r>
              <a:rPr sz="980" b="0" dirty="0">
                <a:solidFill>
                  <a:srgbClr val="1F2937"/>
                </a:solidFill>
                <a:latin typeface="Arial"/>
              </a:rPr>
              <a:t> </a:t>
            </a:r>
            <a:r>
              <a:rPr sz="980" b="0" dirty="0" err="1">
                <a:solidFill>
                  <a:srgbClr val="1F2937"/>
                </a:solidFill>
                <a:latin typeface="Arial"/>
              </a:rPr>
              <a:t>về</a:t>
            </a:r>
            <a:r>
              <a:rPr sz="980" b="0" dirty="0">
                <a:solidFill>
                  <a:srgbClr val="1F2937"/>
                </a:solidFill>
                <a:latin typeface="Arial"/>
              </a:rPr>
              <a:t> </a:t>
            </a:r>
            <a:r>
              <a:rPr sz="980" b="0" dirty="0" err="1">
                <a:solidFill>
                  <a:srgbClr val="1F2937"/>
                </a:solidFill>
                <a:latin typeface="Arial"/>
              </a:rPr>
              <a:t>số</a:t>
            </a:r>
            <a:r>
              <a:rPr sz="980" b="0" dirty="0">
                <a:solidFill>
                  <a:srgbClr val="1F2937"/>
                </a:solidFill>
                <a:latin typeface="Arial"/>
              </a:rPr>
              <a:t> </a:t>
            </a:r>
            <a:r>
              <a:rPr sz="980" b="0" dirty="0" err="1">
                <a:solidFill>
                  <a:srgbClr val="1F2937"/>
                </a:solidFill>
                <a:latin typeface="Arial"/>
              </a:rPr>
              <a:t>ký</a:t>
            </a:r>
            <a:r>
              <a:rPr sz="980" b="0" dirty="0">
                <a:solidFill>
                  <a:srgbClr val="1F2937"/>
                </a:solidFill>
                <a:latin typeface="Arial"/>
              </a:rPr>
              <a:t> </a:t>
            </a:r>
            <a:r>
              <a:rPr sz="980" b="0" dirty="0" err="1">
                <a:solidFill>
                  <a:srgbClr val="1F2937"/>
                </a:solidFill>
                <a:latin typeface="Arial"/>
              </a:rPr>
              <a:t>tự</a:t>
            </a:r>
            <a:r>
              <a:rPr sz="980" b="0" dirty="0">
                <a:solidFill>
                  <a:srgbClr val="1F2937"/>
                </a:solidFill>
                <a:latin typeface="Arial"/>
              </a:rPr>
              <a:t>, </a:t>
            </a:r>
            <a:r>
              <a:rPr sz="980" b="0" dirty="0" err="1">
                <a:solidFill>
                  <a:srgbClr val="1F2937"/>
                </a:solidFill>
                <a:latin typeface="Arial"/>
              </a:rPr>
              <a:t>nhưng</a:t>
            </a:r>
            <a:r>
              <a:rPr sz="980" b="0" dirty="0">
                <a:solidFill>
                  <a:srgbClr val="1F2937"/>
                </a:solidFill>
                <a:latin typeface="Arial"/>
              </a:rPr>
              <a:t> </a:t>
            </a:r>
            <a:r>
              <a:rPr sz="980" b="0" dirty="0" err="1">
                <a:solidFill>
                  <a:srgbClr val="1F2937"/>
                </a:solidFill>
                <a:latin typeface="Arial"/>
              </a:rPr>
              <a:t>hai</a:t>
            </a:r>
            <a:r>
              <a:rPr sz="980" b="0" dirty="0">
                <a:solidFill>
                  <a:srgbClr val="1F2937"/>
                </a:solidFill>
                <a:latin typeface="Arial"/>
              </a:rPr>
              <a:t> </a:t>
            </a:r>
            <a:r>
              <a:rPr sz="980" b="0" dirty="0" err="1">
                <a:solidFill>
                  <a:srgbClr val="1F2937"/>
                </a:solidFill>
                <a:latin typeface="Arial"/>
              </a:rPr>
              <a:t>lớp</a:t>
            </a:r>
            <a:r>
              <a:rPr sz="980" b="0" dirty="0">
                <a:solidFill>
                  <a:srgbClr val="1F2937"/>
                </a:solidFill>
                <a:latin typeface="Arial"/>
              </a:rPr>
              <a:t> </a:t>
            </a:r>
            <a:r>
              <a:rPr sz="980" b="0" dirty="0" err="1">
                <a:solidFill>
                  <a:srgbClr val="1F2937"/>
                </a:solidFill>
                <a:latin typeface="Arial"/>
              </a:rPr>
              <a:t>vẫn</a:t>
            </a:r>
            <a:r>
              <a:rPr sz="980" b="0" dirty="0">
                <a:solidFill>
                  <a:srgbClr val="1F2937"/>
                </a:solidFill>
                <a:latin typeface="Arial"/>
              </a:rPr>
              <a:t> </a:t>
            </a:r>
            <a:r>
              <a:rPr sz="980" b="0" dirty="0" err="1">
                <a:solidFill>
                  <a:srgbClr val="1F2937"/>
                </a:solidFill>
                <a:latin typeface="Arial"/>
              </a:rPr>
              <a:t>chồng</a:t>
            </a:r>
            <a:r>
              <a:rPr sz="980" b="0" dirty="0">
                <a:solidFill>
                  <a:srgbClr val="1F2937"/>
                </a:solidFill>
                <a:latin typeface="Arial"/>
              </a:rPr>
              <a:t> </a:t>
            </a:r>
            <a:r>
              <a:rPr sz="980" b="0" dirty="0" err="1">
                <a:solidFill>
                  <a:srgbClr val="1F2937"/>
                </a:solidFill>
                <a:latin typeface="Arial"/>
              </a:rPr>
              <a:t>lấn</a:t>
            </a:r>
            <a:r>
              <a:rPr sz="980" b="0" dirty="0">
                <a:solidFill>
                  <a:srgbClr val="1F2937"/>
                </a:solidFill>
                <a:latin typeface="Arial"/>
              </a:rPr>
              <a:t> </a:t>
            </a:r>
            <a:r>
              <a:rPr sz="980" b="0" dirty="0" err="1">
                <a:solidFill>
                  <a:srgbClr val="1F2937"/>
                </a:solidFill>
                <a:latin typeface="Arial"/>
              </a:rPr>
              <a:t>đáng</a:t>
            </a:r>
            <a:r>
              <a:rPr sz="980" b="0" dirty="0">
                <a:solidFill>
                  <a:srgbClr val="1F2937"/>
                </a:solidFill>
                <a:latin typeface="Arial"/>
              </a:rPr>
              <a:t> </a:t>
            </a:r>
            <a:r>
              <a:rPr sz="980" b="0" dirty="0" err="1">
                <a:solidFill>
                  <a:srgbClr val="1F2937"/>
                </a:solidFill>
                <a:latin typeface="Arial"/>
              </a:rPr>
              <a:t>kể</a:t>
            </a:r>
            <a:r>
              <a:rPr sz="980" b="0" dirty="0">
                <a:solidFill>
                  <a:srgbClr val="1F2937"/>
                </a:solidFill>
                <a:latin typeface="Arial"/>
              </a:rPr>
              <a:t> </a:t>
            </a:r>
            <a:r>
              <a:rPr sz="980" b="0" dirty="0" err="1">
                <a:solidFill>
                  <a:srgbClr val="1F2937"/>
                </a:solidFill>
                <a:latin typeface="Arial"/>
              </a:rPr>
              <a:t>nên</a:t>
            </a:r>
            <a:r>
              <a:rPr sz="980" b="0" dirty="0">
                <a:solidFill>
                  <a:srgbClr val="1F2937"/>
                </a:solidFill>
                <a:latin typeface="Arial"/>
              </a:rPr>
              <a:t> </a:t>
            </a:r>
            <a:r>
              <a:rPr sz="980" b="0" dirty="0" err="1">
                <a:solidFill>
                  <a:srgbClr val="1F2937"/>
                </a:solidFill>
                <a:latin typeface="Arial"/>
              </a:rPr>
              <a:t>cần</a:t>
            </a:r>
            <a:r>
              <a:rPr sz="980" b="0" dirty="0">
                <a:solidFill>
                  <a:srgbClr val="1F2937"/>
                </a:solidFill>
                <a:latin typeface="Arial"/>
              </a:rPr>
              <a:t> vector </a:t>
            </a:r>
            <a:r>
              <a:rPr sz="980" b="0" dirty="0" err="1">
                <a:solidFill>
                  <a:srgbClr val="1F2937"/>
                </a:solidFill>
                <a:latin typeface="Arial"/>
              </a:rPr>
              <a:t>hóa</a:t>
            </a:r>
            <a:r>
              <a:rPr sz="980" b="0" dirty="0">
                <a:solidFill>
                  <a:srgbClr val="1F2937"/>
                </a:solidFill>
                <a:latin typeface="Arial"/>
              </a:rPr>
              <a:t> </a:t>
            </a:r>
            <a:r>
              <a:rPr sz="980" b="0" dirty="0" err="1">
                <a:solidFill>
                  <a:srgbClr val="1F2937"/>
                </a:solidFill>
                <a:latin typeface="Arial"/>
              </a:rPr>
              <a:t>nội</a:t>
            </a:r>
            <a:r>
              <a:rPr sz="980" b="0" dirty="0">
                <a:solidFill>
                  <a:srgbClr val="1F2937"/>
                </a:solidFill>
                <a:latin typeface="Arial"/>
              </a:rPr>
              <a:t> dung </a:t>
            </a:r>
            <a:r>
              <a:rPr sz="980" b="0" dirty="0" err="1">
                <a:solidFill>
                  <a:srgbClr val="1F2937"/>
                </a:solidFill>
                <a:latin typeface="Arial"/>
              </a:rPr>
              <a:t>chứ</a:t>
            </a:r>
            <a:r>
              <a:rPr sz="980" b="0" dirty="0">
                <a:solidFill>
                  <a:srgbClr val="1F2937"/>
                </a:solidFill>
                <a:latin typeface="Arial"/>
              </a:rPr>
              <a:t> </a:t>
            </a:r>
            <a:r>
              <a:rPr sz="980" b="0" dirty="0" err="1">
                <a:solidFill>
                  <a:srgbClr val="1F2937"/>
                </a:solidFill>
                <a:latin typeface="Arial"/>
              </a:rPr>
              <a:t>không</a:t>
            </a:r>
            <a:r>
              <a:rPr sz="980" b="0" dirty="0">
                <a:solidFill>
                  <a:srgbClr val="1F2937"/>
                </a:solidFill>
                <a:latin typeface="Arial"/>
              </a:rPr>
              <a:t> </a:t>
            </a:r>
            <a:r>
              <a:rPr sz="980" b="0" dirty="0" err="1">
                <a:solidFill>
                  <a:srgbClr val="1F2937"/>
                </a:solidFill>
                <a:latin typeface="Arial"/>
              </a:rPr>
              <a:t>thể</a:t>
            </a:r>
            <a:r>
              <a:rPr sz="980" b="0" dirty="0">
                <a:solidFill>
                  <a:srgbClr val="1F2937"/>
                </a:solidFill>
                <a:latin typeface="Arial"/>
              </a:rPr>
              <a:t> </a:t>
            </a:r>
            <a:r>
              <a:rPr sz="980" b="0" dirty="0" err="1">
                <a:solidFill>
                  <a:srgbClr val="1F2937"/>
                </a:solidFill>
                <a:latin typeface="Arial"/>
              </a:rPr>
              <a:t>chỉ</a:t>
            </a:r>
            <a:r>
              <a:rPr sz="980" b="0" dirty="0">
                <a:solidFill>
                  <a:srgbClr val="1F2937"/>
                </a:solidFill>
                <a:latin typeface="Arial"/>
              </a:rPr>
              <a:t> </a:t>
            </a:r>
            <a:r>
              <a:rPr sz="980" b="0" dirty="0" err="1">
                <a:solidFill>
                  <a:srgbClr val="1F2937"/>
                </a:solidFill>
                <a:latin typeface="Arial"/>
              </a:rPr>
              <a:t>nhìn</a:t>
            </a:r>
            <a:r>
              <a:rPr sz="980" b="0" dirty="0">
                <a:solidFill>
                  <a:srgbClr val="1F2937"/>
                </a:solidFill>
                <a:latin typeface="Arial"/>
              </a:rPr>
              <a:t> </a:t>
            </a:r>
            <a:r>
              <a:rPr sz="980" b="0" dirty="0" err="1">
                <a:solidFill>
                  <a:srgbClr val="1F2937"/>
                </a:solidFill>
                <a:latin typeface="Arial"/>
              </a:rPr>
              <a:t>độ</a:t>
            </a:r>
            <a:r>
              <a:rPr sz="980" b="0" dirty="0">
                <a:solidFill>
                  <a:srgbClr val="1F2937"/>
                </a:solidFill>
                <a:latin typeface="Arial"/>
              </a:rPr>
              <a:t> </a:t>
            </a:r>
            <a:r>
              <a:rPr sz="980" b="0" dirty="0" err="1">
                <a:solidFill>
                  <a:srgbClr val="1F2937"/>
                </a:solidFill>
                <a:latin typeface="Arial"/>
              </a:rPr>
              <a:t>dài</a:t>
            </a:r>
            <a:r>
              <a:rPr sz="980" b="0" dirty="0">
                <a:solidFill>
                  <a:srgbClr val="1F2937"/>
                </a:solidFill>
                <a:latin typeface="Arial"/>
              </a:rPr>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0F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75488"/>
            <a:ext cx="201168" cy="6382512"/>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8912" y="164592"/>
            <a:ext cx="1417320" cy="292608"/>
          </a:xfrm>
          <a:prstGeom prst="roundRect">
            <a:avLst/>
          </a:prstGeom>
          <a:solidFill>
            <a:srgbClr val="E46A2E"/>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t">
            <a:normAutofit/>
          </a:bodyPr>
          <a:lstStyle/>
          <a:p>
            <a:pPr algn="ctr">
              <a:lnSpc>
                <a:spcPct val="112000"/>
              </a:lnSpc>
              <a:spcAft>
                <a:spcPts val="400"/>
              </a:spcAft>
            </a:pPr>
            <a:r>
              <a:rPr sz="1200" b="1">
                <a:solidFill>
                  <a:srgbClr val="FFFFFF"/>
                </a:solidFill>
                <a:latin typeface="Arial"/>
              </a:rPr>
              <a:t>CHƯƠNG 4</a:t>
            </a:r>
          </a:p>
        </p:txBody>
      </p:sp>
      <p:sp>
        <p:nvSpPr>
          <p:cNvPr id="5" name="TextBox 4"/>
          <p:cNvSpPr txBox="1"/>
          <p:nvPr/>
        </p:nvSpPr>
        <p:spPr>
          <a:xfrm>
            <a:off x="502920" y="658368"/>
            <a:ext cx="8138160" cy="475488"/>
          </a:xfrm>
          <a:prstGeom prst="rect">
            <a:avLst/>
          </a:prstGeom>
          <a:noFill/>
        </p:spPr>
        <p:txBody>
          <a:bodyPr wrap="square" lIns="0" tIns="0" rIns="0" bIns="0" anchor="t">
            <a:normAutofit/>
          </a:bodyPr>
          <a:lstStyle/>
          <a:p>
            <a:pPr algn="l">
              <a:lnSpc>
                <a:spcPct val="112000"/>
              </a:lnSpc>
              <a:spcAft>
                <a:spcPts val="400"/>
              </a:spcAft>
            </a:pPr>
            <a:r>
              <a:rPr sz="2400" b="1">
                <a:solidFill>
                  <a:srgbClr val="0F2747"/>
                </a:solidFill>
                <a:latin typeface="Arial"/>
              </a:rPr>
              <a:t>Phân bố lớp và cách chia train/test</a:t>
            </a:r>
          </a:p>
        </p:txBody>
      </p:sp>
      <p:sp>
        <p:nvSpPr>
          <p:cNvPr id="7" name="TextBox 6"/>
          <p:cNvSpPr txBox="1"/>
          <p:nvPr/>
        </p:nvSpPr>
        <p:spPr>
          <a:xfrm>
            <a:off x="502920" y="6446520"/>
            <a:ext cx="10789920" cy="164592"/>
          </a:xfrm>
          <a:prstGeom prst="rect">
            <a:avLst/>
          </a:prstGeom>
          <a:noFill/>
        </p:spPr>
        <p:txBody>
          <a:bodyPr wrap="square" lIns="0" tIns="0" rIns="0" bIns="0" anchor="t">
            <a:normAutofit/>
          </a:bodyPr>
          <a:lstStyle/>
          <a:p>
            <a:pPr algn="l">
              <a:lnSpc>
                <a:spcPct val="112000"/>
              </a:lnSpc>
              <a:spcAft>
                <a:spcPts val="400"/>
              </a:spcAft>
            </a:pPr>
            <a:r>
              <a:rPr sz="850" b="0">
                <a:solidFill>
                  <a:srgbClr val="5B677A"/>
                </a:solidFill>
                <a:latin typeface="Arial"/>
              </a:rPr>
              <a:t>Xây dựng hệ thống phát hiện và lọc spam email | Đồ án Truy hồi thông tin | Trang 26</a:t>
            </a:r>
          </a:p>
        </p:txBody>
      </p:sp>
      <p:sp>
        <p:nvSpPr>
          <p:cNvPr id="8" name="Rounded Rectangle 7"/>
          <p:cNvSpPr/>
          <p:nvPr/>
        </p:nvSpPr>
        <p:spPr>
          <a:xfrm>
            <a:off x="502920" y="1417320"/>
            <a:ext cx="5074920" cy="4709160"/>
          </a:xfrm>
          <a:prstGeom prst="roundRect">
            <a:avLst/>
          </a:prstGeom>
          <a:solidFill>
            <a:srgbClr val="FFFF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normAutofit/>
          </a:bodyPr>
          <a:lstStyle/>
          <a:p>
            <a:pPr algn="l">
              <a:lnSpc>
                <a:spcPct val="112000"/>
              </a:lnSpc>
              <a:spcAft>
                <a:spcPts val="400"/>
              </a:spcAft>
            </a:pPr>
            <a:r>
              <a:rPr sz="1370" b="0">
                <a:solidFill>
                  <a:srgbClr val="1F2937"/>
                </a:solidFill>
                <a:latin typeface="Arial"/>
              </a:rPr>
              <a:t>Biểu đồ bên phải cho thấy dữ liệu thực nghiệm có lệch lớp vừa phải: ham nhiều hơn spam nhưng chưa quá nghiêm trọng.</a:t>
            </a:r>
          </a:p>
          <a:p>
            <a:pPr algn="l">
              <a:lnSpc>
                <a:spcPct val="112000"/>
              </a:lnSpc>
              <a:spcAft>
                <a:spcPts val="400"/>
              </a:spcAft>
            </a:pPr>
            <a:r>
              <a:rPr sz="1370" b="0">
                <a:solidFill>
                  <a:srgbClr val="1F2937"/>
                </a:solidFill>
                <a:latin typeface="Arial"/>
              </a:rPr>
              <a:t>• Sau khi chia train/test bằng stratify, tỉ lệ ham/spam giữa hai tập gần như được giữ nguyên.</a:t>
            </a:r>
          </a:p>
          <a:p>
            <a:pPr algn="l">
              <a:lnSpc>
                <a:spcPct val="112000"/>
              </a:lnSpc>
              <a:spcAft>
                <a:spcPts val="400"/>
              </a:spcAft>
            </a:pPr>
            <a:r>
              <a:rPr sz="1370" b="0">
                <a:solidFill>
                  <a:srgbClr val="1F2937"/>
                </a:solidFill>
                <a:latin typeface="Arial"/>
              </a:rPr>
              <a:t>• việc giữ nguyên tỉ lệ lớp giúp so sánh các mô hình công bằng hơn. Mọi benchmark trong báo cáo đều được thực hiện trên cùng cấu hình chia dữ liệu này.</a:t>
            </a:r>
          </a:p>
        </p:txBody>
      </p:sp>
      <p:sp>
        <p:nvSpPr>
          <p:cNvPr id="9" name="Rounded Rectangle 8"/>
          <p:cNvSpPr/>
          <p:nvPr/>
        </p:nvSpPr>
        <p:spPr>
          <a:xfrm>
            <a:off x="5806440" y="1554480"/>
            <a:ext cx="2743200" cy="3383280"/>
          </a:xfrm>
          <a:prstGeom prst="roundRect">
            <a:avLst/>
          </a:prstGeom>
          <a:solidFill>
            <a:srgbClr val="FFFFFF"/>
          </a:solidFill>
          <a:ln>
            <a:solidFill>
              <a:srgbClr val="D6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report_fig2.png"/>
          <p:cNvPicPr>
            <a:picLocks noChangeAspect="1"/>
          </p:cNvPicPr>
          <p:nvPr/>
        </p:nvPicPr>
        <p:blipFill>
          <a:blip r:embed="rId2"/>
          <a:stretch>
            <a:fillRect/>
          </a:stretch>
        </p:blipFill>
        <p:spPr>
          <a:xfrm>
            <a:off x="5806440" y="2454069"/>
            <a:ext cx="2743200" cy="1584101"/>
          </a:xfrm>
          <a:prstGeom prst="rect">
            <a:avLst/>
          </a:prstGeom>
        </p:spPr>
      </p:pic>
      <p:sp>
        <p:nvSpPr>
          <p:cNvPr id="11" name="Rounded Rectangle 10"/>
          <p:cNvSpPr/>
          <p:nvPr/>
        </p:nvSpPr>
        <p:spPr>
          <a:xfrm>
            <a:off x="5806440" y="5029200"/>
            <a:ext cx="2743200" cy="566928"/>
          </a:xfrm>
          <a:prstGeom prst="roundRect">
            <a:avLst/>
          </a:prstGeom>
          <a:solidFill>
            <a:srgbClr val="EAF2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t">
            <a:normAutofit/>
          </a:bodyPr>
          <a:lstStyle/>
          <a:p>
            <a:pPr algn="l">
              <a:lnSpc>
                <a:spcPct val="112000"/>
              </a:lnSpc>
              <a:spcAft>
                <a:spcPts val="400"/>
              </a:spcAft>
            </a:pPr>
            <a:r>
              <a:rPr sz="1000" b="0">
                <a:solidFill>
                  <a:srgbClr val="1F2937"/>
                </a:solidFill>
                <a:latin typeface="Arial"/>
              </a:rPr>
              <a:t>Hình 2: phân bố ham/spam của tập dữ liệu dùng trong thực nghiệm.</a:t>
            </a:r>
          </a:p>
        </p:txBody>
      </p:sp>
      <p:sp>
        <p:nvSpPr>
          <p:cNvPr id="12" name="Rounded Rectangle 11"/>
          <p:cNvSpPr/>
          <p:nvPr/>
        </p:nvSpPr>
        <p:spPr>
          <a:xfrm>
            <a:off x="8641080" y="1554480"/>
            <a:ext cx="2743200" cy="3383280"/>
          </a:xfrm>
          <a:prstGeom prst="roundRect">
            <a:avLst/>
          </a:prstGeom>
          <a:solidFill>
            <a:srgbClr val="FFFFFF"/>
          </a:solidFill>
          <a:ln>
            <a:solidFill>
              <a:srgbClr val="D6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report_fig3.png"/>
          <p:cNvPicPr>
            <a:picLocks noChangeAspect="1"/>
          </p:cNvPicPr>
          <p:nvPr/>
        </p:nvPicPr>
        <p:blipFill>
          <a:blip r:embed="rId3"/>
          <a:stretch>
            <a:fillRect/>
          </a:stretch>
        </p:blipFill>
        <p:spPr>
          <a:xfrm>
            <a:off x="8641080" y="2475769"/>
            <a:ext cx="2743200" cy="1540701"/>
          </a:xfrm>
          <a:prstGeom prst="rect">
            <a:avLst/>
          </a:prstGeom>
        </p:spPr>
      </p:pic>
      <p:sp>
        <p:nvSpPr>
          <p:cNvPr id="14" name="Rounded Rectangle 13"/>
          <p:cNvSpPr/>
          <p:nvPr/>
        </p:nvSpPr>
        <p:spPr>
          <a:xfrm>
            <a:off x="8641080" y="5029200"/>
            <a:ext cx="2743200" cy="566928"/>
          </a:xfrm>
          <a:prstGeom prst="roundRect">
            <a:avLst/>
          </a:prstGeom>
          <a:solidFill>
            <a:srgbClr val="EAF2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t">
            <a:normAutofit/>
          </a:bodyPr>
          <a:lstStyle/>
          <a:p>
            <a:pPr algn="l">
              <a:lnSpc>
                <a:spcPct val="112000"/>
              </a:lnSpc>
              <a:spcAft>
                <a:spcPts val="400"/>
              </a:spcAft>
            </a:pPr>
            <a:r>
              <a:rPr sz="1000" b="0">
                <a:solidFill>
                  <a:srgbClr val="1F2937"/>
                </a:solidFill>
                <a:latin typeface="Arial"/>
              </a:rPr>
              <a:t>Hình 3: phân bố train/test sau khi chia dữ liệu theo stratify.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0F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75488"/>
            <a:ext cx="201168" cy="6382512"/>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8912" y="164592"/>
            <a:ext cx="1417320" cy="292608"/>
          </a:xfrm>
          <a:prstGeom prst="roundRect">
            <a:avLst/>
          </a:prstGeom>
          <a:solidFill>
            <a:srgbClr val="E46A2E"/>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t">
            <a:normAutofit/>
          </a:bodyPr>
          <a:lstStyle/>
          <a:p>
            <a:pPr algn="ctr">
              <a:lnSpc>
                <a:spcPct val="112000"/>
              </a:lnSpc>
              <a:spcAft>
                <a:spcPts val="400"/>
              </a:spcAft>
            </a:pPr>
            <a:r>
              <a:rPr sz="1200" b="1">
                <a:solidFill>
                  <a:srgbClr val="FFFFFF"/>
                </a:solidFill>
                <a:latin typeface="Arial"/>
              </a:rPr>
              <a:t>CHƯƠNG 4</a:t>
            </a:r>
          </a:p>
        </p:txBody>
      </p:sp>
      <p:sp>
        <p:nvSpPr>
          <p:cNvPr id="5" name="TextBox 4"/>
          <p:cNvSpPr txBox="1"/>
          <p:nvPr/>
        </p:nvSpPr>
        <p:spPr>
          <a:xfrm>
            <a:off x="502920" y="658368"/>
            <a:ext cx="8138160" cy="475488"/>
          </a:xfrm>
          <a:prstGeom prst="rect">
            <a:avLst/>
          </a:prstGeom>
          <a:noFill/>
        </p:spPr>
        <p:txBody>
          <a:bodyPr wrap="square" lIns="0" tIns="0" rIns="0" bIns="0" anchor="t">
            <a:normAutofit/>
          </a:bodyPr>
          <a:lstStyle/>
          <a:p>
            <a:pPr algn="l">
              <a:lnSpc>
                <a:spcPct val="112000"/>
              </a:lnSpc>
              <a:spcAft>
                <a:spcPts val="400"/>
              </a:spcAft>
            </a:pPr>
            <a:r>
              <a:rPr sz="2400" b="1">
                <a:solidFill>
                  <a:srgbClr val="0F2747"/>
                </a:solidFill>
                <a:latin typeface="Arial"/>
              </a:rPr>
              <a:t>Thiết lập thực nghiệm và dải tham số</a:t>
            </a:r>
          </a:p>
        </p:txBody>
      </p:sp>
      <p:sp>
        <p:nvSpPr>
          <p:cNvPr id="6" name="TextBox 5"/>
          <p:cNvSpPr txBox="1"/>
          <p:nvPr/>
        </p:nvSpPr>
        <p:spPr>
          <a:xfrm>
            <a:off x="521207" y="1078992"/>
            <a:ext cx="10058400" cy="292608"/>
          </a:xfrm>
          <a:prstGeom prst="rect">
            <a:avLst/>
          </a:prstGeom>
          <a:noFill/>
        </p:spPr>
        <p:txBody>
          <a:bodyPr wrap="square" lIns="0" tIns="0" rIns="0" bIns="0" anchor="t">
            <a:normAutofit/>
          </a:bodyPr>
          <a:lstStyle/>
          <a:p>
            <a:pPr algn="l">
              <a:lnSpc>
                <a:spcPct val="112000"/>
              </a:lnSpc>
              <a:spcAft>
                <a:spcPts val="400"/>
              </a:spcAft>
            </a:pPr>
            <a:r>
              <a:rPr sz="1050" b="0">
                <a:solidFill>
                  <a:srgbClr val="5B677A"/>
                </a:solidFill>
                <a:latin typeface="Arial"/>
              </a:rPr>
              <a:t>Kết quả benchmark được tạo ra trên cùng một quy trình thực nghiệm nên có thể so sánh trực tiếp</a:t>
            </a:r>
          </a:p>
        </p:txBody>
      </p:sp>
      <p:sp>
        <p:nvSpPr>
          <p:cNvPr id="7" name="TextBox 6"/>
          <p:cNvSpPr txBox="1"/>
          <p:nvPr/>
        </p:nvSpPr>
        <p:spPr>
          <a:xfrm>
            <a:off x="502920" y="6446520"/>
            <a:ext cx="10789920" cy="164592"/>
          </a:xfrm>
          <a:prstGeom prst="rect">
            <a:avLst/>
          </a:prstGeom>
          <a:noFill/>
        </p:spPr>
        <p:txBody>
          <a:bodyPr wrap="square" lIns="0" tIns="0" rIns="0" bIns="0" anchor="t">
            <a:normAutofit/>
          </a:bodyPr>
          <a:lstStyle/>
          <a:p>
            <a:pPr algn="l">
              <a:lnSpc>
                <a:spcPct val="112000"/>
              </a:lnSpc>
              <a:spcAft>
                <a:spcPts val="400"/>
              </a:spcAft>
            </a:pPr>
            <a:r>
              <a:rPr sz="850" b="0">
                <a:solidFill>
                  <a:srgbClr val="5B677A"/>
                </a:solidFill>
                <a:latin typeface="Arial"/>
              </a:rPr>
              <a:t>Xây dựng hệ thống phát hiện và lọc spam email | Đồ án Truy hồi thông tin | Trang 27</a:t>
            </a:r>
          </a:p>
        </p:txBody>
      </p:sp>
      <p:graphicFrame>
        <p:nvGraphicFramePr>
          <p:cNvPr id="8" name="Table 7"/>
          <p:cNvGraphicFramePr>
            <a:graphicFrameLocks noGrp="1"/>
          </p:cNvGraphicFramePr>
          <p:nvPr/>
        </p:nvGraphicFramePr>
        <p:xfrm>
          <a:off x="502920" y="1554480"/>
          <a:ext cx="11155680" cy="4297680"/>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20000"/>
                    </a:ext>
                  </a:extLst>
                </a:gridCol>
                <a:gridCol w="8321040">
                  <a:extLst>
                    <a:ext uri="{9D8B030D-6E8A-4147-A177-3AD203B41FA5}">
                      <a16:colId xmlns:a16="http://schemas.microsoft.com/office/drawing/2014/main" val="20001"/>
                    </a:ext>
                  </a:extLst>
                </a:gridCol>
              </a:tblGrid>
              <a:tr h="429768">
                <a:tc>
                  <a:txBody>
                    <a:bodyPr/>
                    <a:lstStyle/>
                    <a:p>
                      <a:pPr algn="l"/>
                      <a:r>
                        <a:rPr sz="1080" b="1">
                          <a:solidFill>
                            <a:srgbClr val="FFFFFF"/>
                          </a:solidFill>
                          <a:latin typeface="Arial"/>
                        </a:rPr>
                        <a:t>Thành phần</a:t>
                      </a:r>
                    </a:p>
                  </a:txBody>
                  <a:tcPr marL="54864" marR="54864" marT="27432" marB="27432" anchor="ctr">
                    <a:solidFill>
                      <a:srgbClr val="0F2747"/>
                    </a:solidFill>
                  </a:tcPr>
                </a:tc>
                <a:tc>
                  <a:txBody>
                    <a:bodyPr/>
                    <a:lstStyle/>
                    <a:p>
                      <a:pPr algn="l"/>
                      <a:r>
                        <a:rPr sz="1080" b="1">
                          <a:solidFill>
                            <a:srgbClr val="FFFFFF"/>
                          </a:solidFill>
                          <a:latin typeface="Arial"/>
                        </a:rPr>
                        <a:t>Thiết lập</a:t>
                      </a:r>
                    </a:p>
                  </a:txBody>
                  <a:tcPr marL="54864" marR="54864" marT="27432" marB="27432" anchor="ctr">
                    <a:solidFill>
                      <a:srgbClr val="0F2747"/>
                    </a:solidFill>
                  </a:tcPr>
                </a:tc>
                <a:extLst>
                  <a:ext uri="{0D108BD9-81ED-4DB2-BD59-A6C34878D82A}">
                    <a16:rowId xmlns:a16="http://schemas.microsoft.com/office/drawing/2014/main" val="10000"/>
                  </a:ext>
                </a:extLst>
              </a:tr>
              <a:tr h="429768">
                <a:tc>
                  <a:txBody>
                    <a:bodyPr/>
                    <a:lstStyle/>
                    <a:p>
                      <a:pPr algn="l"/>
                      <a:r>
                        <a:rPr sz="1030" b="0">
                          <a:solidFill>
                            <a:srgbClr val="1F2937"/>
                          </a:solidFill>
                          <a:latin typeface="Arial"/>
                        </a:rPr>
                        <a:t>Train/Test split</a:t>
                      </a:r>
                    </a:p>
                  </a:txBody>
                  <a:tcPr marL="54864" marR="54864" marT="27432" marB="27432" anchor="ctr">
                    <a:solidFill>
                      <a:srgbClr val="EEF2F8"/>
                    </a:solidFill>
                  </a:tcPr>
                </a:tc>
                <a:tc>
                  <a:txBody>
                    <a:bodyPr/>
                    <a:lstStyle/>
                    <a:p>
                      <a:pPr algn="l"/>
                      <a:r>
                        <a:rPr sz="1030" b="0">
                          <a:solidFill>
                            <a:srgbClr val="1F2937"/>
                          </a:solidFill>
                          <a:latin typeface="Arial"/>
                        </a:rPr>
                        <a:t>test_size=0.2, stratify=y, random_state=42 -&gt; train=4552, test=1139</a:t>
                      </a:r>
                    </a:p>
                  </a:txBody>
                  <a:tcPr marL="54864" marR="54864" marT="27432" marB="27432" anchor="ctr">
                    <a:solidFill>
                      <a:srgbClr val="EEF2F8"/>
                    </a:solidFill>
                  </a:tcPr>
                </a:tc>
                <a:extLst>
                  <a:ext uri="{0D108BD9-81ED-4DB2-BD59-A6C34878D82A}">
                    <a16:rowId xmlns:a16="http://schemas.microsoft.com/office/drawing/2014/main" val="10001"/>
                  </a:ext>
                </a:extLst>
              </a:tr>
              <a:tr h="429768">
                <a:tc>
                  <a:txBody>
                    <a:bodyPr/>
                    <a:lstStyle/>
                    <a:p>
                      <a:pPr algn="l"/>
                      <a:r>
                        <a:rPr sz="1030" b="0">
                          <a:solidFill>
                            <a:srgbClr val="1F2937"/>
                          </a:solidFill>
                          <a:latin typeface="Arial"/>
                        </a:rPr>
                        <a:t>TF-IDF</a:t>
                      </a:r>
                    </a:p>
                  </a:txBody>
                  <a:tcPr marL="54864" marR="54864" marT="27432" marB="27432" anchor="ctr">
                    <a:solidFill>
                      <a:srgbClr val="FFFFFF"/>
                    </a:solidFill>
                  </a:tcPr>
                </a:tc>
                <a:tc>
                  <a:txBody>
                    <a:bodyPr/>
                    <a:lstStyle/>
                    <a:p>
                      <a:pPr algn="l"/>
                      <a:r>
                        <a:rPr sz="1030" b="0">
                          <a:solidFill>
                            <a:srgbClr val="1F2937"/>
                          </a:solidFill>
                          <a:latin typeface="Arial"/>
                        </a:rPr>
                        <a:t>ngram_range=(1,2), min_df=2, max_df=0.95, sublinear_tf=True, norm=l2</a:t>
                      </a:r>
                    </a:p>
                  </a:txBody>
                  <a:tcPr marL="54864" marR="54864" marT="27432" marB="27432" anchor="ctr">
                    <a:solidFill>
                      <a:srgbClr val="FFFFFF"/>
                    </a:solidFill>
                  </a:tcPr>
                </a:tc>
                <a:extLst>
                  <a:ext uri="{0D108BD9-81ED-4DB2-BD59-A6C34878D82A}">
                    <a16:rowId xmlns:a16="http://schemas.microsoft.com/office/drawing/2014/main" val="10002"/>
                  </a:ext>
                </a:extLst>
              </a:tr>
              <a:tr h="429768">
                <a:tc>
                  <a:txBody>
                    <a:bodyPr/>
                    <a:lstStyle/>
                    <a:p>
                      <a:pPr algn="l"/>
                      <a:r>
                        <a:rPr sz="1030" b="0">
                          <a:solidFill>
                            <a:srgbClr val="1F2937"/>
                          </a:solidFill>
                          <a:latin typeface="Arial"/>
                        </a:rPr>
                        <a:t>Stopword</a:t>
                      </a:r>
                    </a:p>
                  </a:txBody>
                  <a:tcPr marL="54864" marR="54864" marT="27432" marB="27432" anchor="ctr">
                    <a:solidFill>
                      <a:srgbClr val="EEF2F8"/>
                    </a:solidFill>
                  </a:tcPr>
                </a:tc>
                <a:tc>
                  <a:txBody>
                    <a:bodyPr/>
                    <a:lstStyle/>
                    <a:p>
                      <a:pPr algn="l"/>
                      <a:r>
                        <a:rPr sz="1030" b="0">
                          <a:solidFill>
                            <a:srgbClr val="1F2937"/>
                          </a:solidFill>
                          <a:latin typeface="Arial"/>
                        </a:rPr>
                        <a:t>English stopwords + 62 stopword tiếng Việt</a:t>
                      </a:r>
                    </a:p>
                  </a:txBody>
                  <a:tcPr marL="54864" marR="54864" marT="27432" marB="27432" anchor="ctr">
                    <a:solidFill>
                      <a:srgbClr val="EEF2F8"/>
                    </a:solidFill>
                  </a:tcPr>
                </a:tc>
                <a:extLst>
                  <a:ext uri="{0D108BD9-81ED-4DB2-BD59-A6C34878D82A}">
                    <a16:rowId xmlns:a16="http://schemas.microsoft.com/office/drawing/2014/main" val="10003"/>
                  </a:ext>
                </a:extLst>
              </a:tr>
              <a:tr h="429768">
                <a:tc>
                  <a:txBody>
                    <a:bodyPr/>
                    <a:lstStyle/>
                    <a:p>
                      <a:pPr algn="l"/>
                      <a:r>
                        <a:rPr sz="1030" b="0">
                          <a:solidFill>
                            <a:srgbClr val="1F2937"/>
                          </a:solidFill>
                          <a:latin typeface="Arial"/>
                        </a:rPr>
                        <a:t>SVM feature sweep</a:t>
                      </a:r>
                    </a:p>
                  </a:txBody>
                  <a:tcPr marL="54864" marR="54864" marT="27432" marB="27432" anchor="ctr">
                    <a:solidFill>
                      <a:srgbClr val="FFFFFF"/>
                    </a:solidFill>
                  </a:tcPr>
                </a:tc>
                <a:tc>
                  <a:txBody>
                    <a:bodyPr/>
                    <a:lstStyle/>
                    <a:p>
                      <a:pPr algn="l"/>
                      <a:r>
                        <a:rPr sz="1030" b="0">
                          <a:solidFill>
                            <a:srgbClr val="1F2937"/>
                          </a:solidFill>
                          <a:latin typeface="Arial"/>
                        </a:rPr>
                        <a:t>EXPERIMENTS = {word_1_2, char_3_5}; cấu hình thắng là word_1_2</a:t>
                      </a:r>
                    </a:p>
                  </a:txBody>
                  <a:tcPr marL="54864" marR="54864" marT="27432" marB="27432" anchor="ctr">
                    <a:solidFill>
                      <a:srgbClr val="FFFFFF"/>
                    </a:solidFill>
                  </a:tcPr>
                </a:tc>
                <a:extLst>
                  <a:ext uri="{0D108BD9-81ED-4DB2-BD59-A6C34878D82A}">
                    <a16:rowId xmlns:a16="http://schemas.microsoft.com/office/drawing/2014/main" val="10004"/>
                  </a:ext>
                </a:extLst>
              </a:tr>
              <a:tr h="429768">
                <a:tc>
                  <a:txBody>
                    <a:bodyPr/>
                    <a:lstStyle/>
                    <a:p>
                      <a:pPr algn="l"/>
                      <a:r>
                        <a:rPr sz="1030" b="0">
                          <a:solidFill>
                            <a:srgbClr val="1F2937"/>
                          </a:solidFill>
                          <a:latin typeface="Arial"/>
                        </a:rPr>
                        <a:t>NB grid</a:t>
                      </a:r>
                    </a:p>
                  </a:txBody>
                  <a:tcPr marL="54864" marR="54864" marT="27432" marB="27432" anchor="ctr">
                    <a:solidFill>
                      <a:srgbClr val="EEF2F8"/>
                    </a:solidFill>
                  </a:tcPr>
                </a:tc>
                <a:tc>
                  <a:txBody>
                    <a:bodyPr/>
                    <a:lstStyle/>
                    <a:p>
                      <a:pPr algn="l"/>
                      <a:r>
                        <a:rPr sz="1030" b="0">
                          <a:solidFill>
                            <a:srgbClr val="1F2937"/>
                          </a:solidFill>
                          <a:latin typeface="Arial"/>
                        </a:rPr>
                        <a:t>alpha = [0.1, 0.5, 1.0]</a:t>
                      </a:r>
                    </a:p>
                  </a:txBody>
                  <a:tcPr marL="54864" marR="54864" marT="27432" marB="27432" anchor="ctr">
                    <a:solidFill>
                      <a:srgbClr val="EEF2F8"/>
                    </a:solidFill>
                  </a:tcPr>
                </a:tc>
                <a:extLst>
                  <a:ext uri="{0D108BD9-81ED-4DB2-BD59-A6C34878D82A}">
                    <a16:rowId xmlns:a16="http://schemas.microsoft.com/office/drawing/2014/main" val="10005"/>
                  </a:ext>
                </a:extLst>
              </a:tr>
              <a:tr h="429768">
                <a:tc>
                  <a:txBody>
                    <a:bodyPr/>
                    <a:lstStyle/>
                    <a:p>
                      <a:pPr algn="l"/>
                      <a:r>
                        <a:rPr sz="1030" b="0">
                          <a:solidFill>
                            <a:srgbClr val="1F2937"/>
                          </a:solidFill>
                          <a:latin typeface="Arial"/>
                        </a:rPr>
                        <a:t>SVM grid</a:t>
                      </a:r>
                    </a:p>
                  </a:txBody>
                  <a:tcPr marL="54864" marR="54864" marT="27432" marB="27432" anchor="ctr">
                    <a:solidFill>
                      <a:srgbClr val="FFFFFF"/>
                    </a:solidFill>
                  </a:tcPr>
                </a:tc>
                <a:tc>
                  <a:txBody>
                    <a:bodyPr/>
                    <a:lstStyle/>
                    <a:p>
                      <a:pPr algn="l"/>
                      <a:r>
                        <a:rPr sz="1030" b="0">
                          <a:solidFill>
                            <a:srgbClr val="1F2937"/>
                          </a:solidFill>
                          <a:latin typeface="Arial"/>
                        </a:rPr>
                        <a:t>C = [0.1, 1.0, 3.0, 10.0]</a:t>
                      </a:r>
                    </a:p>
                  </a:txBody>
                  <a:tcPr marL="54864" marR="54864" marT="27432" marB="27432" anchor="ctr">
                    <a:solidFill>
                      <a:srgbClr val="FFFFFF"/>
                    </a:solidFill>
                  </a:tcPr>
                </a:tc>
                <a:extLst>
                  <a:ext uri="{0D108BD9-81ED-4DB2-BD59-A6C34878D82A}">
                    <a16:rowId xmlns:a16="http://schemas.microsoft.com/office/drawing/2014/main" val="10006"/>
                  </a:ext>
                </a:extLst>
              </a:tr>
              <a:tr h="429768">
                <a:tc>
                  <a:txBody>
                    <a:bodyPr/>
                    <a:lstStyle/>
                    <a:p>
                      <a:pPr algn="l"/>
                      <a:r>
                        <a:rPr sz="1030" b="0">
                          <a:solidFill>
                            <a:srgbClr val="1F2937"/>
                          </a:solidFill>
                          <a:latin typeface="Arial"/>
                        </a:rPr>
                        <a:t>RF grid</a:t>
                      </a:r>
                    </a:p>
                  </a:txBody>
                  <a:tcPr marL="54864" marR="54864" marT="27432" marB="27432" anchor="ctr">
                    <a:solidFill>
                      <a:srgbClr val="EEF2F8"/>
                    </a:solidFill>
                  </a:tcPr>
                </a:tc>
                <a:tc>
                  <a:txBody>
                    <a:bodyPr/>
                    <a:lstStyle/>
                    <a:p>
                      <a:pPr algn="l"/>
                      <a:r>
                        <a:rPr sz="1030" b="0">
                          <a:solidFill>
                            <a:srgbClr val="1F2937"/>
                          </a:solidFill>
                          <a:latin typeface="Arial"/>
                        </a:rPr>
                        <a:t>n_estimators=[100,200,300], max_depth=[None,10,20], min_samples_split=[2,5], max_features=[sqrt,log2]</a:t>
                      </a:r>
                    </a:p>
                  </a:txBody>
                  <a:tcPr marL="54864" marR="54864" marT="27432" marB="27432" anchor="ctr">
                    <a:solidFill>
                      <a:srgbClr val="EEF2F8"/>
                    </a:solidFill>
                  </a:tcPr>
                </a:tc>
                <a:extLst>
                  <a:ext uri="{0D108BD9-81ED-4DB2-BD59-A6C34878D82A}">
                    <a16:rowId xmlns:a16="http://schemas.microsoft.com/office/drawing/2014/main" val="10007"/>
                  </a:ext>
                </a:extLst>
              </a:tr>
              <a:tr h="429768">
                <a:tc>
                  <a:txBody>
                    <a:bodyPr/>
                    <a:lstStyle/>
                    <a:p>
                      <a:pPr algn="l"/>
                      <a:r>
                        <a:rPr sz="1030" b="0">
                          <a:solidFill>
                            <a:srgbClr val="1F2937"/>
                          </a:solidFill>
                          <a:latin typeface="Arial"/>
                        </a:rPr>
                        <a:t>LR grid</a:t>
                      </a:r>
                    </a:p>
                  </a:txBody>
                  <a:tcPr marL="54864" marR="54864" marT="27432" marB="27432" anchor="ctr">
                    <a:solidFill>
                      <a:srgbClr val="FFFFFF"/>
                    </a:solidFill>
                  </a:tcPr>
                </a:tc>
                <a:tc>
                  <a:txBody>
                    <a:bodyPr/>
                    <a:lstStyle/>
                    <a:p>
                      <a:pPr algn="l"/>
                      <a:r>
                        <a:rPr sz="1030" b="0">
                          <a:solidFill>
                            <a:srgbClr val="1F2937"/>
                          </a:solidFill>
                          <a:latin typeface="Arial"/>
                        </a:rPr>
                        <a:t>C=[0.1,1.0,10.0], solver=[lbfgs,liblinear], max_iter=[1000]</a:t>
                      </a:r>
                    </a:p>
                  </a:txBody>
                  <a:tcPr marL="54864" marR="54864" marT="27432" marB="27432" anchor="ctr">
                    <a:solidFill>
                      <a:srgbClr val="FFFFFF"/>
                    </a:solidFill>
                  </a:tcPr>
                </a:tc>
                <a:extLst>
                  <a:ext uri="{0D108BD9-81ED-4DB2-BD59-A6C34878D82A}">
                    <a16:rowId xmlns:a16="http://schemas.microsoft.com/office/drawing/2014/main" val="10008"/>
                  </a:ext>
                </a:extLst>
              </a:tr>
              <a:tr h="429768">
                <a:tc>
                  <a:txBody>
                    <a:bodyPr/>
                    <a:lstStyle/>
                    <a:p>
                      <a:pPr algn="l"/>
                      <a:r>
                        <a:rPr sz="1030" b="0">
                          <a:solidFill>
                            <a:srgbClr val="1F2937"/>
                          </a:solidFill>
                          <a:latin typeface="Arial"/>
                        </a:rPr>
                        <a:t>CV and metric</a:t>
                      </a:r>
                    </a:p>
                  </a:txBody>
                  <a:tcPr marL="54864" marR="54864" marT="27432" marB="27432" anchor="ctr">
                    <a:solidFill>
                      <a:srgbClr val="EEF2F8"/>
                    </a:solidFill>
                  </a:tcPr>
                </a:tc>
                <a:tc>
                  <a:txBody>
                    <a:bodyPr/>
                    <a:lstStyle/>
                    <a:p>
                      <a:pPr algn="l"/>
                      <a:r>
                        <a:rPr sz="1030" b="0">
                          <a:solidFill>
                            <a:srgbClr val="1F2937"/>
                          </a:solidFill>
                          <a:latin typeface="Arial"/>
                        </a:rPr>
                        <a:t>GridSearchCV(cv=3, scoring='f1', n_jobs=-1)</a:t>
                      </a:r>
                    </a:p>
                  </a:txBody>
                  <a:tcPr marL="54864" marR="54864" marT="27432" marB="27432" anchor="ctr">
                    <a:solidFill>
                      <a:srgbClr val="EEF2F8"/>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0F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75488"/>
            <a:ext cx="201168" cy="6382512"/>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8912" y="164592"/>
            <a:ext cx="1417320" cy="292608"/>
          </a:xfrm>
          <a:prstGeom prst="roundRect">
            <a:avLst/>
          </a:prstGeom>
          <a:solidFill>
            <a:srgbClr val="E46A2E"/>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t">
            <a:normAutofit/>
          </a:bodyPr>
          <a:lstStyle/>
          <a:p>
            <a:pPr algn="ctr">
              <a:lnSpc>
                <a:spcPct val="112000"/>
              </a:lnSpc>
              <a:spcAft>
                <a:spcPts val="400"/>
              </a:spcAft>
            </a:pPr>
            <a:r>
              <a:rPr sz="1200" b="1">
                <a:solidFill>
                  <a:srgbClr val="FFFFFF"/>
                </a:solidFill>
                <a:latin typeface="Arial"/>
              </a:rPr>
              <a:t>CHƯƠNG 4</a:t>
            </a:r>
          </a:p>
        </p:txBody>
      </p:sp>
      <p:sp>
        <p:nvSpPr>
          <p:cNvPr id="5" name="TextBox 4"/>
          <p:cNvSpPr txBox="1"/>
          <p:nvPr/>
        </p:nvSpPr>
        <p:spPr>
          <a:xfrm>
            <a:off x="502920" y="658368"/>
            <a:ext cx="8138160" cy="475488"/>
          </a:xfrm>
          <a:prstGeom prst="rect">
            <a:avLst/>
          </a:prstGeom>
          <a:noFill/>
        </p:spPr>
        <p:txBody>
          <a:bodyPr wrap="square" lIns="0" tIns="0" rIns="0" bIns="0" anchor="t">
            <a:normAutofit/>
          </a:bodyPr>
          <a:lstStyle/>
          <a:p>
            <a:pPr algn="l">
              <a:lnSpc>
                <a:spcPct val="112000"/>
              </a:lnSpc>
              <a:spcAft>
                <a:spcPts val="400"/>
              </a:spcAft>
            </a:pPr>
            <a:r>
              <a:rPr sz="2400" b="1">
                <a:solidFill>
                  <a:srgbClr val="0F2747"/>
                </a:solidFill>
                <a:latin typeface="Arial"/>
              </a:rPr>
              <a:t>Kết quả benchmark tổng quan</a:t>
            </a:r>
          </a:p>
        </p:txBody>
      </p:sp>
      <p:sp>
        <p:nvSpPr>
          <p:cNvPr id="6" name="TextBox 5"/>
          <p:cNvSpPr txBox="1"/>
          <p:nvPr/>
        </p:nvSpPr>
        <p:spPr>
          <a:xfrm>
            <a:off x="521207" y="1078992"/>
            <a:ext cx="10058400" cy="292608"/>
          </a:xfrm>
          <a:prstGeom prst="rect">
            <a:avLst/>
          </a:prstGeom>
          <a:noFill/>
        </p:spPr>
        <p:txBody>
          <a:bodyPr wrap="square" lIns="0" tIns="0" rIns="0" bIns="0" anchor="t">
            <a:normAutofit/>
          </a:bodyPr>
          <a:lstStyle/>
          <a:p>
            <a:pPr algn="l">
              <a:lnSpc>
                <a:spcPct val="112000"/>
              </a:lnSpc>
              <a:spcAft>
                <a:spcPts val="400"/>
              </a:spcAft>
            </a:pPr>
            <a:r>
              <a:rPr sz="1050" b="0">
                <a:solidFill>
                  <a:srgbClr val="5B677A"/>
                </a:solidFill>
                <a:latin typeface="Arial"/>
              </a:rPr>
              <a:t>Biểu đồ này cho thấy rất rõ ưu thế của các mô hình tuyến tính trên dataset hiện có</a:t>
            </a:r>
          </a:p>
        </p:txBody>
      </p:sp>
      <p:sp>
        <p:nvSpPr>
          <p:cNvPr id="7" name="TextBox 6"/>
          <p:cNvSpPr txBox="1"/>
          <p:nvPr/>
        </p:nvSpPr>
        <p:spPr>
          <a:xfrm>
            <a:off x="502920" y="6446520"/>
            <a:ext cx="10789920" cy="164592"/>
          </a:xfrm>
          <a:prstGeom prst="rect">
            <a:avLst/>
          </a:prstGeom>
          <a:noFill/>
        </p:spPr>
        <p:txBody>
          <a:bodyPr wrap="square" lIns="0" tIns="0" rIns="0" bIns="0" anchor="t">
            <a:normAutofit/>
          </a:bodyPr>
          <a:lstStyle/>
          <a:p>
            <a:pPr algn="l">
              <a:lnSpc>
                <a:spcPct val="112000"/>
              </a:lnSpc>
              <a:spcAft>
                <a:spcPts val="400"/>
              </a:spcAft>
            </a:pPr>
            <a:r>
              <a:rPr sz="850" b="0">
                <a:solidFill>
                  <a:srgbClr val="5B677A"/>
                </a:solidFill>
                <a:latin typeface="Arial"/>
              </a:rPr>
              <a:t>Xây dựng hệ thống phát hiện và lọc spam email | Đồ án Truy hồi thông tin | Trang 28</a:t>
            </a:r>
          </a:p>
        </p:txBody>
      </p:sp>
      <p:sp>
        <p:nvSpPr>
          <p:cNvPr id="8" name="Rounded Rectangle 7"/>
          <p:cNvSpPr/>
          <p:nvPr/>
        </p:nvSpPr>
        <p:spPr>
          <a:xfrm>
            <a:off x="502920" y="1417320"/>
            <a:ext cx="5074920" cy="4709160"/>
          </a:xfrm>
          <a:prstGeom prst="roundRect">
            <a:avLst/>
          </a:prstGeom>
          <a:solidFill>
            <a:srgbClr val="FFFF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normAutofit/>
          </a:bodyPr>
          <a:lstStyle/>
          <a:p>
            <a:pPr algn="l">
              <a:lnSpc>
                <a:spcPct val="112000"/>
              </a:lnSpc>
              <a:spcAft>
                <a:spcPts val="400"/>
              </a:spcAft>
            </a:pPr>
            <a:r>
              <a:rPr sz="1400" b="0">
                <a:solidFill>
                  <a:srgbClr val="1F2937"/>
                </a:solidFill>
                <a:latin typeface="Arial"/>
              </a:rPr>
              <a:t>Logistic Regression là mô hình mạnh nhất trên lần chạy hiện tại với Precision_spam=97.98%, Recall_spam=97.98%, F1_spam=97.98% và Accuracy=98.77%.</a:t>
            </a:r>
          </a:p>
          <a:p>
            <a:pPr algn="l">
              <a:lnSpc>
                <a:spcPct val="112000"/>
              </a:lnSpc>
              <a:spcAft>
                <a:spcPts val="400"/>
              </a:spcAft>
            </a:pPr>
            <a:r>
              <a:rPr sz="1400" b="0">
                <a:solidFill>
                  <a:srgbClr val="1F2937"/>
                </a:solidFill>
                <a:latin typeface="Arial"/>
              </a:rPr>
              <a:t>• Linear SVM đứng ngay sau với F1_spam=97.69% và Accuracy=98.60%. Khoảng cách giữa LR và SVM chỉ khoảng 0.29 điểm F1 spam, tức là rất nhỏ.</a:t>
            </a:r>
          </a:p>
          <a:p>
            <a:pPr algn="l">
              <a:lnSpc>
                <a:spcPct val="112000"/>
              </a:lnSpc>
              <a:spcAft>
                <a:spcPts val="400"/>
              </a:spcAft>
            </a:pPr>
            <a:r>
              <a:rPr sz="1400" b="0">
                <a:solidFill>
                  <a:srgbClr val="1F2937"/>
                </a:solidFill>
                <a:latin typeface="Arial"/>
              </a:rPr>
              <a:t>• Naive Bayes đạt Recall_spam=98.56% cao nhất trong ba mô hình mạnh nhất, nhưng Precision_spam thấp hơn nên rủi ro chặn nhầm ham cao hơn LR và SVM.</a:t>
            </a:r>
          </a:p>
          <a:p>
            <a:pPr algn="l">
              <a:lnSpc>
                <a:spcPct val="112000"/>
              </a:lnSpc>
              <a:spcAft>
                <a:spcPts val="400"/>
              </a:spcAft>
            </a:pPr>
            <a:r>
              <a:rPr sz="1400" b="0">
                <a:solidFill>
                  <a:srgbClr val="1F2937"/>
                </a:solidFill>
                <a:latin typeface="Arial"/>
              </a:rPr>
              <a:t>• Keyword baseline chỉ đạt F1_spam=54.35%. Majority baseline gần như vô dụng cho mục tiêu bắt spam vì luôn đoán theo lớp đa số.</a:t>
            </a:r>
          </a:p>
        </p:txBody>
      </p:sp>
      <p:sp>
        <p:nvSpPr>
          <p:cNvPr id="9" name="Rounded Rectangle 8"/>
          <p:cNvSpPr/>
          <p:nvPr/>
        </p:nvSpPr>
        <p:spPr>
          <a:xfrm>
            <a:off x="5806440" y="1463040"/>
            <a:ext cx="5532120" cy="4069080"/>
          </a:xfrm>
          <a:prstGeom prst="roundRect">
            <a:avLst/>
          </a:prstGeom>
          <a:solidFill>
            <a:srgbClr val="FFFFFF"/>
          </a:solidFill>
          <a:ln>
            <a:solidFill>
              <a:srgbClr val="D6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report_fig4.png"/>
          <p:cNvPicPr>
            <a:picLocks noChangeAspect="1"/>
          </p:cNvPicPr>
          <p:nvPr/>
        </p:nvPicPr>
        <p:blipFill>
          <a:blip r:embed="rId2"/>
          <a:stretch>
            <a:fillRect/>
          </a:stretch>
        </p:blipFill>
        <p:spPr>
          <a:xfrm>
            <a:off x="5806440" y="1930207"/>
            <a:ext cx="5532120" cy="3134744"/>
          </a:xfrm>
          <a:prstGeom prst="rect">
            <a:avLst/>
          </a:prstGeom>
        </p:spPr>
      </p:pic>
      <p:sp>
        <p:nvSpPr>
          <p:cNvPr id="11" name="Rounded Rectangle 10"/>
          <p:cNvSpPr/>
          <p:nvPr/>
        </p:nvSpPr>
        <p:spPr>
          <a:xfrm>
            <a:off x="5806440" y="5559552"/>
            <a:ext cx="5532120" cy="411480"/>
          </a:xfrm>
          <a:prstGeom prst="roundRect">
            <a:avLst/>
          </a:prstGeom>
          <a:solidFill>
            <a:srgbClr val="EAF2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t">
            <a:normAutofit/>
          </a:bodyPr>
          <a:lstStyle/>
          <a:p>
            <a:pPr algn="l">
              <a:lnSpc>
                <a:spcPct val="112000"/>
              </a:lnSpc>
              <a:spcAft>
                <a:spcPts val="400"/>
              </a:spcAft>
            </a:pPr>
            <a:r>
              <a:rPr sz="1050" b="0">
                <a:solidFill>
                  <a:srgbClr val="1F2937"/>
                </a:solidFill>
                <a:latin typeface="Arial"/>
              </a:rPr>
              <a:t>Hình 4: so sánh F1-score spam và Accuracy giữa các mô hình.</a:t>
            </a:r>
          </a:p>
        </p:txBody>
      </p:sp>
      <p:sp>
        <p:nvSpPr>
          <p:cNvPr id="12" name="Rounded Rectangle 11"/>
          <p:cNvSpPr/>
          <p:nvPr/>
        </p:nvSpPr>
        <p:spPr>
          <a:xfrm>
            <a:off x="5806440" y="6167359"/>
            <a:ext cx="5532120" cy="384048"/>
          </a:xfrm>
          <a:prstGeom prst="roundRect">
            <a:avLst/>
          </a:prstGeom>
          <a:solidFill>
            <a:srgbClr val="FFF1E8"/>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t">
            <a:normAutofit lnSpcReduction="10000"/>
          </a:bodyPr>
          <a:lstStyle/>
          <a:p>
            <a:pPr algn="l">
              <a:lnSpc>
                <a:spcPct val="112000"/>
              </a:lnSpc>
              <a:spcAft>
                <a:spcPts val="400"/>
              </a:spcAft>
            </a:pPr>
            <a:r>
              <a:rPr sz="980" b="0" dirty="0" err="1">
                <a:solidFill>
                  <a:srgbClr val="1F2937"/>
                </a:solidFill>
                <a:latin typeface="Arial"/>
              </a:rPr>
              <a:t>Các</a:t>
            </a:r>
            <a:r>
              <a:rPr sz="980" b="0" dirty="0">
                <a:solidFill>
                  <a:srgbClr val="1F2937"/>
                </a:solidFill>
                <a:latin typeface="Arial"/>
              </a:rPr>
              <a:t> </a:t>
            </a:r>
            <a:r>
              <a:rPr sz="980" b="0" dirty="0" err="1">
                <a:solidFill>
                  <a:srgbClr val="1F2937"/>
                </a:solidFill>
                <a:latin typeface="Arial"/>
              </a:rPr>
              <a:t>điểm</a:t>
            </a:r>
            <a:r>
              <a:rPr sz="980" b="0" dirty="0">
                <a:solidFill>
                  <a:srgbClr val="1F2937"/>
                </a:solidFill>
                <a:latin typeface="Arial"/>
              </a:rPr>
              <a:t> </a:t>
            </a:r>
            <a:r>
              <a:rPr sz="980" b="0" dirty="0" err="1">
                <a:solidFill>
                  <a:srgbClr val="1F2937"/>
                </a:solidFill>
                <a:latin typeface="Arial"/>
              </a:rPr>
              <a:t>số</a:t>
            </a:r>
            <a:r>
              <a:rPr sz="980" b="0" dirty="0">
                <a:solidFill>
                  <a:srgbClr val="1F2937"/>
                </a:solidFill>
                <a:latin typeface="Arial"/>
              </a:rPr>
              <a:t> </a:t>
            </a:r>
            <a:r>
              <a:rPr sz="980" b="0" dirty="0" err="1">
                <a:solidFill>
                  <a:srgbClr val="1F2937"/>
                </a:solidFill>
                <a:latin typeface="Arial"/>
              </a:rPr>
              <a:t>của</a:t>
            </a:r>
            <a:r>
              <a:rPr sz="980" b="0" dirty="0">
                <a:solidFill>
                  <a:srgbClr val="1F2937"/>
                </a:solidFill>
                <a:latin typeface="Arial"/>
              </a:rPr>
              <a:t> LR, SVM </a:t>
            </a:r>
            <a:r>
              <a:rPr sz="980" b="0" dirty="0" err="1">
                <a:solidFill>
                  <a:srgbClr val="1F2937"/>
                </a:solidFill>
                <a:latin typeface="Arial"/>
              </a:rPr>
              <a:t>và</a:t>
            </a:r>
            <a:r>
              <a:rPr sz="980" b="0" dirty="0">
                <a:solidFill>
                  <a:srgbClr val="1F2937"/>
                </a:solidFill>
                <a:latin typeface="Arial"/>
              </a:rPr>
              <a:t> NB </a:t>
            </a:r>
            <a:r>
              <a:rPr sz="980" b="0" dirty="0" err="1">
                <a:solidFill>
                  <a:srgbClr val="1F2937"/>
                </a:solidFill>
                <a:latin typeface="Arial"/>
              </a:rPr>
              <a:t>đều</a:t>
            </a:r>
            <a:r>
              <a:rPr sz="980" b="0" dirty="0">
                <a:solidFill>
                  <a:srgbClr val="1F2937"/>
                </a:solidFill>
                <a:latin typeface="Arial"/>
              </a:rPr>
              <a:t> </a:t>
            </a:r>
            <a:r>
              <a:rPr sz="980" b="0" dirty="0" err="1">
                <a:solidFill>
                  <a:srgbClr val="1F2937"/>
                </a:solidFill>
                <a:latin typeface="Arial"/>
              </a:rPr>
              <a:t>vượt</a:t>
            </a:r>
            <a:r>
              <a:rPr sz="980" b="0" dirty="0">
                <a:solidFill>
                  <a:srgbClr val="1F2937"/>
                </a:solidFill>
                <a:latin typeface="Arial"/>
              </a:rPr>
              <a:t> </a:t>
            </a:r>
            <a:r>
              <a:rPr sz="980" b="0" dirty="0" err="1">
                <a:solidFill>
                  <a:srgbClr val="1F2937"/>
                </a:solidFill>
                <a:latin typeface="Arial"/>
              </a:rPr>
              <a:t>xa</a:t>
            </a:r>
            <a:r>
              <a:rPr sz="980" b="0" dirty="0">
                <a:solidFill>
                  <a:srgbClr val="1F2937"/>
                </a:solidFill>
                <a:latin typeface="Arial"/>
              </a:rPr>
              <a:t> baseline, qua </a:t>
            </a:r>
            <a:r>
              <a:rPr sz="980" b="0" dirty="0" err="1">
                <a:solidFill>
                  <a:srgbClr val="1F2937"/>
                </a:solidFill>
                <a:latin typeface="Arial"/>
              </a:rPr>
              <a:t>đó</a:t>
            </a:r>
            <a:r>
              <a:rPr sz="980" b="0" dirty="0">
                <a:solidFill>
                  <a:srgbClr val="1F2937"/>
                </a:solidFill>
                <a:latin typeface="Arial"/>
              </a:rPr>
              <a:t> </a:t>
            </a:r>
            <a:r>
              <a:rPr sz="980" b="0" dirty="0" err="1">
                <a:solidFill>
                  <a:srgbClr val="1F2937"/>
                </a:solidFill>
                <a:latin typeface="Arial"/>
              </a:rPr>
              <a:t>chứng</a:t>
            </a:r>
            <a:r>
              <a:rPr sz="980" b="0" dirty="0">
                <a:solidFill>
                  <a:srgbClr val="1F2937"/>
                </a:solidFill>
                <a:latin typeface="Arial"/>
              </a:rPr>
              <a:t> </a:t>
            </a:r>
            <a:r>
              <a:rPr sz="980" b="0" dirty="0" err="1">
                <a:solidFill>
                  <a:srgbClr val="1F2937"/>
                </a:solidFill>
                <a:latin typeface="Arial"/>
              </a:rPr>
              <a:t>minh</a:t>
            </a:r>
            <a:r>
              <a:rPr sz="980" b="0" dirty="0">
                <a:solidFill>
                  <a:srgbClr val="1F2937"/>
                </a:solidFill>
                <a:latin typeface="Arial"/>
              </a:rPr>
              <a:t> </a:t>
            </a:r>
            <a:r>
              <a:rPr sz="980" b="0" dirty="0" err="1">
                <a:solidFill>
                  <a:srgbClr val="1F2937"/>
                </a:solidFill>
                <a:latin typeface="Arial"/>
              </a:rPr>
              <a:t>chất</a:t>
            </a:r>
            <a:r>
              <a:rPr sz="980" b="0" dirty="0">
                <a:solidFill>
                  <a:srgbClr val="1F2937"/>
                </a:solidFill>
                <a:latin typeface="Arial"/>
              </a:rPr>
              <a:t> </a:t>
            </a:r>
            <a:r>
              <a:rPr sz="980" b="0" dirty="0" err="1">
                <a:solidFill>
                  <a:srgbClr val="1F2937"/>
                </a:solidFill>
                <a:latin typeface="Arial"/>
              </a:rPr>
              <a:t>lượng</a:t>
            </a:r>
            <a:r>
              <a:rPr sz="980" b="0" dirty="0">
                <a:solidFill>
                  <a:srgbClr val="1F2937"/>
                </a:solidFill>
                <a:latin typeface="Arial"/>
              </a:rPr>
              <a:t> </a:t>
            </a:r>
            <a:r>
              <a:rPr sz="980" b="0" dirty="0" err="1">
                <a:solidFill>
                  <a:srgbClr val="1F2937"/>
                </a:solidFill>
                <a:latin typeface="Arial"/>
              </a:rPr>
              <a:t>đến</a:t>
            </a:r>
            <a:r>
              <a:rPr sz="980" b="0" dirty="0">
                <a:solidFill>
                  <a:srgbClr val="1F2937"/>
                </a:solidFill>
                <a:latin typeface="Arial"/>
              </a:rPr>
              <a:t> </a:t>
            </a:r>
            <a:r>
              <a:rPr sz="980" b="0" dirty="0" err="1">
                <a:solidFill>
                  <a:srgbClr val="1F2937"/>
                </a:solidFill>
                <a:latin typeface="Arial"/>
              </a:rPr>
              <a:t>từ</a:t>
            </a:r>
            <a:r>
              <a:rPr sz="980" b="0" dirty="0">
                <a:solidFill>
                  <a:srgbClr val="1F2937"/>
                </a:solidFill>
                <a:latin typeface="Arial"/>
              </a:rPr>
              <a:t> pipeline </a:t>
            </a:r>
            <a:r>
              <a:rPr sz="980" b="0" dirty="0" err="1">
                <a:solidFill>
                  <a:srgbClr val="1F2937"/>
                </a:solidFill>
                <a:latin typeface="Arial"/>
              </a:rPr>
              <a:t>học</a:t>
            </a:r>
            <a:r>
              <a:rPr sz="980" b="0" dirty="0">
                <a:solidFill>
                  <a:srgbClr val="1F2937"/>
                </a:solidFill>
                <a:latin typeface="Arial"/>
              </a:rPr>
              <a:t> </a:t>
            </a:r>
            <a:r>
              <a:rPr sz="980" b="0" dirty="0" err="1">
                <a:solidFill>
                  <a:srgbClr val="1F2937"/>
                </a:solidFill>
                <a:latin typeface="Arial"/>
              </a:rPr>
              <a:t>máy</a:t>
            </a:r>
            <a:r>
              <a:rPr sz="980" b="0" dirty="0">
                <a:solidFill>
                  <a:srgbClr val="1F2937"/>
                </a:solidFill>
                <a:latin typeface="Arial"/>
              </a:rPr>
              <a:t> </a:t>
            </a:r>
            <a:r>
              <a:rPr sz="980" b="0" dirty="0" err="1">
                <a:solidFill>
                  <a:srgbClr val="1F2937"/>
                </a:solidFill>
                <a:latin typeface="Arial"/>
              </a:rPr>
              <a:t>chứ</a:t>
            </a:r>
            <a:r>
              <a:rPr sz="980" b="0" dirty="0">
                <a:solidFill>
                  <a:srgbClr val="1F2937"/>
                </a:solidFill>
                <a:latin typeface="Arial"/>
              </a:rPr>
              <a:t> </a:t>
            </a:r>
            <a:r>
              <a:rPr sz="980" b="0" dirty="0" err="1">
                <a:solidFill>
                  <a:srgbClr val="1F2937"/>
                </a:solidFill>
                <a:latin typeface="Arial"/>
              </a:rPr>
              <a:t>không</a:t>
            </a:r>
            <a:r>
              <a:rPr sz="980" b="0" dirty="0">
                <a:solidFill>
                  <a:srgbClr val="1F2937"/>
                </a:solidFill>
                <a:latin typeface="Arial"/>
              </a:rPr>
              <a:t> </a:t>
            </a:r>
            <a:r>
              <a:rPr sz="980" b="0" dirty="0" err="1">
                <a:solidFill>
                  <a:srgbClr val="1F2937"/>
                </a:solidFill>
                <a:latin typeface="Arial"/>
              </a:rPr>
              <a:t>phải</a:t>
            </a:r>
            <a:r>
              <a:rPr sz="980" b="0" dirty="0">
                <a:solidFill>
                  <a:srgbClr val="1F2937"/>
                </a:solidFill>
                <a:latin typeface="Arial"/>
              </a:rPr>
              <a:t> </a:t>
            </a:r>
            <a:r>
              <a:rPr sz="980" b="0" dirty="0" err="1">
                <a:solidFill>
                  <a:srgbClr val="1F2937"/>
                </a:solidFill>
                <a:latin typeface="Arial"/>
              </a:rPr>
              <a:t>từ</a:t>
            </a:r>
            <a:r>
              <a:rPr sz="980" b="0" dirty="0">
                <a:solidFill>
                  <a:srgbClr val="1F2937"/>
                </a:solidFill>
                <a:latin typeface="Arial"/>
              </a:rPr>
              <a:t> </a:t>
            </a:r>
            <a:r>
              <a:rPr sz="980" b="0" dirty="0" err="1">
                <a:solidFill>
                  <a:srgbClr val="1F2937"/>
                </a:solidFill>
                <a:latin typeface="Arial"/>
              </a:rPr>
              <a:t>một</a:t>
            </a:r>
            <a:r>
              <a:rPr sz="980" b="0" dirty="0">
                <a:solidFill>
                  <a:srgbClr val="1F2937"/>
                </a:solidFill>
                <a:latin typeface="Arial"/>
              </a:rPr>
              <a:t> </a:t>
            </a:r>
            <a:r>
              <a:rPr sz="980" b="0" dirty="0" err="1">
                <a:solidFill>
                  <a:srgbClr val="1F2937"/>
                </a:solidFill>
                <a:latin typeface="Arial"/>
              </a:rPr>
              <a:t>bộ</a:t>
            </a:r>
            <a:r>
              <a:rPr sz="980" b="0" dirty="0">
                <a:solidFill>
                  <a:srgbClr val="1F2937"/>
                </a:solidFill>
                <a:latin typeface="Arial"/>
              </a:rPr>
              <a:t> </a:t>
            </a:r>
            <a:r>
              <a:rPr sz="980" b="0" dirty="0" err="1">
                <a:solidFill>
                  <a:srgbClr val="1F2937"/>
                </a:solidFill>
                <a:latin typeface="Arial"/>
              </a:rPr>
              <a:t>từ</a:t>
            </a:r>
            <a:r>
              <a:rPr sz="980" b="0" dirty="0">
                <a:solidFill>
                  <a:srgbClr val="1F2937"/>
                </a:solidFill>
                <a:latin typeface="Arial"/>
              </a:rPr>
              <a:t> </a:t>
            </a:r>
            <a:r>
              <a:rPr sz="980" b="0" dirty="0" err="1">
                <a:solidFill>
                  <a:srgbClr val="1F2937"/>
                </a:solidFill>
                <a:latin typeface="Arial"/>
              </a:rPr>
              <a:t>khóa</a:t>
            </a:r>
            <a:r>
              <a:rPr sz="980" b="0" dirty="0">
                <a:solidFill>
                  <a:srgbClr val="1F2937"/>
                </a:solidFill>
                <a:latin typeface="Arial"/>
              </a:rPr>
              <a:t> </a:t>
            </a:r>
            <a:r>
              <a:rPr sz="980" b="0" dirty="0" err="1">
                <a:solidFill>
                  <a:srgbClr val="1F2937"/>
                </a:solidFill>
                <a:latin typeface="Arial"/>
              </a:rPr>
              <a:t>đơn</a:t>
            </a:r>
            <a:r>
              <a:rPr sz="980" b="0" dirty="0">
                <a:solidFill>
                  <a:srgbClr val="1F2937"/>
                </a:solidFill>
                <a:latin typeface="Arial"/>
              </a:rPr>
              <a:t> </a:t>
            </a:r>
            <a:r>
              <a:rPr sz="980" b="0" dirty="0" err="1">
                <a:solidFill>
                  <a:srgbClr val="1F2937"/>
                </a:solidFill>
                <a:latin typeface="Arial"/>
              </a:rPr>
              <a:t>giản</a:t>
            </a:r>
            <a:r>
              <a:rPr sz="980" b="0" dirty="0">
                <a:solidFill>
                  <a:srgbClr val="1F2937"/>
                </a:solidFill>
                <a:latin typeface="Arial"/>
              </a:rPr>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0F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75488"/>
            <a:ext cx="201168" cy="6382512"/>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8912" y="164592"/>
            <a:ext cx="1417320" cy="292608"/>
          </a:xfrm>
          <a:prstGeom prst="roundRect">
            <a:avLst/>
          </a:prstGeom>
          <a:solidFill>
            <a:srgbClr val="E46A2E"/>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t">
            <a:normAutofit/>
          </a:bodyPr>
          <a:lstStyle/>
          <a:p>
            <a:pPr algn="ctr">
              <a:lnSpc>
                <a:spcPct val="112000"/>
              </a:lnSpc>
              <a:spcAft>
                <a:spcPts val="400"/>
              </a:spcAft>
            </a:pPr>
            <a:r>
              <a:rPr sz="1200" b="1">
                <a:solidFill>
                  <a:srgbClr val="FFFFFF"/>
                </a:solidFill>
                <a:latin typeface="Arial"/>
              </a:rPr>
              <a:t>CHƯƠNG 4</a:t>
            </a:r>
          </a:p>
        </p:txBody>
      </p:sp>
      <p:sp>
        <p:nvSpPr>
          <p:cNvPr id="5" name="TextBox 4"/>
          <p:cNvSpPr txBox="1"/>
          <p:nvPr/>
        </p:nvSpPr>
        <p:spPr>
          <a:xfrm>
            <a:off x="502920" y="658368"/>
            <a:ext cx="8138160" cy="475488"/>
          </a:xfrm>
          <a:prstGeom prst="rect">
            <a:avLst/>
          </a:prstGeom>
          <a:noFill/>
        </p:spPr>
        <p:txBody>
          <a:bodyPr wrap="square" lIns="0" tIns="0" rIns="0" bIns="0" anchor="t">
            <a:normAutofit/>
          </a:bodyPr>
          <a:lstStyle/>
          <a:p>
            <a:pPr algn="l">
              <a:lnSpc>
                <a:spcPct val="112000"/>
              </a:lnSpc>
              <a:spcAft>
                <a:spcPts val="400"/>
              </a:spcAft>
            </a:pPr>
            <a:r>
              <a:rPr sz="2400" b="1">
                <a:solidFill>
                  <a:srgbClr val="0F2747"/>
                </a:solidFill>
                <a:latin typeface="Arial"/>
              </a:rPr>
              <a:t>Đối chiếu sâu ba mô hình mạnh nhất</a:t>
            </a:r>
          </a:p>
        </p:txBody>
      </p:sp>
      <p:sp>
        <p:nvSpPr>
          <p:cNvPr id="6" name="TextBox 5"/>
          <p:cNvSpPr txBox="1"/>
          <p:nvPr/>
        </p:nvSpPr>
        <p:spPr>
          <a:xfrm>
            <a:off x="521207" y="1078992"/>
            <a:ext cx="10058400" cy="292608"/>
          </a:xfrm>
          <a:prstGeom prst="rect">
            <a:avLst/>
          </a:prstGeom>
          <a:noFill/>
        </p:spPr>
        <p:txBody>
          <a:bodyPr wrap="square" lIns="0" tIns="0" rIns="0" bIns="0" anchor="t">
            <a:normAutofit/>
          </a:bodyPr>
          <a:lstStyle/>
          <a:p>
            <a:pPr algn="l">
              <a:lnSpc>
                <a:spcPct val="112000"/>
              </a:lnSpc>
              <a:spcAft>
                <a:spcPts val="400"/>
              </a:spcAft>
            </a:pPr>
            <a:r>
              <a:rPr sz="1050" b="0">
                <a:solidFill>
                  <a:srgbClr val="5B677A"/>
                </a:solidFill>
                <a:latin typeface="Arial"/>
              </a:rPr>
              <a:t>Thay vì chỉ nói mô hình nào thắng, slide này phân tích bản chất đánh đổi của từng lựa chọn</a:t>
            </a:r>
          </a:p>
        </p:txBody>
      </p:sp>
      <p:sp>
        <p:nvSpPr>
          <p:cNvPr id="7" name="TextBox 6"/>
          <p:cNvSpPr txBox="1"/>
          <p:nvPr/>
        </p:nvSpPr>
        <p:spPr>
          <a:xfrm>
            <a:off x="502920" y="6446520"/>
            <a:ext cx="10789920" cy="164592"/>
          </a:xfrm>
          <a:prstGeom prst="rect">
            <a:avLst/>
          </a:prstGeom>
          <a:noFill/>
        </p:spPr>
        <p:txBody>
          <a:bodyPr wrap="square" lIns="0" tIns="0" rIns="0" bIns="0" anchor="t">
            <a:normAutofit/>
          </a:bodyPr>
          <a:lstStyle/>
          <a:p>
            <a:pPr algn="l">
              <a:lnSpc>
                <a:spcPct val="112000"/>
              </a:lnSpc>
              <a:spcAft>
                <a:spcPts val="400"/>
              </a:spcAft>
            </a:pPr>
            <a:r>
              <a:rPr sz="850" b="0">
                <a:solidFill>
                  <a:srgbClr val="5B677A"/>
                </a:solidFill>
                <a:latin typeface="Arial"/>
              </a:rPr>
              <a:t>Xây dựng hệ thống phát hiện và lọc spam email | Đồ án Truy hồi thông tin | Trang 29</a:t>
            </a:r>
          </a:p>
        </p:txBody>
      </p:sp>
      <p:graphicFrame>
        <p:nvGraphicFramePr>
          <p:cNvPr id="8" name="Table 7"/>
          <p:cNvGraphicFramePr>
            <a:graphicFrameLocks noGrp="1"/>
          </p:cNvGraphicFramePr>
          <p:nvPr/>
        </p:nvGraphicFramePr>
        <p:xfrm>
          <a:off x="502920" y="1554480"/>
          <a:ext cx="11155680" cy="429768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2880360">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gridCol w="3703320">
                  <a:extLst>
                    <a:ext uri="{9D8B030D-6E8A-4147-A177-3AD203B41FA5}">
                      <a16:colId xmlns:a16="http://schemas.microsoft.com/office/drawing/2014/main" val="20003"/>
                    </a:ext>
                  </a:extLst>
                </a:gridCol>
              </a:tblGrid>
              <a:tr h="1074420">
                <a:tc>
                  <a:txBody>
                    <a:bodyPr/>
                    <a:lstStyle/>
                    <a:p>
                      <a:pPr algn="l"/>
                      <a:r>
                        <a:rPr sz="1050" b="1">
                          <a:solidFill>
                            <a:srgbClr val="FFFFFF"/>
                          </a:solidFill>
                          <a:latin typeface="Arial"/>
                        </a:rPr>
                        <a:t>Mô hình</a:t>
                      </a:r>
                    </a:p>
                  </a:txBody>
                  <a:tcPr marL="54864" marR="54864" marT="27432" marB="27432" anchor="ctr">
                    <a:solidFill>
                      <a:srgbClr val="0F2747"/>
                    </a:solidFill>
                  </a:tcPr>
                </a:tc>
                <a:tc>
                  <a:txBody>
                    <a:bodyPr/>
                    <a:lstStyle/>
                    <a:p>
                      <a:pPr algn="l"/>
                      <a:r>
                        <a:rPr sz="1050" b="1">
                          <a:solidFill>
                            <a:srgbClr val="FFFFFF"/>
                          </a:solidFill>
                          <a:latin typeface="Arial"/>
                        </a:rPr>
                        <a:t>Chỉ số nổi bật</a:t>
                      </a:r>
                    </a:p>
                  </a:txBody>
                  <a:tcPr marL="54864" marR="54864" marT="27432" marB="27432" anchor="ctr">
                    <a:solidFill>
                      <a:srgbClr val="0F2747"/>
                    </a:solidFill>
                  </a:tcPr>
                </a:tc>
                <a:tc>
                  <a:txBody>
                    <a:bodyPr/>
                    <a:lstStyle/>
                    <a:p>
                      <a:pPr algn="l"/>
                      <a:r>
                        <a:rPr sz="1050" b="1">
                          <a:solidFill>
                            <a:srgbClr val="FFFFFF"/>
                          </a:solidFill>
                          <a:latin typeface="Arial"/>
                        </a:rPr>
                        <a:t>Rủi ro quan sát được</a:t>
                      </a:r>
                    </a:p>
                  </a:txBody>
                  <a:tcPr marL="54864" marR="54864" marT="27432" marB="27432" anchor="ctr">
                    <a:solidFill>
                      <a:srgbClr val="0F2747"/>
                    </a:solidFill>
                  </a:tcPr>
                </a:tc>
                <a:tc>
                  <a:txBody>
                    <a:bodyPr/>
                    <a:lstStyle/>
                    <a:p>
                      <a:pPr algn="l"/>
                      <a:r>
                        <a:rPr sz="1050" b="1">
                          <a:solidFill>
                            <a:srgbClr val="FFFFFF"/>
                          </a:solidFill>
                          <a:latin typeface="Arial"/>
                        </a:rPr>
                        <a:t>Vai trò trong đề tài</a:t>
                      </a:r>
                    </a:p>
                  </a:txBody>
                  <a:tcPr marL="54864" marR="54864" marT="27432" marB="27432" anchor="ctr">
                    <a:solidFill>
                      <a:srgbClr val="0F2747"/>
                    </a:solidFill>
                  </a:tcPr>
                </a:tc>
                <a:extLst>
                  <a:ext uri="{0D108BD9-81ED-4DB2-BD59-A6C34878D82A}">
                    <a16:rowId xmlns:a16="http://schemas.microsoft.com/office/drawing/2014/main" val="10000"/>
                  </a:ext>
                </a:extLst>
              </a:tr>
              <a:tr h="1074420">
                <a:tc>
                  <a:txBody>
                    <a:bodyPr/>
                    <a:lstStyle/>
                    <a:p>
                      <a:pPr algn="l"/>
                      <a:r>
                        <a:rPr sz="1000" b="0">
                          <a:solidFill>
                            <a:srgbClr val="1F2937"/>
                          </a:solidFill>
                          <a:latin typeface="Arial"/>
                        </a:rPr>
                        <a:t>Logistic Regression</a:t>
                      </a:r>
                    </a:p>
                  </a:txBody>
                  <a:tcPr marL="54864" marR="54864" marT="27432" marB="27432" anchor="ctr">
                    <a:solidFill>
                      <a:srgbClr val="EEF2F8"/>
                    </a:solidFill>
                  </a:tcPr>
                </a:tc>
                <a:tc>
                  <a:txBody>
                    <a:bodyPr/>
                    <a:lstStyle/>
                    <a:p>
                      <a:pPr algn="l"/>
                      <a:r>
                        <a:rPr sz="1000" b="0">
                          <a:solidFill>
                            <a:srgbClr val="1F2937"/>
                          </a:solidFill>
                          <a:latin typeface="Arial"/>
                        </a:rPr>
                        <a:t>F1 spam 97.98%, F1 ham 99.12%, macro F1 98.55%, FP=7, FN=7</a:t>
                      </a:r>
                    </a:p>
                  </a:txBody>
                  <a:tcPr marL="54864" marR="54864" marT="27432" marB="27432" anchor="ctr">
                    <a:solidFill>
                      <a:srgbClr val="EEF2F8"/>
                    </a:solidFill>
                  </a:tcPr>
                </a:tc>
                <a:tc>
                  <a:txBody>
                    <a:bodyPr/>
                    <a:lstStyle/>
                    <a:p>
                      <a:pPr algn="l"/>
                      <a:r>
                        <a:rPr sz="1000" b="0">
                          <a:solidFill>
                            <a:srgbClr val="1F2937"/>
                          </a:solidFill>
                          <a:latin typeface="Arial"/>
                        </a:rPr>
                        <a:t>Mạnh nhất toàn cục nhưng ít gắn với định hướng SVM/NB mà nhóm đăng ký.</a:t>
                      </a:r>
                    </a:p>
                  </a:txBody>
                  <a:tcPr marL="54864" marR="54864" marT="27432" marB="27432" anchor="ctr">
                    <a:solidFill>
                      <a:srgbClr val="EEF2F8"/>
                    </a:solidFill>
                  </a:tcPr>
                </a:tc>
                <a:tc>
                  <a:txBody>
                    <a:bodyPr/>
                    <a:lstStyle/>
                    <a:p>
                      <a:pPr algn="l"/>
                      <a:r>
                        <a:rPr sz="1000" b="0">
                          <a:solidFill>
                            <a:srgbClr val="1F2937"/>
                          </a:solidFill>
                          <a:latin typeface="Arial"/>
                        </a:rPr>
                        <a:t>Mô hình benchmark tốt nhất, dùng làm mốc đối chứng để chứng minh cách chọn mô hình của nhóm là khách quan.</a:t>
                      </a:r>
                    </a:p>
                  </a:txBody>
                  <a:tcPr marL="54864" marR="54864" marT="27432" marB="27432" anchor="ctr">
                    <a:solidFill>
                      <a:srgbClr val="EEF2F8"/>
                    </a:solidFill>
                  </a:tcPr>
                </a:tc>
                <a:extLst>
                  <a:ext uri="{0D108BD9-81ED-4DB2-BD59-A6C34878D82A}">
                    <a16:rowId xmlns:a16="http://schemas.microsoft.com/office/drawing/2014/main" val="10001"/>
                  </a:ext>
                </a:extLst>
              </a:tr>
              <a:tr h="1074420">
                <a:tc>
                  <a:txBody>
                    <a:bodyPr/>
                    <a:lstStyle/>
                    <a:p>
                      <a:pPr algn="l"/>
                      <a:r>
                        <a:rPr sz="1000" b="0">
                          <a:solidFill>
                            <a:srgbClr val="1F2937"/>
                          </a:solidFill>
                          <a:latin typeface="Arial"/>
                        </a:rPr>
                        <a:t>Linear SVM</a:t>
                      </a:r>
                    </a:p>
                  </a:txBody>
                  <a:tcPr marL="54864" marR="54864" marT="27432" marB="27432" anchor="ctr">
                    <a:solidFill>
                      <a:srgbClr val="FFFFFF"/>
                    </a:solidFill>
                  </a:tcPr>
                </a:tc>
                <a:tc>
                  <a:txBody>
                    <a:bodyPr/>
                    <a:lstStyle/>
                    <a:p>
                      <a:pPr algn="l"/>
                      <a:r>
                        <a:rPr sz="1000" b="0">
                          <a:solidFill>
                            <a:srgbClr val="1F2937"/>
                          </a:solidFill>
                          <a:latin typeface="Arial"/>
                        </a:rPr>
                        <a:t>F1 spam 97.69%, F1 ham 98.99%, macro F1 98.34%, ROC-AUC 99.79%</a:t>
                      </a:r>
                    </a:p>
                  </a:txBody>
                  <a:tcPr marL="54864" marR="54864" marT="27432" marB="27432" anchor="ctr">
                    <a:solidFill>
                      <a:srgbClr val="FFFFFF"/>
                    </a:solidFill>
                  </a:tcPr>
                </a:tc>
                <a:tc>
                  <a:txBody>
                    <a:bodyPr/>
                    <a:lstStyle/>
                    <a:p>
                      <a:pPr algn="l"/>
                      <a:r>
                        <a:rPr sz="1000" b="0">
                          <a:solidFill>
                            <a:srgbClr val="1F2937"/>
                          </a:solidFill>
                          <a:latin typeface="Arial"/>
                        </a:rPr>
                        <a:t>Kém LR rất nhẹ về điểm số tổng thể nhưng vẫn có thể nhầm với email dài hoặc mang từ vựng quảng cáo.</a:t>
                      </a:r>
                    </a:p>
                  </a:txBody>
                  <a:tcPr marL="54864" marR="54864" marT="27432" marB="27432" anchor="ctr">
                    <a:solidFill>
                      <a:srgbClr val="FFFFFF"/>
                    </a:solidFill>
                  </a:tcPr>
                </a:tc>
                <a:tc>
                  <a:txBody>
                    <a:bodyPr/>
                    <a:lstStyle/>
                    <a:p>
                      <a:pPr algn="l"/>
                      <a:r>
                        <a:rPr sz="1000" b="0">
                          <a:solidFill>
                            <a:srgbClr val="1F2937"/>
                          </a:solidFill>
                          <a:latin typeface="Arial"/>
                        </a:rPr>
                        <a:t>Mô hình demo chính vì bám đúng đề tài, chạy nhanh và giải thích token tốt trên app.</a:t>
                      </a:r>
                    </a:p>
                  </a:txBody>
                  <a:tcPr marL="54864" marR="54864" marT="27432" marB="27432" anchor="ctr">
                    <a:solidFill>
                      <a:srgbClr val="FFFFFF"/>
                    </a:solidFill>
                  </a:tcPr>
                </a:tc>
                <a:extLst>
                  <a:ext uri="{0D108BD9-81ED-4DB2-BD59-A6C34878D82A}">
                    <a16:rowId xmlns:a16="http://schemas.microsoft.com/office/drawing/2014/main" val="10002"/>
                  </a:ext>
                </a:extLst>
              </a:tr>
              <a:tr h="1074420">
                <a:tc>
                  <a:txBody>
                    <a:bodyPr/>
                    <a:lstStyle/>
                    <a:p>
                      <a:pPr algn="l"/>
                      <a:r>
                        <a:rPr sz="1000" b="0">
                          <a:solidFill>
                            <a:srgbClr val="1F2937"/>
                          </a:solidFill>
                          <a:latin typeface="Arial"/>
                        </a:rPr>
                        <a:t>Naive Bayes</a:t>
                      </a:r>
                    </a:p>
                  </a:txBody>
                  <a:tcPr marL="54864" marR="54864" marT="27432" marB="27432" anchor="ctr">
                    <a:solidFill>
                      <a:srgbClr val="EEF2F8"/>
                    </a:solidFill>
                  </a:tcPr>
                </a:tc>
                <a:tc>
                  <a:txBody>
                    <a:bodyPr/>
                    <a:lstStyle/>
                    <a:p>
                      <a:pPr algn="l"/>
                      <a:r>
                        <a:rPr sz="1000" b="0">
                          <a:solidFill>
                            <a:srgbClr val="1F2937"/>
                          </a:solidFill>
                          <a:latin typeface="Arial"/>
                        </a:rPr>
                        <a:t>Recall spam 98.56% cao nhất, FN=5, nhưng FP=12 cao hơn.</a:t>
                      </a:r>
                    </a:p>
                  </a:txBody>
                  <a:tcPr marL="54864" marR="54864" marT="27432" marB="27432" anchor="ctr">
                    <a:solidFill>
                      <a:srgbClr val="EEF2F8"/>
                    </a:solidFill>
                  </a:tcPr>
                </a:tc>
                <a:tc>
                  <a:txBody>
                    <a:bodyPr/>
                    <a:lstStyle/>
                    <a:p>
                      <a:pPr algn="l"/>
                      <a:r>
                        <a:rPr sz="1000" b="0">
                          <a:solidFill>
                            <a:srgbClr val="1F2937"/>
                          </a:solidFill>
                          <a:latin typeface="Arial"/>
                        </a:rPr>
                        <a:t>Nhạy với token spam rời rạc nên dễ chặn nhầm ham có ngôn ngữ giống quảng cáo hoặc khẩn cấp.</a:t>
                      </a:r>
                    </a:p>
                  </a:txBody>
                  <a:tcPr marL="54864" marR="54864" marT="27432" marB="27432" anchor="ctr">
                    <a:solidFill>
                      <a:srgbClr val="EEF2F8"/>
                    </a:solidFill>
                  </a:tcPr>
                </a:tc>
                <a:tc>
                  <a:txBody>
                    <a:bodyPr/>
                    <a:lstStyle/>
                    <a:p>
                      <a:pPr algn="l"/>
                      <a:r>
                        <a:rPr sz="1000" b="0">
                          <a:solidFill>
                            <a:srgbClr val="1F2937"/>
                          </a:solidFill>
                          <a:latin typeface="Arial"/>
                        </a:rPr>
                        <a:t>Mô hình trọng tâm thứ hai của đề tài để so sánh trực tiếp với SVM theo đúng yêu cầu ban đầu.</a:t>
                      </a:r>
                    </a:p>
                  </a:txBody>
                  <a:tcPr marL="54864" marR="54864" marT="27432" marB="27432" anchor="ctr">
                    <a:solidFill>
                      <a:srgbClr val="EEF2F8"/>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0.xml><?xml version="1.0" encoding="utf-8"?>
<ns0:sld xmlns:ns0="http://schemas.openxmlformats.org/presentationml/2006/main" xmlns:ns1="http://schemas.openxmlformats.org/drawingml/2006/main">
  <ns0:cSld>
    <ns0:bg>
      <ns0:bgPr>
        <ns1:solidFill>
          <ns1:srgbClr val="F5F7FB"/>
        </ns1:solidFill>
        <ns1:effectLst/>
      </ns0:bgPr>
    </ns0:bg>
    <ns0:spTree>
      <ns0:nvGrpSpPr>
        <ns0:cNvPr id="1" name=""/>
        <ns0:cNvGrpSpPr/>
        <ns0:nvPr/>
      </ns0:nvGrpSpPr>
      <ns0:grpSpPr>
        <ns1:xfrm>
          <ns1:off x="0" y="0"/>
          <ns1:ext cx="0" cy="0"/>
          <ns1:chOff x="0" y="0"/>
          <ns1:chExt cx="0" cy="0"/>
        </ns1:xfrm>
      </ns0:grpSpPr>
      <ns0:sp>
        <ns0:nvSpPr>
          <ns0:cNvPr id="2" name="Rectangle 1"/>
          <ns0:cNvSpPr/>
          <ns0:nvPr/>
        </ns0:nvSpPr>
        <ns0:spPr>
          <ns1:xfrm>
            <ns1:off x="0" y="0"/>
            <ns1:ext cx="12191695" cy="475488"/>
          </ns1:xfrm>
          <ns1:prstGeom prst="rect">
            <ns1:avLst/>
          </ns1:prstGeom>
          <ns1:solidFill>
            <ns1:srgbClr val="0F2747"/>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3" name="Rectangle 2"/>
          <ns0:cNvSpPr/>
          <ns0:nvPr/>
        </ns0:nvSpPr>
        <ns0:spPr>
          <ns1:xfrm>
            <ns1:off x="0" y="475488"/>
            <ns1:ext cx="201168" cy="6382512"/>
          </ns1:xfrm>
          <ns1:prstGeom prst="rect">
            <ns1:avLst/>
          </ns1:prstGeom>
          <ns1:solidFill>
            <ns1:srgbClr val="0F8B8D"/>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4" name="Rounded Rectangle 3"/>
          <ns0:cNvSpPr/>
          <ns0:nvPr/>
        </ns0:nvSpPr>
        <ns0:spPr>
          <ns1:xfrm>
            <ns1:off x="438912" y="164592"/>
            <ns1:ext cx="1417320" cy="292608"/>
          </ns1:xfrm>
          <ns1:prstGeom prst="roundRect">
            <ns1:avLst/>
          </ns1:prstGeom>
          <ns1:solidFill>
            <ns1:srgbClr val="E46A2E"/>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wrap="square" lIns="18288" tIns="0" rIns="18288" bIns="0" rtlCol="0" anchor="t">
            <ns1:normAutofit/>
          </ns1:bodyPr>
          <ns1:lstStyle/>
          <ns1:p>
            <ns1:pPr algn="ctr">
              <ns1:lnSpc>
                <ns1:spcPct val="112000"/>
              </ns1:lnSpc>
              <ns1:spcAft>
                <ns1:spcPts val="400"/>
              </ns1:spcAft>
            </ns1:pPr>
            <ns1:r>
              <ns1:rPr sz="1200" b="1">
                <ns1:solidFill>
                  <ns1:srgbClr val="FFFFFF"/>
                </ns1:solidFill>
                <ns1:latin typeface="Arial"/>
              </ns1:rPr>
              <ns1:t>CHƯƠNG 4</ns1:t>
            </ns1:r>
          </ns1:p>
        </ns0:txBody>
      </ns0:sp>
      <ns0:sp>
        <ns0:nvSpPr>
          <ns0:cNvPr id="5" name="TextBox 4"/>
          <ns0:cNvSpPr txBox="1"/>
          <ns0:nvPr/>
        </ns0:nvSpPr>
        <ns0:spPr>
          <ns1:xfrm>
            <ns1:off x="502920" y="658368"/>
            <ns1:ext cx="8138160" cy="475488"/>
          </ns1:xfrm>
          <ns1:prstGeom prst="rect">
            <ns1:avLst/>
          </ns1:prstGeom>
          <ns1:noFill/>
        </ns0:spPr>
        <ns0:txBody>
          <ns1:bodyPr wrap="square" lIns="0" tIns="0" rIns="0" bIns="0" anchor="t">
            <ns1:normAutofit/>
          </ns1:bodyPr>
          <ns1:lstStyle/>
          <ns1:p>
            <ns1:pPr algn="l">
              <ns1:lnSpc>
                <ns1:spcPct val="112000"/>
              </ns1:lnSpc>
              <ns1:spcAft>
                <ns1:spcPts val="400"/>
              </ns1:spcAft>
            </ns1:pPr>
            <ns1:r>
              <ns1:rPr sz="2400" b="1">
                <ns1:solidFill>
                  <ns1:srgbClr val="0F2747"/>
                </ns1:solidFill>
                <ns1:latin typeface="Arial"/>
              </ns1:rPr>
              <ns1:t>Vì sao nhóm chọn Linear SVM làm mô hình demo?</ns1:t>
            </ns1:r>
          </ns1:p>
        </ns0:txBody>
      </ns0:sp>
      <ns0:sp>
        <ns0:nvSpPr>
          <ns0:cNvPr id="6" name="TextBox 5"/>
          <ns0:cNvSpPr txBox="1"/>
          <ns0:nvPr/>
        </ns0:nvSpPr>
        <ns0:spPr>
          <ns1:xfrm>
            <ns1:off x="502920" y="6446520"/>
            <ns1:ext cx="10789920" cy="164592"/>
          </ns1:xfrm>
          <ns1:prstGeom prst="rect">
            <ns1:avLst/>
          </ns1:prstGeom>
          <ns1:noFill/>
        </ns0:spPr>
        <ns0:txBody>
          <ns1:bodyPr wrap="square" lIns="0" tIns="0" rIns="0" bIns="0" anchor="t">
            <ns1:normAutofit/>
          </ns1:bodyPr>
          <ns1:lstStyle/>
          <ns1:p>
            <ns1:pPr algn="l">
              <ns1:lnSpc>
                <ns1:spcPct val="112000"/>
              </ns1:lnSpc>
              <ns1:spcAft>
                <ns1:spcPts val="400"/>
              </ns1:spcAft>
            </ns1:pPr>
            <ns1:r>
              <ns1:rPr sz="850" b="0">
                <ns1:solidFill>
                  <ns1:srgbClr val="5B677A"/>
                </ns1:solidFill>
                <ns1:latin typeface="Arial"/>
              </ns1:rPr>
              <ns1:t>Xây dựng hệ thống phát hiện và lọc spam email | Đồ án Truy hồi thông tin | Trang 30</ns1:t>
            </ns1:r>
          </ns1:p>
        </ns0:txBody>
      </ns0:sp>
      <ns0:sp>
        <ns0:nvSpPr>
          <ns0:cNvPr id="7" name="Rounded Rectangle 6"/>
          <ns0:cNvSpPr/>
          <ns0:nvPr/>
        </ns0:nvSpPr>
        <ns0:spPr>
          <ns1:xfrm>
            <ns1:off x="502920" y="1417320"/>
            <ns1:ext cx="11155680" cy="4709160"/>
          </ns1:xfrm>
          <ns1:prstGeom prst="roundRect">
            <ns1:avLst/>
          </ns1:prstGeom>
          <ns1:solidFill>
            <ns1:srgbClr val="FFFFFF"/>
          </ns1:solidFill>
          <ns1:ln>
            <ns1:solidFill>
              <ns1:srgbClr val="D6DCE7"/>
            </ns1:solidFill>
          </ns1:ln>
        </ns0:spPr>
        <ns0:style>
          <ns1:lnRef idx="1">
            <ns1:schemeClr val="accent1"/>
          </ns1:lnRef>
          <ns1:fillRef idx="3">
            <ns1:schemeClr val="accent1"/>
          </ns1:fillRef>
          <ns1:effectRef idx="2">
            <ns1:schemeClr val="accent1"/>
          </ns1:effectRef>
          <ns1:fontRef idx="minor">
            <ns1:schemeClr val="lt1"/>
          </ns1:fontRef>
        </ns0:style>
        <ns0:txBody>
          <ns1:bodyPr wrap="square" lIns="109728" tIns="73152" rIns="109728" bIns="73152" rtlCol="0" anchor="t">
            <ns1:normAutofit/>
          </ns1:bodyPr>
          <ns1:lstStyle/>
          <ns1:p>
            <ns1:pPr algn="l">
              <ns1:lnSpc>
                <ns1:spcPct val="112000"/>
              </ns1:lnSpc>
              <ns1:spcAft>
                <ns1:spcPts val="400"/>
              </ns1:spcAft>
            </ns1:pPr>
            <ns1:r>
              <ns1:rPr sz="1600" b="0">
                <ns1:solidFill>
                  <ns1:srgbClr val="1F2937"/>
                </ns1:solidFill>
                <ns1:latin typeface="Arial"/>
              </ns1:rPr>
              <ns1:t>Dù Logistic Regression đang đứng đầu benchmark, khoảng cách giữa LR và Linear SVM chỉ là 0.29 điểm F1 spam. Đây là một chênh lệch rất nhỏ so với lợi ích mà SVM mang lại cho phần trình bày.</ns1:t>
            </ns1:r>
          </ns1:p>
          <ns1:p>
            <ns1:pPr algn="l">
              <ns1:lnSpc>
                <ns1:spcPct val="112000"/>
              </ns1:lnSpc>
              <ns1:spcAft>
                <ns1:spcPts val="400"/>
              </ns1:spcAft>
            </ns1:pPr>
            <ns1:r>
              <ns1:rPr sz="1600" b="0">
                <ns1:solidFill>
                  <ns1:srgbClr val="1F2937"/>
                </ns1:solidFill>
                <ns1:latin typeface="Arial"/>
              </ns1:rPr>
              <ns1:t>• Linear SVM bám đúng định hướng đề tài 19 hơn vì đề bài nêu rõ Naive Bayes hoặc SVM là hai mô hình trung tâm. Giữ SVM làm active model giúp nội dung báo cáo, phần code và phần demo thống nhất hơn.</ns1:t>
            </ns1:r>
          </ns1:p>
          <ns1:p>
            <ns1:pPr algn="l">
              <ns1:lnSpc>
                <ns1:spcPct val="112000"/>
              </ns1:lnSpc>
              <ns1:spcAft>
                <ns1:spcPts val="400"/>
              </ns1:spcAft>
            </ns1:pPr>
            <ns1:r>
              <ns1:rPr sz="1600" b="0">
                <ns1:solidFill>
                  <ns1:srgbClr val="1F2937"/>
                </ns1:solidFill>
                <ns1:latin typeface="Arial"/>
              </ns1:rPr>
              <ns1:t>• Trong pipeline demo, TF-IDF là lớp biểu diễn đặc trưng; bộ phân loại chính là Linear SVM. Cách tách vai trò này giúp phần trình bày đúng với code và dễ giải thích hơn.</ns1:t>
            </ns1:r>
          </ns1:p>
          <ns1:p>
            <ns1:pPr algn="l">
              <ns1:lnSpc>
                <ns1:spcPct val="112000"/>
              </ns1:lnSpc>
              <ns1:spcAft>
                <ns1:spcPts val="400"/>
              </ns1:spcAft>
            </ns1:pPr>
            <ns1:r>
              <ns1:rPr sz="1600" b="0">
                <ns1:solidFill>
                  <ns1:srgbClr val="1F2937"/>
                </ns1:solidFill>
                <ns1:latin typeface="Arial"/>
              </ns1:rPr>
              <ns1:t>• hệ số của Linear SVM có thể truy ngược về token đóng góp. App.py tận dụng điều này để hiển thị top token spam-leaning và ham-leaning cho từng email đầu vào, tạo ra phần giải thích trực quan khi demo.</ns1:t>
            </ns1:r>
          </ns1:p>
        </ns0:txBody>
      </ns0:sp>
    </ns0:spTree>
  </ns0:cSld>
  <ns0:clrMapOvr>
    <ns1:masterClrMapping/>
  </ns0:clrMapOvr>
</ns0: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0F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75488"/>
            <a:ext cx="201168" cy="6382512"/>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8912" y="164592"/>
            <a:ext cx="1417320" cy="292608"/>
          </a:xfrm>
          <a:prstGeom prst="roundRect">
            <a:avLst/>
          </a:prstGeom>
          <a:solidFill>
            <a:srgbClr val="E46A2E"/>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t">
            <a:normAutofit/>
          </a:bodyPr>
          <a:lstStyle/>
          <a:p>
            <a:pPr algn="ctr">
              <a:lnSpc>
                <a:spcPct val="112000"/>
              </a:lnSpc>
              <a:spcAft>
                <a:spcPts val="400"/>
              </a:spcAft>
            </a:pPr>
            <a:r>
              <a:rPr sz="1200" b="1">
                <a:solidFill>
                  <a:srgbClr val="FFFFFF"/>
                </a:solidFill>
                <a:latin typeface="Arial"/>
              </a:rPr>
              <a:t>CHƯƠNG 4</a:t>
            </a:r>
          </a:p>
        </p:txBody>
      </p:sp>
      <p:sp>
        <p:nvSpPr>
          <p:cNvPr id="5" name="TextBox 4"/>
          <p:cNvSpPr txBox="1"/>
          <p:nvPr/>
        </p:nvSpPr>
        <p:spPr>
          <a:xfrm>
            <a:off x="502920" y="658368"/>
            <a:ext cx="8138160" cy="475488"/>
          </a:xfrm>
          <a:prstGeom prst="rect">
            <a:avLst/>
          </a:prstGeom>
          <a:noFill/>
        </p:spPr>
        <p:txBody>
          <a:bodyPr wrap="square" lIns="0" tIns="0" rIns="0" bIns="0" anchor="t">
            <a:normAutofit/>
          </a:bodyPr>
          <a:lstStyle/>
          <a:p>
            <a:pPr algn="l">
              <a:lnSpc>
                <a:spcPct val="112000"/>
              </a:lnSpc>
              <a:spcAft>
                <a:spcPts val="400"/>
              </a:spcAft>
            </a:pPr>
            <a:r>
              <a:rPr sz="2400" b="1">
                <a:solidFill>
                  <a:srgbClr val="0F2747"/>
                </a:solidFill>
                <a:latin typeface="Arial"/>
              </a:rPr>
              <a:t>Ma trận nhầm lẫn của Linear SVM</a:t>
            </a:r>
          </a:p>
        </p:txBody>
      </p:sp>
      <p:sp>
        <p:nvSpPr>
          <p:cNvPr id="6" name="TextBox 5"/>
          <p:cNvSpPr txBox="1"/>
          <p:nvPr/>
        </p:nvSpPr>
        <p:spPr>
          <a:xfrm>
            <a:off x="521207" y="1078992"/>
            <a:ext cx="10058400" cy="292608"/>
          </a:xfrm>
          <a:prstGeom prst="rect">
            <a:avLst/>
          </a:prstGeom>
          <a:noFill/>
        </p:spPr>
        <p:txBody>
          <a:bodyPr wrap="square" lIns="0" tIns="0" rIns="0" bIns="0" anchor="t">
            <a:normAutofit/>
          </a:bodyPr>
          <a:lstStyle/>
          <a:p>
            <a:pPr algn="l">
              <a:lnSpc>
                <a:spcPct val="112000"/>
              </a:lnSpc>
              <a:spcAft>
                <a:spcPts val="400"/>
              </a:spcAft>
            </a:pPr>
            <a:r>
              <a:rPr sz="1050" b="0">
                <a:solidFill>
                  <a:srgbClr val="5B677A"/>
                </a:solidFill>
                <a:latin typeface="Arial"/>
              </a:rPr>
              <a:t>Confusion matrix là cách trực quan nhất để nói về chất lượng vận hành của bộ lọc spam</a:t>
            </a:r>
          </a:p>
        </p:txBody>
      </p:sp>
      <p:sp>
        <p:nvSpPr>
          <p:cNvPr id="7" name="TextBox 6"/>
          <p:cNvSpPr txBox="1"/>
          <p:nvPr/>
        </p:nvSpPr>
        <p:spPr>
          <a:xfrm>
            <a:off x="502920" y="6446520"/>
            <a:ext cx="10789920" cy="164592"/>
          </a:xfrm>
          <a:prstGeom prst="rect">
            <a:avLst/>
          </a:prstGeom>
          <a:noFill/>
        </p:spPr>
        <p:txBody>
          <a:bodyPr wrap="square" lIns="0" tIns="0" rIns="0" bIns="0" anchor="t">
            <a:normAutofit/>
          </a:bodyPr>
          <a:lstStyle/>
          <a:p>
            <a:pPr algn="l">
              <a:lnSpc>
                <a:spcPct val="112000"/>
              </a:lnSpc>
              <a:spcAft>
                <a:spcPts val="400"/>
              </a:spcAft>
            </a:pPr>
            <a:r>
              <a:rPr sz="850" b="0">
                <a:solidFill>
                  <a:srgbClr val="5B677A"/>
                </a:solidFill>
                <a:latin typeface="Arial"/>
              </a:rPr>
              <a:t>Xây dựng hệ thống phát hiện và lọc spam email | Đồ án Truy hồi thông tin | Trang 31</a:t>
            </a:r>
          </a:p>
        </p:txBody>
      </p:sp>
      <p:sp>
        <p:nvSpPr>
          <p:cNvPr id="8" name="Rounded Rectangle 7"/>
          <p:cNvSpPr/>
          <p:nvPr/>
        </p:nvSpPr>
        <p:spPr>
          <a:xfrm>
            <a:off x="502920" y="1417320"/>
            <a:ext cx="5074920" cy="4709160"/>
          </a:xfrm>
          <a:prstGeom prst="roundRect">
            <a:avLst/>
          </a:prstGeom>
          <a:solidFill>
            <a:srgbClr val="FFFF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normAutofit/>
          </a:bodyPr>
          <a:lstStyle/>
          <a:p>
            <a:pPr algn="l">
              <a:lnSpc>
                <a:spcPct val="112000"/>
              </a:lnSpc>
              <a:spcAft>
                <a:spcPts val="400"/>
              </a:spcAft>
            </a:pPr>
            <a:r>
              <a:rPr sz="1400" b="0">
                <a:solidFill>
                  <a:srgbClr val="1F2937"/>
                </a:solidFill>
                <a:latin typeface="Arial"/>
              </a:rPr>
              <a:t>Confusion matrix của SVM cho thấy mô hình dự đoán đúng 784 email ham và 339 email spam. Chỉ có 8 ham bị chặn nhầm và 8 spam bị bỏ sót.</a:t>
            </a:r>
          </a:p>
          <a:p>
            <a:pPr algn="l">
              <a:lnSpc>
                <a:spcPct val="112000"/>
              </a:lnSpc>
              <a:spcAft>
                <a:spcPts val="400"/>
              </a:spcAft>
            </a:pPr>
            <a:r>
              <a:rPr sz="1400" b="0">
                <a:solidFill>
                  <a:srgbClr val="1F2937"/>
                </a:solidFill>
                <a:latin typeface="Arial"/>
              </a:rPr>
              <a:t>• Tổng số lỗi chỉ là 16 trên 1139 email test. Đây là lý do Accuracy và F1 của mô hình đều rất cao, đồng thời đủ tốt để dùng cho demo thuyết phục.</a:t>
            </a:r>
          </a:p>
          <a:p>
            <a:pPr algn="l">
              <a:lnSpc>
                <a:spcPct val="112000"/>
              </a:lnSpc>
              <a:spcAft>
                <a:spcPts val="400"/>
              </a:spcAft>
            </a:pPr>
            <a:r>
              <a:rPr sz="1400" b="0">
                <a:solidFill>
                  <a:srgbClr val="1F2937"/>
                </a:solidFill>
                <a:latin typeface="Arial"/>
              </a:rPr>
              <a:t>• false positive và false negative hoàn toàn cân bằng.</a:t>
            </a:r>
          </a:p>
          <a:p>
            <a:pPr algn="l">
              <a:lnSpc>
                <a:spcPct val="112000"/>
              </a:lnSpc>
              <a:spcAft>
                <a:spcPts val="400"/>
              </a:spcAft>
            </a:pPr>
            <a:r>
              <a:rPr sz="1400" b="0">
                <a:solidFill>
                  <a:srgbClr val="1F2937"/>
                </a:solidFill>
                <a:latin typeface="Arial"/>
              </a:rPr>
              <a:t>• 8 false positive nghĩa là 8 email ham có nguy cơ bị đưa nhầm vào nhóm nghi ngờ; còn 8 false negative nghĩa là vẫn còn một lượng nhỏ spam có thể lọt qua.</a:t>
            </a:r>
          </a:p>
        </p:txBody>
      </p:sp>
      <p:sp>
        <p:nvSpPr>
          <p:cNvPr id="9" name="Rounded Rectangle 8"/>
          <p:cNvSpPr/>
          <p:nvPr/>
        </p:nvSpPr>
        <p:spPr>
          <a:xfrm>
            <a:off x="5806440" y="1463040"/>
            <a:ext cx="5532120" cy="4069080"/>
          </a:xfrm>
          <a:prstGeom prst="roundRect">
            <a:avLst/>
          </a:prstGeom>
          <a:solidFill>
            <a:srgbClr val="FFFFFF"/>
          </a:solidFill>
          <a:ln>
            <a:solidFill>
              <a:srgbClr val="D6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report_fig5.png"/>
          <p:cNvPicPr>
            <a:picLocks noChangeAspect="1"/>
          </p:cNvPicPr>
          <p:nvPr/>
        </p:nvPicPr>
        <p:blipFill>
          <a:blip r:embed="rId2"/>
          <a:stretch>
            <a:fillRect/>
          </a:stretch>
        </p:blipFill>
        <p:spPr>
          <a:xfrm>
            <a:off x="5948019" y="1463040"/>
            <a:ext cx="5248961" cy="4069080"/>
          </a:xfrm>
          <a:prstGeom prst="rect">
            <a:avLst/>
          </a:prstGeom>
        </p:spPr>
      </p:pic>
      <p:sp>
        <p:nvSpPr>
          <p:cNvPr id="11" name="Rounded Rectangle 10"/>
          <p:cNvSpPr/>
          <p:nvPr/>
        </p:nvSpPr>
        <p:spPr>
          <a:xfrm>
            <a:off x="5806440" y="5559552"/>
            <a:ext cx="5532120" cy="411480"/>
          </a:xfrm>
          <a:prstGeom prst="roundRect">
            <a:avLst/>
          </a:prstGeom>
          <a:solidFill>
            <a:srgbClr val="EAF2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t">
            <a:normAutofit/>
          </a:bodyPr>
          <a:lstStyle/>
          <a:p>
            <a:pPr algn="l">
              <a:lnSpc>
                <a:spcPct val="112000"/>
              </a:lnSpc>
              <a:spcAft>
                <a:spcPts val="400"/>
              </a:spcAft>
            </a:pPr>
            <a:r>
              <a:rPr sz="1050" b="0">
                <a:solidFill>
                  <a:srgbClr val="1F2937"/>
                </a:solidFill>
                <a:latin typeface="Arial"/>
              </a:rPr>
              <a:t>Hình 5: ma trận nhầm lẫn của mô hình Linear SVM được chọn để demo.</a:t>
            </a:r>
          </a:p>
        </p:txBody>
      </p:sp>
      <p:sp>
        <p:nvSpPr>
          <p:cNvPr id="12" name="Rounded Rectangle 11"/>
          <p:cNvSpPr/>
          <p:nvPr/>
        </p:nvSpPr>
        <p:spPr>
          <a:xfrm>
            <a:off x="5787676" y="6037909"/>
            <a:ext cx="5532120" cy="384048"/>
          </a:xfrm>
          <a:prstGeom prst="roundRect">
            <a:avLst/>
          </a:prstGeom>
          <a:solidFill>
            <a:srgbClr val="FFF1E8"/>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t">
            <a:normAutofit lnSpcReduction="10000"/>
          </a:bodyPr>
          <a:lstStyle/>
          <a:p>
            <a:pPr algn="l">
              <a:lnSpc>
                <a:spcPct val="112000"/>
              </a:lnSpc>
              <a:spcAft>
                <a:spcPts val="400"/>
              </a:spcAft>
            </a:pPr>
            <a:r>
              <a:rPr sz="980" b="0" dirty="0" err="1">
                <a:solidFill>
                  <a:srgbClr val="1F2937"/>
                </a:solidFill>
                <a:latin typeface="Arial"/>
              </a:rPr>
              <a:t>Giải</a:t>
            </a:r>
            <a:r>
              <a:rPr sz="980" b="0" dirty="0">
                <a:solidFill>
                  <a:srgbClr val="1F2937"/>
                </a:solidFill>
                <a:latin typeface="Arial"/>
              </a:rPr>
              <a:t> </a:t>
            </a:r>
            <a:r>
              <a:rPr sz="980" b="0" dirty="0" err="1">
                <a:solidFill>
                  <a:srgbClr val="1F2937"/>
                </a:solidFill>
                <a:latin typeface="Arial"/>
              </a:rPr>
              <a:t>thích</a:t>
            </a:r>
            <a:r>
              <a:rPr sz="980" b="0" dirty="0">
                <a:solidFill>
                  <a:srgbClr val="1F2937"/>
                </a:solidFill>
                <a:latin typeface="Arial"/>
              </a:rPr>
              <a:t> </a:t>
            </a:r>
            <a:r>
              <a:rPr sz="980" b="0" dirty="0" err="1">
                <a:solidFill>
                  <a:srgbClr val="1F2937"/>
                </a:solidFill>
                <a:latin typeface="Arial"/>
              </a:rPr>
              <a:t>nhanh</a:t>
            </a:r>
            <a:r>
              <a:rPr sz="980" b="0" dirty="0">
                <a:solidFill>
                  <a:srgbClr val="1F2937"/>
                </a:solidFill>
                <a:latin typeface="Arial"/>
              </a:rPr>
              <a:t>: </a:t>
            </a:r>
            <a:r>
              <a:rPr sz="980" b="0" dirty="0" err="1">
                <a:solidFill>
                  <a:srgbClr val="1F2937"/>
                </a:solidFill>
                <a:latin typeface="Arial"/>
              </a:rPr>
              <a:t>hàng</a:t>
            </a:r>
            <a:r>
              <a:rPr sz="980" b="0" dirty="0">
                <a:solidFill>
                  <a:srgbClr val="1F2937"/>
                </a:solidFill>
                <a:latin typeface="Arial"/>
              </a:rPr>
              <a:t> </a:t>
            </a:r>
            <a:r>
              <a:rPr sz="980" b="0" dirty="0" err="1">
                <a:solidFill>
                  <a:srgbClr val="1F2937"/>
                </a:solidFill>
                <a:latin typeface="Arial"/>
              </a:rPr>
              <a:t>là</a:t>
            </a:r>
            <a:r>
              <a:rPr sz="980" b="0" dirty="0">
                <a:solidFill>
                  <a:srgbClr val="1F2937"/>
                </a:solidFill>
                <a:latin typeface="Arial"/>
              </a:rPr>
              <a:t> </a:t>
            </a:r>
            <a:r>
              <a:rPr sz="980" b="0" dirty="0" err="1">
                <a:solidFill>
                  <a:srgbClr val="1F2937"/>
                </a:solidFill>
                <a:latin typeface="Arial"/>
              </a:rPr>
              <a:t>nhãn</a:t>
            </a:r>
            <a:r>
              <a:rPr sz="980" b="0" dirty="0">
                <a:solidFill>
                  <a:srgbClr val="1F2937"/>
                </a:solidFill>
                <a:latin typeface="Arial"/>
              </a:rPr>
              <a:t> </a:t>
            </a:r>
            <a:r>
              <a:rPr sz="980" b="0" dirty="0" err="1">
                <a:solidFill>
                  <a:srgbClr val="1F2937"/>
                </a:solidFill>
                <a:latin typeface="Arial"/>
              </a:rPr>
              <a:t>thật</a:t>
            </a:r>
            <a:r>
              <a:rPr sz="980" b="0" dirty="0">
                <a:solidFill>
                  <a:srgbClr val="1F2937"/>
                </a:solidFill>
                <a:latin typeface="Arial"/>
              </a:rPr>
              <a:t>, </a:t>
            </a:r>
            <a:r>
              <a:rPr sz="980" b="0" dirty="0" err="1">
                <a:solidFill>
                  <a:srgbClr val="1F2937"/>
                </a:solidFill>
                <a:latin typeface="Arial"/>
              </a:rPr>
              <a:t>cột</a:t>
            </a:r>
            <a:r>
              <a:rPr sz="980" b="0" dirty="0">
                <a:solidFill>
                  <a:srgbClr val="1F2937"/>
                </a:solidFill>
                <a:latin typeface="Arial"/>
              </a:rPr>
              <a:t> </a:t>
            </a:r>
            <a:r>
              <a:rPr sz="980" b="0" dirty="0" err="1">
                <a:solidFill>
                  <a:srgbClr val="1F2937"/>
                </a:solidFill>
                <a:latin typeface="Arial"/>
              </a:rPr>
              <a:t>là</a:t>
            </a:r>
            <a:r>
              <a:rPr sz="980" b="0" dirty="0">
                <a:solidFill>
                  <a:srgbClr val="1F2937"/>
                </a:solidFill>
                <a:latin typeface="Arial"/>
              </a:rPr>
              <a:t> </a:t>
            </a:r>
            <a:r>
              <a:rPr sz="980" b="0" dirty="0" err="1">
                <a:solidFill>
                  <a:srgbClr val="1F2937"/>
                </a:solidFill>
                <a:latin typeface="Arial"/>
              </a:rPr>
              <a:t>nhãn</a:t>
            </a:r>
            <a:r>
              <a:rPr sz="980" b="0" dirty="0">
                <a:solidFill>
                  <a:srgbClr val="1F2937"/>
                </a:solidFill>
                <a:latin typeface="Arial"/>
              </a:rPr>
              <a:t> </a:t>
            </a:r>
            <a:r>
              <a:rPr sz="980" b="0" dirty="0" err="1">
                <a:solidFill>
                  <a:srgbClr val="1F2937"/>
                </a:solidFill>
                <a:latin typeface="Arial"/>
              </a:rPr>
              <a:t>dự</a:t>
            </a:r>
            <a:r>
              <a:rPr sz="980" b="0" dirty="0">
                <a:solidFill>
                  <a:srgbClr val="1F2937"/>
                </a:solidFill>
                <a:latin typeface="Arial"/>
              </a:rPr>
              <a:t> </a:t>
            </a:r>
            <a:r>
              <a:rPr sz="980" b="0" dirty="0" err="1">
                <a:solidFill>
                  <a:srgbClr val="1F2937"/>
                </a:solidFill>
                <a:latin typeface="Arial"/>
              </a:rPr>
              <a:t>đoán</a:t>
            </a:r>
            <a:r>
              <a:rPr sz="980" b="0" dirty="0">
                <a:solidFill>
                  <a:srgbClr val="1F2937"/>
                </a:solidFill>
                <a:latin typeface="Arial"/>
              </a:rPr>
              <a:t>. FP </a:t>
            </a:r>
            <a:r>
              <a:rPr sz="980" b="0" dirty="0" err="1">
                <a:solidFill>
                  <a:srgbClr val="1F2937"/>
                </a:solidFill>
                <a:latin typeface="Arial"/>
              </a:rPr>
              <a:t>là</a:t>
            </a:r>
            <a:r>
              <a:rPr sz="980" b="0" dirty="0">
                <a:solidFill>
                  <a:srgbClr val="1F2937"/>
                </a:solidFill>
                <a:latin typeface="Arial"/>
              </a:rPr>
              <a:t> ham </a:t>
            </a:r>
            <a:r>
              <a:rPr sz="980" b="0" dirty="0" err="1">
                <a:solidFill>
                  <a:srgbClr val="1F2937"/>
                </a:solidFill>
                <a:latin typeface="Arial"/>
              </a:rPr>
              <a:t>bị</a:t>
            </a:r>
            <a:r>
              <a:rPr sz="980" b="0" dirty="0">
                <a:solidFill>
                  <a:srgbClr val="1F2937"/>
                </a:solidFill>
                <a:latin typeface="Arial"/>
              </a:rPr>
              <a:t> </a:t>
            </a:r>
            <a:r>
              <a:rPr sz="980" b="0" dirty="0" err="1">
                <a:solidFill>
                  <a:srgbClr val="1F2937"/>
                </a:solidFill>
                <a:latin typeface="Arial"/>
              </a:rPr>
              <a:t>chặn</a:t>
            </a:r>
            <a:r>
              <a:rPr sz="980" b="0" dirty="0">
                <a:solidFill>
                  <a:srgbClr val="1F2937"/>
                </a:solidFill>
                <a:latin typeface="Arial"/>
              </a:rPr>
              <a:t> </a:t>
            </a:r>
            <a:r>
              <a:rPr sz="980" b="0" dirty="0" err="1">
                <a:solidFill>
                  <a:srgbClr val="1F2937"/>
                </a:solidFill>
                <a:latin typeface="Arial"/>
              </a:rPr>
              <a:t>nhầm</a:t>
            </a:r>
            <a:r>
              <a:rPr sz="980" b="0" dirty="0">
                <a:solidFill>
                  <a:srgbClr val="1F2937"/>
                </a:solidFill>
                <a:latin typeface="Arial"/>
              </a:rPr>
              <a:t>; FN </a:t>
            </a:r>
            <a:r>
              <a:rPr sz="980" b="0" dirty="0" err="1">
                <a:solidFill>
                  <a:srgbClr val="1F2937"/>
                </a:solidFill>
                <a:latin typeface="Arial"/>
              </a:rPr>
              <a:t>là</a:t>
            </a:r>
            <a:r>
              <a:rPr sz="980" b="0" dirty="0">
                <a:solidFill>
                  <a:srgbClr val="1F2937"/>
                </a:solidFill>
                <a:latin typeface="Arial"/>
              </a:rPr>
              <a:t> spam </a:t>
            </a:r>
            <a:r>
              <a:rPr sz="980" b="0" dirty="0" err="1">
                <a:solidFill>
                  <a:srgbClr val="1F2937"/>
                </a:solidFill>
                <a:latin typeface="Arial"/>
              </a:rPr>
              <a:t>bị</a:t>
            </a:r>
            <a:r>
              <a:rPr sz="980" b="0" dirty="0">
                <a:solidFill>
                  <a:srgbClr val="1F2937"/>
                </a:solidFill>
                <a:latin typeface="Arial"/>
              </a:rPr>
              <a:t> </a:t>
            </a:r>
            <a:r>
              <a:rPr sz="980" b="0" dirty="0" err="1">
                <a:solidFill>
                  <a:srgbClr val="1F2937"/>
                </a:solidFill>
                <a:latin typeface="Arial"/>
              </a:rPr>
              <a:t>bỏ</a:t>
            </a:r>
            <a:r>
              <a:rPr sz="980" b="0" dirty="0">
                <a:solidFill>
                  <a:srgbClr val="1F2937"/>
                </a:solidFill>
                <a:latin typeface="Arial"/>
              </a:rPr>
              <a:t> </a:t>
            </a:r>
            <a:r>
              <a:rPr sz="980" b="0" dirty="0" err="1">
                <a:solidFill>
                  <a:srgbClr val="1F2937"/>
                </a:solidFill>
                <a:latin typeface="Arial"/>
              </a:rPr>
              <a:t>sót</a:t>
            </a:r>
            <a:r>
              <a:rPr sz="980" b="0" dirty="0">
                <a:solidFill>
                  <a:srgbClr val="1F2937"/>
                </a:solidFill>
                <a:latin typeface="Arial"/>
              </a:rPr>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0F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75488"/>
            <a:ext cx="201168" cy="6382512"/>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8912" y="164592"/>
            <a:ext cx="1417320" cy="292608"/>
          </a:xfrm>
          <a:prstGeom prst="roundRect">
            <a:avLst/>
          </a:prstGeom>
          <a:solidFill>
            <a:srgbClr val="E46A2E"/>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t">
            <a:normAutofit/>
          </a:bodyPr>
          <a:lstStyle/>
          <a:p>
            <a:pPr algn="ctr">
              <a:lnSpc>
                <a:spcPct val="112000"/>
              </a:lnSpc>
              <a:spcAft>
                <a:spcPts val="400"/>
              </a:spcAft>
            </a:pPr>
            <a:r>
              <a:rPr sz="1200" b="1">
                <a:solidFill>
                  <a:srgbClr val="FFFFFF"/>
                </a:solidFill>
                <a:latin typeface="Arial"/>
              </a:rPr>
              <a:t>CHƯƠNG 4</a:t>
            </a:r>
          </a:p>
        </p:txBody>
      </p:sp>
      <p:sp>
        <p:nvSpPr>
          <p:cNvPr id="5" name="TextBox 4"/>
          <p:cNvSpPr txBox="1"/>
          <p:nvPr/>
        </p:nvSpPr>
        <p:spPr>
          <a:xfrm>
            <a:off x="502920" y="658368"/>
            <a:ext cx="8138160" cy="475488"/>
          </a:xfrm>
          <a:prstGeom prst="rect">
            <a:avLst/>
          </a:prstGeom>
          <a:noFill/>
        </p:spPr>
        <p:txBody>
          <a:bodyPr wrap="square" lIns="0" tIns="0" rIns="0" bIns="0" anchor="t">
            <a:normAutofit/>
          </a:bodyPr>
          <a:lstStyle/>
          <a:p>
            <a:pPr algn="l">
              <a:lnSpc>
                <a:spcPct val="112000"/>
              </a:lnSpc>
              <a:spcAft>
                <a:spcPts val="400"/>
              </a:spcAft>
            </a:pPr>
            <a:r>
              <a:rPr sz="2400" b="1">
                <a:solidFill>
                  <a:srgbClr val="0F2747"/>
                </a:solidFill>
                <a:latin typeface="Arial"/>
              </a:rPr>
              <a:t>ROC curve của ba mô hình mạnh nhất</a:t>
            </a:r>
          </a:p>
        </p:txBody>
      </p:sp>
      <p:sp>
        <p:nvSpPr>
          <p:cNvPr id="6" name="TextBox 5"/>
          <p:cNvSpPr txBox="1"/>
          <p:nvPr/>
        </p:nvSpPr>
        <p:spPr>
          <a:xfrm>
            <a:off x="521207" y="1078992"/>
            <a:ext cx="10058400" cy="292608"/>
          </a:xfrm>
          <a:prstGeom prst="rect">
            <a:avLst/>
          </a:prstGeom>
          <a:noFill/>
        </p:spPr>
        <p:txBody>
          <a:bodyPr wrap="square" lIns="0" tIns="0" rIns="0" bIns="0" anchor="t">
            <a:normAutofit/>
          </a:bodyPr>
          <a:lstStyle/>
          <a:p>
            <a:pPr algn="l">
              <a:lnSpc>
                <a:spcPct val="112000"/>
              </a:lnSpc>
              <a:spcAft>
                <a:spcPts val="400"/>
              </a:spcAft>
            </a:pPr>
            <a:r>
              <a:rPr sz="1050" b="0">
                <a:solidFill>
                  <a:srgbClr val="5B677A"/>
                </a:solidFill>
                <a:latin typeface="Arial"/>
              </a:rPr>
              <a:t>Biểu đồ ROC giúp lý giải vì sao nhóm nói SVM và LR đều rất mạnh chứ không chỉ dựa vào một con số F1 duy nhất</a:t>
            </a:r>
          </a:p>
        </p:txBody>
      </p:sp>
      <p:sp>
        <p:nvSpPr>
          <p:cNvPr id="7" name="TextBox 6"/>
          <p:cNvSpPr txBox="1"/>
          <p:nvPr/>
        </p:nvSpPr>
        <p:spPr>
          <a:xfrm>
            <a:off x="502920" y="6446520"/>
            <a:ext cx="10789920" cy="164592"/>
          </a:xfrm>
          <a:prstGeom prst="rect">
            <a:avLst/>
          </a:prstGeom>
          <a:noFill/>
        </p:spPr>
        <p:txBody>
          <a:bodyPr wrap="square" lIns="0" tIns="0" rIns="0" bIns="0" anchor="t">
            <a:normAutofit/>
          </a:bodyPr>
          <a:lstStyle/>
          <a:p>
            <a:pPr algn="l">
              <a:lnSpc>
                <a:spcPct val="112000"/>
              </a:lnSpc>
              <a:spcAft>
                <a:spcPts val="400"/>
              </a:spcAft>
            </a:pPr>
            <a:r>
              <a:rPr sz="850" b="0">
                <a:solidFill>
                  <a:srgbClr val="5B677A"/>
                </a:solidFill>
                <a:latin typeface="Arial"/>
              </a:rPr>
              <a:t>Xây dựng hệ thống phát hiện và lọc spam email | Đồ án Truy hồi thông tin | Trang 32</a:t>
            </a:r>
          </a:p>
        </p:txBody>
      </p:sp>
      <p:sp>
        <p:nvSpPr>
          <p:cNvPr id="8" name="Rounded Rectangle 7"/>
          <p:cNvSpPr/>
          <p:nvPr/>
        </p:nvSpPr>
        <p:spPr>
          <a:xfrm>
            <a:off x="502920" y="1417320"/>
            <a:ext cx="5074920" cy="4709160"/>
          </a:xfrm>
          <a:prstGeom prst="roundRect">
            <a:avLst/>
          </a:prstGeom>
          <a:solidFill>
            <a:srgbClr val="FFFF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normAutofit/>
          </a:bodyPr>
          <a:lstStyle/>
          <a:p>
            <a:pPr algn="l">
              <a:lnSpc>
                <a:spcPct val="112000"/>
              </a:lnSpc>
              <a:spcAft>
                <a:spcPts val="400"/>
              </a:spcAft>
            </a:pPr>
            <a:r>
              <a:rPr sz="1400" b="0">
                <a:solidFill>
                  <a:srgbClr val="1F2937"/>
                </a:solidFill>
                <a:latin typeface="Arial"/>
              </a:rPr>
              <a:t>ROC-AUC của Linear SVM đạt 99.79%, Logistic Regression đạt 99.65% và Naive Bayes đạt 99.69%. Cả ba đều rất cao, chứng tỏ khả năng tách hai lớp nhìn chung là rất tốt.</a:t>
            </a:r>
          </a:p>
          <a:p>
            <a:pPr algn="l">
              <a:lnSpc>
                <a:spcPct val="112000"/>
              </a:lnSpc>
              <a:spcAft>
                <a:spcPts val="400"/>
              </a:spcAft>
            </a:pPr>
            <a:r>
              <a:rPr sz="1400" b="0">
                <a:solidFill>
                  <a:srgbClr val="1F2937"/>
                </a:solidFill>
                <a:latin typeface="Arial"/>
              </a:rPr>
              <a:t>• Đường cong của LR và SVM bám góc trên bên trái sát hơn so với Naive Bayes. Cho thấy các mô hình tuyến tính giữ trade-off ổn định hơn khi thay đổi ngưỡng quyết định.</a:t>
            </a:r>
          </a:p>
          <a:p>
            <a:pPr algn="l">
              <a:lnSpc>
                <a:spcPct val="112000"/>
              </a:lnSpc>
              <a:spcAft>
                <a:spcPts val="400"/>
              </a:spcAft>
            </a:pPr>
            <a:r>
              <a:rPr sz="1400" b="0">
                <a:solidFill>
                  <a:srgbClr val="1F2937"/>
                </a:solidFill>
                <a:latin typeface="Arial"/>
              </a:rPr>
              <a:t>• ROC không thay thế F1 hay confusion matrix, nhưng nó cho biết mô hình có còn linh hoạt nếu nhóm muốn điều chỉnh threshold để giảm FP hoặc giảm FN ở những bối cảnh sử dụng khác nhau hay không.</a:t>
            </a:r>
          </a:p>
          <a:p>
            <a:pPr algn="l">
              <a:lnSpc>
                <a:spcPct val="112000"/>
              </a:lnSpc>
              <a:spcAft>
                <a:spcPts val="400"/>
              </a:spcAft>
            </a:pPr>
            <a:r>
              <a:rPr sz="1400" b="0">
                <a:solidFill>
                  <a:srgbClr val="1F2937"/>
                </a:solidFill>
                <a:latin typeface="Arial"/>
              </a:rPr>
              <a:t>• App của nhóm cũng hỗ trợ chỉnh decision threshold.</a:t>
            </a:r>
          </a:p>
        </p:txBody>
      </p:sp>
      <p:sp>
        <p:nvSpPr>
          <p:cNvPr id="9" name="Rounded Rectangle 8"/>
          <p:cNvSpPr/>
          <p:nvPr/>
        </p:nvSpPr>
        <p:spPr>
          <a:xfrm>
            <a:off x="5806440" y="1463040"/>
            <a:ext cx="5532120" cy="4069080"/>
          </a:xfrm>
          <a:prstGeom prst="roundRect">
            <a:avLst/>
          </a:prstGeom>
          <a:solidFill>
            <a:srgbClr val="FFFFFF"/>
          </a:solidFill>
          <a:ln>
            <a:solidFill>
              <a:srgbClr val="D6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report_fig7.png"/>
          <p:cNvPicPr>
            <a:picLocks noChangeAspect="1"/>
          </p:cNvPicPr>
          <p:nvPr/>
        </p:nvPicPr>
        <p:blipFill>
          <a:blip r:embed="rId2"/>
          <a:stretch>
            <a:fillRect/>
          </a:stretch>
        </p:blipFill>
        <p:spPr>
          <a:xfrm>
            <a:off x="5931926" y="1463040"/>
            <a:ext cx="5281146" cy="4069080"/>
          </a:xfrm>
          <a:prstGeom prst="rect">
            <a:avLst/>
          </a:prstGeom>
        </p:spPr>
      </p:pic>
      <p:sp>
        <p:nvSpPr>
          <p:cNvPr id="11" name="Rounded Rectangle 10"/>
          <p:cNvSpPr/>
          <p:nvPr/>
        </p:nvSpPr>
        <p:spPr>
          <a:xfrm>
            <a:off x="5806440" y="5559552"/>
            <a:ext cx="5532120" cy="411480"/>
          </a:xfrm>
          <a:prstGeom prst="roundRect">
            <a:avLst/>
          </a:prstGeom>
          <a:solidFill>
            <a:srgbClr val="EAF2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t">
            <a:normAutofit/>
          </a:bodyPr>
          <a:lstStyle/>
          <a:p>
            <a:pPr algn="l">
              <a:lnSpc>
                <a:spcPct val="112000"/>
              </a:lnSpc>
              <a:spcAft>
                <a:spcPts val="400"/>
              </a:spcAft>
            </a:pPr>
            <a:r>
              <a:rPr sz="1050" b="0">
                <a:solidFill>
                  <a:srgbClr val="1F2937"/>
                </a:solidFill>
                <a:latin typeface="Arial"/>
              </a:rPr>
              <a:t>Hình 7: ROC curve của ba mô hình mạnh nhất trên tập test.</a:t>
            </a:r>
          </a:p>
        </p:txBody>
      </p:sp>
      <p:sp>
        <p:nvSpPr>
          <p:cNvPr id="12" name="Rounded Rectangle 11"/>
          <p:cNvSpPr/>
          <p:nvPr/>
        </p:nvSpPr>
        <p:spPr>
          <a:xfrm>
            <a:off x="5806440" y="6099048"/>
            <a:ext cx="5532120" cy="384048"/>
          </a:xfrm>
          <a:prstGeom prst="roundRect">
            <a:avLst/>
          </a:prstGeom>
          <a:solidFill>
            <a:srgbClr val="FFF1E8"/>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t">
            <a:normAutofit lnSpcReduction="10000"/>
          </a:bodyPr>
          <a:lstStyle/>
          <a:p>
            <a:pPr algn="l">
              <a:lnSpc>
                <a:spcPct val="112000"/>
              </a:lnSpc>
              <a:spcAft>
                <a:spcPts val="400"/>
              </a:spcAft>
            </a:pPr>
            <a:r>
              <a:rPr sz="980" b="0" dirty="0" err="1">
                <a:solidFill>
                  <a:srgbClr val="1F2937"/>
                </a:solidFill>
                <a:latin typeface="Arial"/>
              </a:rPr>
              <a:t>Khi</a:t>
            </a:r>
            <a:r>
              <a:rPr sz="980" b="0" dirty="0">
                <a:solidFill>
                  <a:srgbClr val="1F2937"/>
                </a:solidFill>
                <a:latin typeface="Arial"/>
              </a:rPr>
              <a:t> threshold </a:t>
            </a:r>
            <a:r>
              <a:rPr sz="980" b="0" dirty="0" err="1">
                <a:solidFill>
                  <a:srgbClr val="1F2937"/>
                </a:solidFill>
                <a:latin typeface="Arial"/>
              </a:rPr>
              <a:t>tăng</a:t>
            </a:r>
            <a:r>
              <a:rPr sz="980" b="0" dirty="0">
                <a:solidFill>
                  <a:srgbClr val="1F2937"/>
                </a:solidFill>
                <a:latin typeface="Arial"/>
              </a:rPr>
              <a:t>, </a:t>
            </a:r>
            <a:r>
              <a:rPr sz="980" b="0" dirty="0" err="1">
                <a:solidFill>
                  <a:srgbClr val="1F2937"/>
                </a:solidFill>
                <a:latin typeface="Arial"/>
              </a:rPr>
              <a:t>mô</a:t>
            </a:r>
            <a:r>
              <a:rPr sz="980" b="0" dirty="0">
                <a:solidFill>
                  <a:srgbClr val="1F2937"/>
                </a:solidFill>
                <a:latin typeface="Arial"/>
              </a:rPr>
              <a:t> </a:t>
            </a:r>
            <a:r>
              <a:rPr sz="980" b="0" dirty="0" err="1">
                <a:solidFill>
                  <a:srgbClr val="1F2937"/>
                </a:solidFill>
                <a:latin typeface="Arial"/>
              </a:rPr>
              <a:t>hình</a:t>
            </a:r>
            <a:r>
              <a:rPr sz="980" b="0" dirty="0">
                <a:solidFill>
                  <a:srgbClr val="1F2937"/>
                </a:solidFill>
                <a:latin typeface="Arial"/>
              </a:rPr>
              <a:t> </a:t>
            </a:r>
            <a:r>
              <a:rPr sz="980" b="0" dirty="0" err="1">
                <a:solidFill>
                  <a:srgbClr val="1F2937"/>
                </a:solidFill>
                <a:latin typeface="Arial"/>
              </a:rPr>
              <a:t>sẽ</a:t>
            </a:r>
            <a:r>
              <a:rPr sz="980" b="0" dirty="0">
                <a:solidFill>
                  <a:srgbClr val="1F2937"/>
                </a:solidFill>
                <a:latin typeface="Arial"/>
              </a:rPr>
              <a:t> </a:t>
            </a:r>
            <a:r>
              <a:rPr sz="980" b="0" dirty="0" err="1">
                <a:solidFill>
                  <a:srgbClr val="1F2937"/>
                </a:solidFill>
                <a:latin typeface="Arial"/>
              </a:rPr>
              <a:t>chặt</a:t>
            </a:r>
            <a:r>
              <a:rPr sz="980" b="0" dirty="0">
                <a:solidFill>
                  <a:srgbClr val="1F2937"/>
                </a:solidFill>
                <a:latin typeface="Arial"/>
              </a:rPr>
              <a:t> </a:t>
            </a:r>
            <a:r>
              <a:rPr sz="980" b="0" dirty="0" err="1">
                <a:solidFill>
                  <a:srgbClr val="1F2937"/>
                </a:solidFill>
                <a:latin typeface="Arial"/>
              </a:rPr>
              <a:t>hơn</a:t>
            </a:r>
            <a:r>
              <a:rPr sz="980" b="0" dirty="0">
                <a:solidFill>
                  <a:srgbClr val="1F2937"/>
                </a:solidFill>
                <a:latin typeface="Arial"/>
              </a:rPr>
              <a:t> </a:t>
            </a:r>
            <a:r>
              <a:rPr sz="980" b="0" dirty="0" err="1">
                <a:solidFill>
                  <a:srgbClr val="1F2937"/>
                </a:solidFill>
                <a:latin typeface="Arial"/>
              </a:rPr>
              <a:t>với</a:t>
            </a:r>
            <a:r>
              <a:rPr sz="980" b="0" dirty="0">
                <a:solidFill>
                  <a:srgbClr val="1F2937"/>
                </a:solidFill>
                <a:latin typeface="Arial"/>
              </a:rPr>
              <a:t> spam </a:t>
            </a:r>
            <a:r>
              <a:rPr sz="980" b="0" dirty="0" err="1">
                <a:solidFill>
                  <a:srgbClr val="1F2937"/>
                </a:solidFill>
                <a:latin typeface="Arial"/>
              </a:rPr>
              <a:t>nhưng</a:t>
            </a:r>
            <a:r>
              <a:rPr sz="980" b="0" dirty="0">
                <a:solidFill>
                  <a:srgbClr val="1F2937"/>
                </a:solidFill>
                <a:latin typeface="Arial"/>
              </a:rPr>
              <a:t> </a:t>
            </a:r>
            <a:r>
              <a:rPr sz="980" b="0" dirty="0" err="1">
                <a:solidFill>
                  <a:srgbClr val="1F2937"/>
                </a:solidFill>
                <a:latin typeface="Arial"/>
              </a:rPr>
              <a:t>có</a:t>
            </a:r>
            <a:r>
              <a:rPr sz="980" b="0" dirty="0">
                <a:solidFill>
                  <a:srgbClr val="1F2937"/>
                </a:solidFill>
                <a:latin typeface="Arial"/>
              </a:rPr>
              <a:t> </a:t>
            </a:r>
            <a:r>
              <a:rPr sz="980" b="0" dirty="0" err="1">
                <a:solidFill>
                  <a:srgbClr val="1F2937"/>
                </a:solidFill>
                <a:latin typeface="Arial"/>
              </a:rPr>
              <a:t>thể</a:t>
            </a:r>
            <a:r>
              <a:rPr sz="980" b="0" dirty="0">
                <a:solidFill>
                  <a:srgbClr val="1F2937"/>
                </a:solidFill>
                <a:latin typeface="Arial"/>
              </a:rPr>
              <a:t> </a:t>
            </a:r>
            <a:r>
              <a:rPr sz="980" b="0" dirty="0" err="1">
                <a:solidFill>
                  <a:srgbClr val="1F2937"/>
                </a:solidFill>
                <a:latin typeface="Arial"/>
              </a:rPr>
              <a:t>tăng</a:t>
            </a:r>
            <a:r>
              <a:rPr sz="980" b="0" dirty="0">
                <a:solidFill>
                  <a:srgbClr val="1F2937"/>
                </a:solidFill>
                <a:latin typeface="Arial"/>
              </a:rPr>
              <a:t> false negative; </a:t>
            </a:r>
            <a:r>
              <a:rPr sz="980" b="0" dirty="0" err="1">
                <a:solidFill>
                  <a:srgbClr val="1F2937"/>
                </a:solidFill>
                <a:latin typeface="Arial"/>
              </a:rPr>
              <a:t>khi</a:t>
            </a:r>
            <a:r>
              <a:rPr sz="980" b="0" dirty="0">
                <a:solidFill>
                  <a:srgbClr val="1F2937"/>
                </a:solidFill>
                <a:latin typeface="Arial"/>
              </a:rPr>
              <a:t> threshold </a:t>
            </a:r>
            <a:r>
              <a:rPr sz="980" b="0" dirty="0" err="1">
                <a:solidFill>
                  <a:srgbClr val="1F2937"/>
                </a:solidFill>
                <a:latin typeface="Arial"/>
              </a:rPr>
              <a:t>giảm</a:t>
            </a:r>
            <a:r>
              <a:rPr sz="980" b="0" dirty="0">
                <a:solidFill>
                  <a:srgbClr val="1F2937"/>
                </a:solidFill>
                <a:latin typeface="Arial"/>
              </a:rPr>
              <a:t>, </a:t>
            </a:r>
            <a:r>
              <a:rPr sz="980" b="0" dirty="0" err="1">
                <a:solidFill>
                  <a:srgbClr val="1F2937"/>
                </a:solidFill>
                <a:latin typeface="Arial"/>
              </a:rPr>
              <a:t>mô</a:t>
            </a:r>
            <a:r>
              <a:rPr sz="980" b="0" dirty="0">
                <a:solidFill>
                  <a:srgbClr val="1F2937"/>
                </a:solidFill>
                <a:latin typeface="Arial"/>
              </a:rPr>
              <a:t> </a:t>
            </a:r>
            <a:r>
              <a:rPr sz="980" b="0" dirty="0" err="1">
                <a:solidFill>
                  <a:srgbClr val="1F2937"/>
                </a:solidFill>
                <a:latin typeface="Arial"/>
              </a:rPr>
              <a:t>hình</a:t>
            </a:r>
            <a:r>
              <a:rPr sz="980" b="0" dirty="0">
                <a:solidFill>
                  <a:srgbClr val="1F2937"/>
                </a:solidFill>
                <a:latin typeface="Arial"/>
              </a:rPr>
              <a:t> </a:t>
            </a:r>
            <a:r>
              <a:rPr sz="980" b="0" dirty="0" err="1">
                <a:solidFill>
                  <a:srgbClr val="1F2937"/>
                </a:solidFill>
                <a:latin typeface="Arial"/>
              </a:rPr>
              <a:t>bắt</a:t>
            </a:r>
            <a:r>
              <a:rPr sz="980" b="0" dirty="0">
                <a:solidFill>
                  <a:srgbClr val="1F2937"/>
                </a:solidFill>
                <a:latin typeface="Arial"/>
              </a:rPr>
              <a:t> spam </a:t>
            </a:r>
            <a:r>
              <a:rPr sz="980" b="0" dirty="0" err="1">
                <a:solidFill>
                  <a:srgbClr val="1F2937"/>
                </a:solidFill>
                <a:latin typeface="Arial"/>
              </a:rPr>
              <a:t>mạnh</a:t>
            </a:r>
            <a:r>
              <a:rPr sz="980" b="0" dirty="0">
                <a:solidFill>
                  <a:srgbClr val="1F2937"/>
                </a:solidFill>
                <a:latin typeface="Arial"/>
              </a:rPr>
              <a:t> </a:t>
            </a:r>
            <a:r>
              <a:rPr sz="980" b="0" dirty="0" err="1">
                <a:solidFill>
                  <a:srgbClr val="1F2937"/>
                </a:solidFill>
                <a:latin typeface="Arial"/>
              </a:rPr>
              <a:t>hơn</a:t>
            </a:r>
            <a:r>
              <a:rPr sz="980" b="0" dirty="0">
                <a:solidFill>
                  <a:srgbClr val="1F2937"/>
                </a:solidFill>
                <a:latin typeface="Arial"/>
              </a:rPr>
              <a:t> </a:t>
            </a:r>
            <a:r>
              <a:rPr sz="980" b="0" dirty="0" err="1">
                <a:solidFill>
                  <a:srgbClr val="1F2937"/>
                </a:solidFill>
                <a:latin typeface="Arial"/>
              </a:rPr>
              <a:t>nhưng</a:t>
            </a:r>
            <a:r>
              <a:rPr sz="980" b="0" dirty="0">
                <a:solidFill>
                  <a:srgbClr val="1F2937"/>
                </a:solidFill>
                <a:latin typeface="Arial"/>
              </a:rPr>
              <a:t> </a:t>
            </a:r>
            <a:r>
              <a:rPr sz="980" b="0" dirty="0" err="1">
                <a:solidFill>
                  <a:srgbClr val="1F2937"/>
                </a:solidFill>
                <a:latin typeface="Arial"/>
              </a:rPr>
              <a:t>có</a:t>
            </a:r>
            <a:r>
              <a:rPr sz="980" b="0" dirty="0">
                <a:solidFill>
                  <a:srgbClr val="1F2937"/>
                </a:solidFill>
                <a:latin typeface="Arial"/>
              </a:rPr>
              <a:t> </a:t>
            </a:r>
            <a:r>
              <a:rPr sz="980" b="0" dirty="0" err="1">
                <a:solidFill>
                  <a:srgbClr val="1F2937"/>
                </a:solidFill>
                <a:latin typeface="Arial"/>
              </a:rPr>
              <a:t>thể</a:t>
            </a:r>
            <a:r>
              <a:rPr sz="980" b="0" dirty="0">
                <a:solidFill>
                  <a:srgbClr val="1F2937"/>
                </a:solidFill>
                <a:latin typeface="Arial"/>
              </a:rPr>
              <a:t> </a:t>
            </a:r>
            <a:r>
              <a:rPr sz="980" b="0" dirty="0" err="1">
                <a:solidFill>
                  <a:srgbClr val="1F2937"/>
                </a:solidFill>
                <a:latin typeface="Arial"/>
              </a:rPr>
              <a:t>tăng</a:t>
            </a:r>
            <a:r>
              <a:rPr sz="980" b="0" dirty="0">
                <a:solidFill>
                  <a:srgbClr val="1F2937"/>
                </a:solidFill>
                <a:latin typeface="Arial"/>
              </a:rPr>
              <a:t> false positive.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0F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75488"/>
            <a:ext cx="201168" cy="6382512"/>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8912" y="164592"/>
            <a:ext cx="1417320" cy="292608"/>
          </a:xfrm>
          <a:prstGeom prst="roundRect">
            <a:avLst/>
          </a:prstGeom>
          <a:solidFill>
            <a:srgbClr val="E46A2E"/>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t">
            <a:normAutofit/>
          </a:bodyPr>
          <a:lstStyle/>
          <a:p>
            <a:pPr algn="ctr">
              <a:lnSpc>
                <a:spcPct val="112000"/>
              </a:lnSpc>
              <a:spcAft>
                <a:spcPts val="400"/>
              </a:spcAft>
            </a:pPr>
            <a:r>
              <a:rPr sz="1200" b="1">
                <a:solidFill>
                  <a:srgbClr val="FFFFFF"/>
                </a:solidFill>
                <a:latin typeface="Arial"/>
              </a:rPr>
              <a:t>CHƯƠNG 4</a:t>
            </a:r>
          </a:p>
        </p:txBody>
      </p:sp>
      <p:sp>
        <p:nvSpPr>
          <p:cNvPr id="5" name="TextBox 4"/>
          <p:cNvSpPr txBox="1"/>
          <p:nvPr/>
        </p:nvSpPr>
        <p:spPr>
          <a:xfrm>
            <a:off x="502920" y="658368"/>
            <a:ext cx="8138160" cy="475488"/>
          </a:xfrm>
          <a:prstGeom prst="rect">
            <a:avLst/>
          </a:prstGeom>
          <a:noFill/>
        </p:spPr>
        <p:txBody>
          <a:bodyPr wrap="square" lIns="0" tIns="0" rIns="0" bIns="0" anchor="t">
            <a:normAutofit/>
          </a:bodyPr>
          <a:lstStyle/>
          <a:p>
            <a:pPr algn="l">
              <a:lnSpc>
                <a:spcPct val="112000"/>
              </a:lnSpc>
              <a:spcAft>
                <a:spcPts val="400"/>
              </a:spcAft>
            </a:pPr>
            <a:r>
              <a:rPr sz="2400" b="1">
                <a:solidFill>
                  <a:srgbClr val="0F2747"/>
                </a:solidFill>
                <a:latin typeface="Arial"/>
              </a:rPr>
              <a:t>Giải thích mô hình bằng token trọng số</a:t>
            </a:r>
          </a:p>
        </p:txBody>
      </p:sp>
      <p:sp>
        <p:nvSpPr>
          <p:cNvPr id="7" name="TextBox 6"/>
          <p:cNvSpPr txBox="1"/>
          <p:nvPr/>
        </p:nvSpPr>
        <p:spPr>
          <a:xfrm>
            <a:off x="502920" y="6446520"/>
            <a:ext cx="10789920" cy="164592"/>
          </a:xfrm>
          <a:prstGeom prst="rect">
            <a:avLst/>
          </a:prstGeom>
          <a:noFill/>
        </p:spPr>
        <p:txBody>
          <a:bodyPr wrap="square" lIns="0" tIns="0" rIns="0" bIns="0" anchor="t">
            <a:normAutofit/>
          </a:bodyPr>
          <a:lstStyle/>
          <a:p>
            <a:pPr algn="l">
              <a:lnSpc>
                <a:spcPct val="112000"/>
              </a:lnSpc>
              <a:spcAft>
                <a:spcPts val="400"/>
              </a:spcAft>
            </a:pPr>
            <a:r>
              <a:rPr sz="850" b="0">
                <a:solidFill>
                  <a:srgbClr val="5B677A"/>
                </a:solidFill>
                <a:latin typeface="Arial"/>
              </a:rPr>
              <a:t>Xây dựng hệ thống phát hiện và lọc spam email | Đồ án Truy hồi thông tin | Trang 33</a:t>
            </a:r>
          </a:p>
        </p:txBody>
      </p:sp>
      <p:sp>
        <p:nvSpPr>
          <p:cNvPr id="8" name="Rounded Rectangle 7"/>
          <p:cNvSpPr/>
          <p:nvPr/>
        </p:nvSpPr>
        <p:spPr>
          <a:xfrm>
            <a:off x="502920" y="1417320"/>
            <a:ext cx="5074920" cy="4709160"/>
          </a:xfrm>
          <a:prstGeom prst="roundRect">
            <a:avLst/>
          </a:prstGeom>
          <a:solidFill>
            <a:srgbClr val="FFFF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normAutofit/>
          </a:bodyPr>
          <a:lstStyle/>
          <a:p>
            <a:pPr algn="l">
              <a:lnSpc>
                <a:spcPct val="112000"/>
              </a:lnSpc>
              <a:spcAft>
                <a:spcPts val="400"/>
              </a:spcAft>
            </a:pPr>
            <a:r>
              <a:rPr sz="1400" b="0">
                <a:solidFill>
                  <a:srgbClr val="1F2937"/>
                </a:solidFill>
                <a:latin typeface="Arial"/>
              </a:rPr>
              <a:t>Các token kéo mạnh về phía spam trong mô hình SVM hiện tại gồm: http, read attached, urltoken, money, hello, remove, site.</a:t>
            </a:r>
          </a:p>
          <a:p>
            <a:pPr algn="l">
              <a:lnSpc>
                <a:spcPct val="112000"/>
              </a:lnSpc>
              <a:spcAft>
                <a:spcPts val="400"/>
              </a:spcAft>
            </a:pPr>
            <a:r>
              <a:rPr sz="1400" b="0">
                <a:solidFill>
                  <a:srgbClr val="1F2937"/>
                </a:solidFill>
                <a:latin typeface="Arial"/>
              </a:rPr>
              <a:t>• Các token kéo mạnh về phía ham gồm: enron, thanks, daren, attached, gas, deal, questions.</a:t>
            </a:r>
          </a:p>
          <a:p>
            <a:pPr algn="l">
              <a:lnSpc>
                <a:spcPct val="112000"/>
              </a:lnSpc>
              <a:spcAft>
                <a:spcPts val="400"/>
              </a:spcAft>
            </a:pPr>
            <a:r>
              <a:rPr sz="1400" b="0">
                <a:solidFill>
                  <a:srgbClr val="1F2937"/>
                </a:solidFill>
                <a:latin typeface="Arial"/>
              </a:rPr>
              <a:t>• Việc token có nghĩa và có thể diễn giải được là bằng chứng cho thấy mô hình không học ngẫu nhiên.</a:t>
            </a:r>
          </a:p>
          <a:p>
            <a:pPr algn="l">
              <a:lnSpc>
                <a:spcPct val="112000"/>
              </a:lnSpc>
              <a:spcAft>
                <a:spcPts val="400"/>
              </a:spcAft>
            </a:pPr>
            <a:r>
              <a:rPr sz="1400" b="0">
                <a:solidFill>
                  <a:srgbClr val="1F2937"/>
                </a:solidFill>
                <a:latin typeface="Arial"/>
              </a:rPr>
              <a:t>• App.py còn có hàm explain_linear_model() để tính đóng góp của từng token trong một email cụ thể.</a:t>
            </a:r>
          </a:p>
        </p:txBody>
      </p:sp>
      <p:sp>
        <p:nvSpPr>
          <p:cNvPr id="9" name="Rounded Rectangle 8"/>
          <p:cNvSpPr/>
          <p:nvPr/>
        </p:nvSpPr>
        <p:spPr>
          <a:xfrm>
            <a:off x="5806440" y="1463040"/>
            <a:ext cx="5532120" cy="4069080"/>
          </a:xfrm>
          <a:prstGeom prst="roundRect">
            <a:avLst/>
          </a:prstGeom>
          <a:solidFill>
            <a:srgbClr val="FFFFFF"/>
          </a:solidFill>
          <a:ln>
            <a:solidFill>
              <a:srgbClr val="D6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report_fig8.png"/>
          <p:cNvPicPr>
            <a:picLocks noChangeAspect="1"/>
          </p:cNvPicPr>
          <p:nvPr/>
        </p:nvPicPr>
        <p:blipFill>
          <a:blip r:embed="rId2"/>
          <a:stretch>
            <a:fillRect/>
          </a:stretch>
        </p:blipFill>
        <p:spPr>
          <a:xfrm>
            <a:off x="5806440" y="2170430"/>
            <a:ext cx="5532120" cy="2654300"/>
          </a:xfrm>
          <a:prstGeom prst="rect">
            <a:avLst/>
          </a:prstGeom>
        </p:spPr>
      </p:pic>
      <p:sp>
        <p:nvSpPr>
          <p:cNvPr id="11" name="Rounded Rectangle 10"/>
          <p:cNvSpPr/>
          <p:nvPr/>
        </p:nvSpPr>
        <p:spPr>
          <a:xfrm>
            <a:off x="5806440" y="5559552"/>
            <a:ext cx="5532120" cy="411480"/>
          </a:xfrm>
          <a:prstGeom prst="roundRect">
            <a:avLst/>
          </a:prstGeom>
          <a:solidFill>
            <a:srgbClr val="EAF2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t">
            <a:normAutofit/>
          </a:bodyPr>
          <a:lstStyle/>
          <a:p>
            <a:pPr algn="l">
              <a:lnSpc>
                <a:spcPct val="112000"/>
              </a:lnSpc>
              <a:spcAft>
                <a:spcPts val="400"/>
              </a:spcAft>
            </a:pPr>
            <a:r>
              <a:rPr sz="1050" b="0">
                <a:solidFill>
                  <a:srgbClr val="1F2937"/>
                </a:solidFill>
                <a:latin typeface="Arial"/>
              </a:rPr>
              <a:t>Hình 8: các token trọng số mạnh nhất của mô hình Linear SVM.</a:t>
            </a:r>
          </a:p>
        </p:txBody>
      </p:sp>
      <p:sp>
        <p:nvSpPr>
          <p:cNvPr id="12" name="Rounded Rectangle 11"/>
          <p:cNvSpPr/>
          <p:nvPr/>
        </p:nvSpPr>
        <p:spPr>
          <a:xfrm>
            <a:off x="5806440" y="6053328"/>
            <a:ext cx="5532120" cy="384048"/>
          </a:xfrm>
          <a:prstGeom prst="roundRect">
            <a:avLst/>
          </a:prstGeom>
          <a:solidFill>
            <a:srgbClr val="FFF1E8"/>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t">
            <a:normAutofit lnSpcReduction="10000"/>
          </a:bodyPr>
          <a:lstStyle/>
          <a:p>
            <a:pPr algn="l">
              <a:lnSpc>
                <a:spcPct val="112000"/>
              </a:lnSpc>
              <a:spcAft>
                <a:spcPts val="400"/>
              </a:spcAft>
            </a:pPr>
            <a:r>
              <a:rPr sz="980" b="0">
                <a:solidFill>
                  <a:srgbClr val="1F2937"/>
                </a:solidFill>
                <a:latin typeface="Arial"/>
              </a:rPr>
              <a:t>Điểm nên nói rõ: mô hình không chỉ trả nhãn, mà còn cho phép truy ngược về tín hiệu ngôn ngữ cụ thể đang chi phối quyết định.</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0F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75488"/>
            <a:ext cx="201168" cy="6382512"/>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8912" y="164592"/>
            <a:ext cx="1417320" cy="292608"/>
          </a:xfrm>
          <a:prstGeom prst="roundRect">
            <a:avLst/>
          </a:prstGeom>
          <a:solidFill>
            <a:srgbClr val="E46A2E"/>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t">
            <a:normAutofit/>
          </a:bodyPr>
          <a:lstStyle/>
          <a:p>
            <a:pPr algn="ctr">
              <a:lnSpc>
                <a:spcPct val="112000"/>
              </a:lnSpc>
              <a:spcAft>
                <a:spcPts val="400"/>
              </a:spcAft>
            </a:pPr>
            <a:r>
              <a:rPr sz="1200" b="1">
                <a:solidFill>
                  <a:srgbClr val="FFFFFF"/>
                </a:solidFill>
                <a:latin typeface="Arial"/>
              </a:rPr>
              <a:t>CHƯƠNG 4</a:t>
            </a:r>
          </a:p>
        </p:txBody>
      </p:sp>
      <p:sp>
        <p:nvSpPr>
          <p:cNvPr id="5" name="TextBox 4"/>
          <p:cNvSpPr txBox="1"/>
          <p:nvPr/>
        </p:nvSpPr>
        <p:spPr>
          <a:xfrm>
            <a:off x="502920" y="658368"/>
            <a:ext cx="8138160" cy="475488"/>
          </a:xfrm>
          <a:prstGeom prst="rect">
            <a:avLst/>
          </a:prstGeom>
          <a:noFill/>
        </p:spPr>
        <p:txBody>
          <a:bodyPr wrap="square" lIns="0" tIns="0" rIns="0" bIns="0" anchor="t">
            <a:normAutofit/>
          </a:bodyPr>
          <a:lstStyle/>
          <a:p>
            <a:pPr algn="l">
              <a:lnSpc>
                <a:spcPct val="112000"/>
              </a:lnSpc>
              <a:spcAft>
                <a:spcPts val="400"/>
              </a:spcAft>
            </a:pPr>
            <a:r>
              <a:rPr sz="2400" b="1">
                <a:solidFill>
                  <a:srgbClr val="0F2747"/>
                </a:solidFill>
                <a:latin typeface="Arial"/>
              </a:rPr>
              <a:t>Phân tích lỗi dự đoán và vùng khó của dữ liệu</a:t>
            </a:r>
          </a:p>
        </p:txBody>
      </p:sp>
      <p:sp>
        <p:nvSpPr>
          <p:cNvPr id="6" name="TextBox 5"/>
          <p:cNvSpPr txBox="1"/>
          <p:nvPr/>
        </p:nvSpPr>
        <p:spPr>
          <a:xfrm>
            <a:off x="521207" y="1078992"/>
            <a:ext cx="10058400" cy="292608"/>
          </a:xfrm>
          <a:prstGeom prst="rect">
            <a:avLst/>
          </a:prstGeom>
          <a:noFill/>
        </p:spPr>
        <p:txBody>
          <a:bodyPr wrap="square" lIns="0" tIns="0" rIns="0" bIns="0" anchor="t">
            <a:normAutofit/>
          </a:bodyPr>
          <a:lstStyle/>
          <a:p>
            <a:pPr algn="l">
              <a:lnSpc>
                <a:spcPct val="112000"/>
              </a:lnSpc>
              <a:spcAft>
                <a:spcPts val="400"/>
              </a:spcAft>
            </a:pPr>
            <a:r>
              <a:rPr sz="1050" b="0">
                <a:solidFill>
                  <a:srgbClr val="5B677A"/>
                </a:solidFill>
                <a:latin typeface="Arial"/>
              </a:rPr>
              <a:t>Sai số ít nhưng không thể bỏ qua; chính các lỗi này cho biết bước tiếp theo nên cải tiến ở đâu</a:t>
            </a:r>
          </a:p>
        </p:txBody>
      </p:sp>
      <p:sp>
        <p:nvSpPr>
          <p:cNvPr id="7" name="TextBox 6"/>
          <p:cNvSpPr txBox="1"/>
          <p:nvPr/>
        </p:nvSpPr>
        <p:spPr>
          <a:xfrm>
            <a:off x="502920" y="6446520"/>
            <a:ext cx="10789920" cy="164592"/>
          </a:xfrm>
          <a:prstGeom prst="rect">
            <a:avLst/>
          </a:prstGeom>
          <a:noFill/>
        </p:spPr>
        <p:txBody>
          <a:bodyPr wrap="square" lIns="0" tIns="0" rIns="0" bIns="0" anchor="t">
            <a:normAutofit/>
          </a:bodyPr>
          <a:lstStyle/>
          <a:p>
            <a:pPr algn="l">
              <a:lnSpc>
                <a:spcPct val="112000"/>
              </a:lnSpc>
              <a:spcAft>
                <a:spcPts val="400"/>
              </a:spcAft>
            </a:pPr>
            <a:r>
              <a:rPr sz="850" b="0">
                <a:solidFill>
                  <a:srgbClr val="5B677A"/>
                </a:solidFill>
                <a:latin typeface="Arial"/>
              </a:rPr>
              <a:t>Xây dựng hệ thống phát hiện và lọc spam email | Đồ án Truy hồi thông tin | Trang 34</a:t>
            </a:r>
          </a:p>
        </p:txBody>
      </p:sp>
      <p:sp>
        <p:nvSpPr>
          <p:cNvPr id="8" name="Rounded Rectangle 7"/>
          <p:cNvSpPr/>
          <p:nvPr/>
        </p:nvSpPr>
        <p:spPr>
          <a:xfrm>
            <a:off x="502920" y="1417320"/>
            <a:ext cx="5074920" cy="4709160"/>
          </a:xfrm>
          <a:prstGeom prst="roundRect">
            <a:avLst/>
          </a:prstGeom>
          <a:solidFill>
            <a:srgbClr val="FFFF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normAutofit/>
          </a:bodyPr>
          <a:lstStyle/>
          <a:p>
            <a:pPr algn="l">
              <a:lnSpc>
                <a:spcPct val="112000"/>
              </a:lnSpc>
              <a:spcAft>
                <a:spcPts val="400"/>
              </a:spcAft>
            </a:pPr>
            <a:r>
              <a:rPr sz="1400" b="0">
                <a:solidFill>
                  <a:srgbClr val="1F2937"/>
                </a:solidFill>
                <a:latin typeface="Arial"/>
              </a:rPr>
              <a:t>Trên tập test, mô hình SVM chỉ sai 16 email và chia đều thành 8 false positive, 8 false negative. Việc cân bằng hoàn toàn giữa hai loại lỗi cho thấy mô hình không thiên vị quá mạnh về lớp nào.</a:t>
            </a:r>
          </a:p>
          <a:p>
            <a:pPr algn="l">
              <a:lnSpc>
                <a:spcPct val="112000"/>
              </a:lnSpc>
              <a:spcAft>
                <a:spcPts val="400"/>
              </a:spcAft>
            </a:pPr>
            <a:r>
              <a:rPr sz="1400" b="0">
                <a:solidFill>
                  <a:srgbClr val="1F2937"/>
                </a:solidFill>
                <a:latin typeface="Arial"/>
              </a:rPr>
              <a:t>• Độ dài trung bình của nhóm ham bị đoán nhầm là khoảng 448.50 từ, còn spam bị bỏ sót là khoảng 415.75 từ.</a:t>
            </a:r>
          </a:p>
          <a:p>
            <a:pPr algn="l">
              <a:lnSpc>
                <a:spcPct val="112000"/>
              </a:lnSpc>
              <a:spcAft>
                <a:spcPts val="400"/>
              </a:spcAft>
            </a:pPr>
            <a:r>
              <a:rPr sz="1400" b="0">
                <a:solidFill>
                  <a:srgbClr val="1F2937"/>
                </a:solidFill>
                <a:latin typeface="Arial"/>
              </a:rPr>
              <a:t>• Các lỗi nổi bật rơi vào ba nhóm: spam bị obfuscation mạnh làm token lexical bị méo; spam mang giọng điệu học thuật/thông báo nên trông giống ham</a:t>
            </a:r>
          </a:p>
          <a:p>
            <a:pPr algn="l">
              <a:lnSpc>
                <a:spcPct val="112000"/>
              </a:lnSpc>
              <a:spcAft>
                <a:spcPts val="400"/>
              </a:spcAft>
            </a:pPr>
            <a:r>
              <a:rPr sz="1400" b="0">
                <a:solidFill>
                  <a:srgbClr val="1F2937"/>
                </a:solidFill>
                <a:latin typeface="Arial"/>
              </a:rPr>
              <a:t>• So với các email ngắn và điển hình, những trường hợp biên này khó hơn vì lexical signal không còn sạch và rõ.</a:t>
            </a:r>
          </a:p>
        </p:txBody>
      </p:sp>
      <p:sp>
        <p:nvSpPr>
          <p:cNvPr id="9" name="Rounded Rectangle 8"/>
          <p:cNvSpPr/>
          <p:nvPr/>
        </p:nvSpPr>
        <p:spPr>
          <a:xfrm>
            <a:off x="5806440" y="1463040"/>
            <a:ext cx="5532120" cy="4069080"/>
          </a:xfrm>
          <a:prstGeom prst="roundRect">
            <a:avLst/>
          </a:prstGeom>
          <a:solidFill>
            <a:srgbClr val="FFFFFF"/>
          </a:solidFill>
          <a:ln>
            <a:solidFill>
              <a:srgbClr val="D6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report_fig6.png"/>
          <p:cNvPicPr>
            <a:picLocks noChangeAspect="1"/>
          </p:cNvPicPr>
          <p:nvPr/>
        </p:nvPicPr>
        <p:blipFill>
          <a:blip r:embed="rId2"/>
          <a:stretch>
            <a:fillRect/>
          </a:stretch>
        </p:blipFill>
        <p:spPr>
          <a:xfrm>
            <a:off x="5806440" y="2203526"/>
            <a:ext cx="5532120" cy="2588106"/>
          </a:xfrm>
          <a:prstGeom prst="rect">
            <a:avLst/>
          </a:prstGeom>
        </p:spPr>
      </p:pic>
      <p:sp>
        <p:nvSpPr>
          <p:cNvPr id="11" name="Rounded Rectangle 10"/>
          <p:cNvSpPr/>
          <p:nvPr/>
        </p:nvSpPr>
        <p:spPr>
          <a:xfrm>
            <a:off x="5806440" y="5559552"/>
            <a:ext cx="5532120" cy="411480"/>
          </a:xfrm>
          <a:prstGeom prst="roundRect">
            <a:avLst/>
          </a:prstGeom>
          <a:solidFill>
            <a:srgbClr val="EAF2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t">
            <a:normAutofit/>
          </a:bodyPr>
          <a:lstStyle/>
          <a:p>
            <a:pPr algn="l">
              <a:lnSpc>
                <a:spcPct val="112000"/>
              </a:lnSpc>
              <a:spcAft>
                <a:spcPts val="400"/>
              </a:spcAft>
            </a:pPr>
            <a:r>
              <a:rPr sz="1050" b="0">
                <a:solidFill>
                  <a:srgbClr val="1F2937"/>
                </a:solidFill>
                <a:latin typeface="Arial"/>
              </a:rPr>
              <a:t>Hình 6: phân bố độ dài email theo lớp, cho thấy hai nhóm vẫn chồng lấn mạnh.</a:t>
            </a:r>
          </a:p>
        </p:txBody>
      </p:sp>
      <p:sp>
        <p:nvSpPr>
          <p:cNvPr id="12" name="Rounded Rectangle 11"/>
          <p:cNvSpPr/>
          <p:nvPr/>
        </p:nvSpPr>
        <p:spPr>
          <a:xfrm>
            <a:off x="5806440" y="6144768"/>
            <a:ext cx="5532120" cy="384048"/>
          </a:xfrm>
          <a:prstGeom prst="roundRect">
            <a:avLst/>
          </a:prstGeom>
          <a:solidFill>
            <a:srgbClr val="FFF1E8"/>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t">
            <a:normAutofit lnSpcReduction="10000"/>
          </a:bodyPr>
          <a:lstStyle/>
          <a:p>
            <a:pPr algn="l">
              <a:lnSpc>
                <a:spcPct val="112000"/>
              </a:lnSpc>
              <a:spcAft>
                <a:spcPts val="400"/>
              </a:spcAft>
            </a:pPr>
            <a:r>
              <a:rPr sz="980" b="0" dirty="0" err="1">
                <a:solidFill>
                  <a:srgbClr val="1F2937"/>
                </a:solidFill>
                <a:latin typeface="Arial"/>
              </a:rPr>
              <a:t>Kết</a:t>
            </a:r>
            <a:r>
              <a:rPr sz="980" b="0" dirty="0">
                <a:solidFill>
                  <a:srgbClr val="1F2937"/>
                </a:solidFill>
                <a:latin typeface="Arial"/>
              </a:rPr>
              <a:t> </a:t>
            </a:r>
            <a:r>
              <a:rPr sz="980" b="0" dirty="0" err="1">
                <a:solidFill>
                  <a:srgbClr val="1F2937"/>
                </a:solidFill>
                <a:latin typeface="Arial"/>
              </a:rPr>
              <a:t>luận</a:t>
            </a:r>
            <a:r>
              <a:rPr sz="980" b="0" dirty="0">
                <a:solidFill>
                  <a:srgbClr val="1F2937"/>
                </a:solidFill>
                <a:latin typeface="Arial"/>
              </a:rPr>
              <a:t> </a:t>
            </a:r>
            <a:r>
              <a:rPr sz="980" b="0" dirty="0" err="1">
                <a:solidFill>
                  <a:srgbClr val="1F2937"/>
                </a:solidFill>
                <a:latin typeface="Arial"/>
              </a:rPr>
              <a:t>quan</a:t>
            </a:r>
            <a:r>
              <a:rPr sz="980" b="0" dirty="0">
                <a:solidFill>
                  <a:srgbClr val="1F2937"/>
                </a:solidFill>
                <a:latin typeface="Arial"/>
              </a:rPr>
              <a:t> </a:t>
            </a:r>
            <a:r>
              <a:rPr sz="980" b="0" dirty="0" err="1">
                <a:solidFill>
                  <a:srgbClr val="1F2937"/>
                </a:solidFill>
                <a:latin typeface="Arial"/>
              </a:rPr>
              <a:t>trọng</a:t>
            </a:r>
            <a:r>
              <a:rPr sz="980" b="0" dirty="0">
                <a:solidFill>
                  <a:srgbClr val="1F2937"/>
                </a:solidFill>
                <a:latin typeface="Arial"/>
              </a:rPr>
              <a:t>: </a:t>
            </a:r>
            <a:r>
              <a:rPr sz="980" b="0" dirty="0" err="1">
                <a:solidFill>
                  <a:srgbClr val="1F2937"/>
                </a:solidFill>
                <a:latin typeface="Arial"/>
              </a:rPr>
              <a:t>chỉ</a:t>
            </a:r>
            <a:r>
              <a:rPr sz="980" b="0" dirty="0">
                <a:solidFill>
                  <a:srgbClr val="1F2937"/>
                </a:solidFill>
                <a:latin typeface="Arial"/>
              </a:rPr>
              <a:t> </a:t>
            </a:r>
            <a:r>
              <a:rPr sz="980" b="0" dirty="0" err="1">
                <a:solidFill>
                  <a:srgbClr val="1F2937"/>
                </a:solidFill>
                <a:latin typeface="Arial"/>
              </a:rPr>
              <a:t>dùng</a:t>
            </a:r>
            <a:r>
              <a:rPr sz="980" b="0" dirty="0">
                <a:solidFill>
                  <a:srgbClr val="1F2937"/>
                </a:solidFill>
                <a:latin typeface="Arial"/>
              </a:rPr>
              <a:t> </a:t>
            </a:r>
            <a:r>
              <a:rPr sz="980" b="0" dirty="0" err="1">
                <a:solidFill>
                  <a:srgbClr val="1F2937"/>
                </a:solidFill>
                <a:latin typeface="Arial"/>
              </a:rPr>
              <a:t>độ</a:t>
            </a:r>
            <a:r>
              <a:rPr sz="980" b="0" dirty="0">
                <a:solidFill>
                  <a:srgbClr val="1F2937"/>
                </a:solidFill>
                <a:latin typeface="Arial"/>
              </a:rPr>
              <a:t> </a:t>
            </a:r>
            <a:r>
              <a:rPr sz="980" b="0" dirty="0" err="1">
                <a:solidFill>
                  <a:srgbClr val="1F2937"/>
                </a:solidFill>
                <a:latin typeface="Arial"/>
              </a:rPr>
              <a:t>dài</a:t>
            </a:r>
            <a:r>
              <a:rPr sz="980" b="0" dirty="0">
                <a:solidFill>
                  <a:srgbClr val="1F2937"/>
                </a:solidFill>
                <a:latin typeface="Arial"/>
              </a:rPr>
              <a:t> email </a:t>
            </a:r>
            <a:r>
              <a:rPr sz="980" b="0" dirty="0" err="1">
                <a:solidFill>
                  <a:srgbClr val="1F2937"/>
                </a:solidFill>
                <a:latin typeface="Arial"/>
              </a:rPr>
              <a:t>là</a:t>
            </a:r>
            <a:r>
              <a:rPr sz="980" b="0" dirty="0">
                <a:solidFill>
                  <a:srgbClr val="1F2937"/>
                </a:solidFill>
                <a:latin typeface="Arial"/>
              </a:rPr>
              <a:t> </a:t>
            </a:r>
            <a:r>
              <a:rPr sz="980" b="0" dirty="0" err="1">
                <a:solidFill>
                  <a:srgbClr val="1F2937"/>
                </a:solidFill>
                <a:latin typeface="Arial"/>
              </a:rPr>
              <a:t>không</a:t>
            </a:r>
            <a:r>
              <a:rPr sz="980" b="0" dirty="0">
                <a:solidFill>
                  <a:srgbClr val="1F2937"/>
                </a:solidFill>
                <a:latin typeface="Arial"/>
              </a:rPr>
              <a:t> </a:t>
            </a:r>
            <a:r>
              <a:rPr sz="980" b="0" dirty="0" err="1">
                <a:solidFill>
                  <a:srgbClr val="1F2937"/>
                </a:solidFill>
                <a:latin typeface="Arial"/>
              </a:rPr>
              <a:t>đủ</a:t>
            </a:r>
            <a:r>
              <a:rPr sz="980" b="0" dirty="0">
                <a:solidFill>
                  <a:srgbClr val="1F2937"/>
                </a:solidFill>
                <a:latin typeface="Arial"/>
              </a:rPr>
              <a:t> </a:t>
            </a:r>
            <a:r>
              <a:rPr sz="980" b="0" dirty="0" err="1">
                <a:solidFill>
                  <a:srgbClr val="1F2937"/>
                </a:solidFill>
                <a:latin typeface="Arial"/>
              </a:rPr>
              <a:t>để</a:t>
            </a:r>
            <a:r>
              <a:rPr sz="980" b="0" dirty="0">
                <a:solidFill>
                  <a:srgbClr val="1F2937"/>
                </a:solidFill>
                <a:latin typeface="Arial"/>
              </a:rPr>
              <a:t> </a:t>
            </a:r>
            <a:r>
              <a:rPr sz="980" b="0" dirty="0" err="1">
                <a:solidFill>
                  <a:srgbClr val="1F2937"/>
                </a:solidFill>
                <a:latin typeface="Arial"/>
              </a:rPr>
              <a:t>phân</a:t>
            </a:r>
            <a:r>
              <a:rPr sz="980" b="0" dirty="0">
                <a:solidFill>
                  <a:srgbClr val="1F2937"/>
                </a:solidFill>
                <a:latin typeface="Arial"/>
              </a:rPr>
              <a:t> </a:t>
            </a:r>
            <a:r>
              <a:rPr sz="980" b="0" dirty="0" err="1">
                <a:solidFill>
                  <a:srgbClr val="1F2937"/>
                </a:solidFill>
                <a:latin typeface="Arial"/>
              </a:rPr>
              <a:t>loại</a:t>
            </a:r>
            <a:r>
              <a:rPr sz="980" b="0" dirty="0">
                <a:solidFill>
                  <a:srgbClr val="1F2937"/>
                </a:solidFill>
                <a:latin typeface="Arial"/>
              </a:rPr>
              <a:t>. </a:t>
            </a:r>
            <a:r>
              <a:rPr sz="980" b="0" dirty="0" err="1">
                <a:solidFill>
                  <a:srgbClr val="1F2937"/>
                </a:solidFill>
                <a:latin typeface="Arial"/>
              </a:rPr>
              <a:t>Phải</a:t>
            </a:r>
            <a:r>
              <a:rPr sz="980" b="0" dirty="0">
                <a:solidFill>
                  <a:srgbClr val="1F2937"/>
                </a:solidFill>
                <a:latin typeface="Arial"/>
              </a:rPr>
              <a:t> </a:t>
            </a:r>
            <a:r>
              <a:rPr sz="980" b="0" dirty="0" err="1">
                <a:solidFill>
                  <a:srgbClr val="1F2937"/>
                </a:solidFill>
                <a:latin typeface="Arial"/>
              </a:rPr>
              <a:t>dựa</a:t>
            </a:r>
            <a:r>
              <a:rPr sz="980" b="0" dirty="0">
                <a:solidFill>
                  <a:srgbClr val="1F2937"/>
                </a:solidFill>
                <a:latin typeface="Arial"/>
              </a:rPr>
              <a:t> </a:t>
            </a:r>
            <a:r>
              <a:rPr sz="980" b="0" dirty="0" err="1">
                <a:solidFill>
                  <a:srgbClr val="1F2937"/>
                </a:solidFill>
                <a:latin typeface="Arial"/>
              </a:rPr>
              <a:t>vào</a:t>
            </a:r>
            <a:r>
              <a:rPr sz="980" b="0" dirty="0">
                <a:solidFill>
                  <a:srgbClr val="1F2937"/>
                </a:solidFill>
                <a:latin typeface="Arial"/>
              </a:rPr>
              <a:t> </a:t>
            </a:r>
            <a:r>
              <a:rPr sz="980" b="0" dirty="0" err="1">
                <a:solidFill>
                  <a:srgbClr val="1F2937"/>
                </a:solidFill>
                <a:latin typeface="Arial"/>
              </a:rPr>
              <a:t>nội</a:t>
            </a:r>
            <a:r>
              <a:rPr sz="980" b="0" dirty="0">
                <a:solidFill>
                  <a:srgbClr val="1F2937"/>
                </a:solidFill>
                <a:latin typeface="Arial"/>
              </a:rPr>
              <a:t> dung </a:t>
            </a:r>
            <a:r>
              <a:rPr sz="980" b="0" dirty="0" err="1">
                <a:solidFill>
                  <a:srgbClr val="1F2937"/>
                </a:solidFill>
                <a:latin typeface="Arial"/>
              </a:rPr>
              <a:t>từ</a:t>
            </a:r>
            <a:r>
              <a:rPr sz="980" b="0" dirty="0">
                <a:solidFill>
                  <a:srgbClr val="1F2937"/>
                </a:solidFill>
                <a:latin typeface="Arial"/>
              </a:rPr>
              <a:t> </a:t>
            </a:r>
            <a:r>
              <a:rPr sz="980" b="0" dirty="0" err="1">
                <a:solidFill>
                  <a:srgbClr val="1F2937"/>
                </a:solidFill>
                <a:latin typeface="Arial"/>
              </a:rPr>
              <a:t>vựng</a:t>
            </a:r>
            <a:r>
              <a:rPr sz="980" b="0" dirty="0">
                <a:solidFill>
                  <a:srgbClr val="1F2937"/>
                </a:solidFill>
                <a:latin typeface="Arial"/>
              </a:rPr>
              <a:t> </a:t>
            </a:r>
            <a:r>
              <a:rPr sz="980" b="0" dirty="0" err="1">
                <a:solidFill>
                  <a:srgbClr val="1F2937"/>
                </a:solidFill>
                <a:latin typeface="Arial"/>
              </a:rPr>
              <a:t>và</a:t>
            </a:r>
            <a:r>
              <a:rPr sz="980" b="0" dirty="0">
                <a:solidFill>
                  <a:srgbClr val="1F2937"/>
                </a:solidFill>
                <a:latin typeface="Arial"/>
              </a:rPr>
              <a:t> </a:t>
            </a:r>
            <a:r>
              <a:rPr sz="980" b="0" dirty="0" err="1">
                <a:solidFill>
                  <a:srgbClr val="1F2937"/>
                </a:solidFill>
                <a:latin typeface="Arial"/>
              </a:rPr>
              <a:t>về</a:t>
            </a:r>
            <a:r>
              <a:rPr sz="980" b="0" dirty="0">
                <a:solidFill>
                  <a:srgbClr val="1F2937"/>
                </a:solidFill>
                <a:latin typeface="Arial"/>
              </a:rPr>
              <a:t> </a:t>
            </a:r>
            <a:r>
              <a:rPr sz="980" b="0" dirty="0" err="1">
                <a:solidFill>
                  <a:srgbClr val="1F2937"/>
                </a:solidFill>
                <a:latin typeface="Arial"/>
              </a:rPr>
              <a:t>lâu</a:t>
            </a:r>
            <a:r>
              <a:rPr sz="980" b="0" dirty="0">
                <a:solidFill>
                  <a:srgbClr val="1F2937"/>
                </a:solidFill>
                <a:latin typeface="Arial"/>
              </a:rPr>
              <a:t> </a:t>
            </a:r>
            <a:r>
              <a:rPr sz="980" b="0" dirty="0" err="1">
                <a:solidFill>
                  <a:srgbClr val="1F2937"/>
                </a:solidFill>
                <a:latin typeface="Arial"/>
              </a:rPr>
              <a:t>dài</a:t>
            </a:r>
            <a:r>
              <a:rPr sz="980" b="0" dirty="0">
                <a:solidFill>
                  <a:srgbClr val="1F2937"/>
                </a:solidFill>
                <a:latin typeface="Arial"/>
              </a:rPr>
              <a:t> </a:t>
            </a:r>
            <a:r>
              <a:rPr sz="980" b="0" dirty="0" err="1">
                <a:solidFill>
                  <a:srgbClr val="1F2937"/>
                </a:solidFill>
                <a:latin typeface="Arial"/>
              </a:rPr>
              <a:t>cần</a:t>
            </a:r>
            <a:r>
              <a:rPr sz="980" b="0" dirty="0">
                <a:solidFill>
                  <a:srgbClr val="1F2937"/>
                </a:solidFill>
                <a:latin typeface="Arial"/>
              </a:rPr>
              <a:t> </a:t>
            </a:r>
            <a:r>
              <a:rPr sz="980" b="0" dirty="0" err="1">
                <a:solidFill>
                  <a:srgbClr val="1F2937"/>
                </a:solidFill>
                <a:latin typeface="Arial"/>
              </a:rPr>
              <a:t>thêm</a:t>
            </a:r>
            <a:r>
              <a:rPr sz="980" b="0" dirty="0">
                <a:solidFill>
                  <a:srgbClr val="1F2937"/>
                </a:solidFill>
                <a:latin typeface="Arial"/>
              </a:rPr>
              <a:t> metadata </a:t>
            </a:r>
            <a:r>
              <a:rPr sz="980" b="0" dirty="0" err="1">
                <a:solidFill>
                  <a:srgbClr val="1F2937"/>
                </a:solidFill>
                <a:latin typeface="Arial"/>
              </a:rPr>
              <a:t>ngoài</a:t>
            </a:r>
            <a:r>
              <a:rPr sz="980" b="0" dirty="0">
                <a:solidFill>
                  <a:srgbClr val="1F2937"/>
                </a:solidFill>
                <a:latin typeface="Arial"/>
              </a:rPr>
              <a:t> text.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0F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75488"/>
            <a:ext cx="201168" cy="6382512"/>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8912" y="164592"/>
            <a:ext cx="1417320" cy="292608"/>
          </a:xfrm>
          <a:prstGeom prst="roundRect">
            <a:avLst/>
          </a:prstGeom>
          <a:solidFill>
            <a:srgbClr val="E46A2E"/>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t">
            <a:normAutofit/>
          </a:bodyPr>
          <a:lstStyle/>
          <a:p>
            <a:pPr algn="ctr">
              <a:lnSpc>
                <a:spcPct val="112000"/>
              </a:lnSpc>
              <a:spcAft>
                <a:spcPts val="400"/>
              </a:spcAft>
            </a:pPr>
            <a:r>
              <a:rPr sz="1200" b="1">
                <a:solidFill>
                  <a:srgbClr val="FFFFFF"/>
                </a:solidFill>
                <a:latin typeface="Arial"/>
              </a:rPr>
              <a:t>CHƯƠNG 4</a:t>
            </a:r>
          </a:p>
        </p:txBody>
      </p:sp>
      <p:sp>
        <p:nvSpPr>
          <p:cNvPr id="5" name="TextBox 4"/>
          <p:cNvSpPr txBox="1"/>
          <p:nvPr/>
        </p:nvSpPr>
        <p:spPr>
          <a:xfrm>
            <a:off x="502920" y="658368"/>
            <a:ext cx="8138160" cy="475488"/>
          </a:xfrm>
          <a:prstGeom prst="rect">
            <a:avLst/>
          </a:prstGeom>
          <a:noFill/>
        </p:spPr>
        <p:txBody>
          <a:bodyPr wrap="square" lIns="0" tIns="0" rIns="0" bIns="0" anchor="t">
            <a:normAutofit/>
          </a:bodyPr>
          <a:lstStyle/>
          <a:p>
            <a:pPr algn="l">
              <a:lnSpc>
                <a:spcPct val="112000"/>
              </a:lnSpc>
              <a:spcAft>
                <a:spcPts val="400"/>
              </a:spcAft>
            </a:pPr>
            <a:r>
              <a:rPr sz="2400" b="1">
                <a:solidFill>
                  <a:srgbClr val="0F2747"/>
                </a:solidFill>
                <a:latin typeface="Arial"/>
              </a:rPr>
              <a:t>Ví dụ các email bị dự đoán sai</a:t>
            </a:r>
          </a:p>
        </p:txBody>
      </p:sp>
      <p:sp>
        <p:nvSpPr>
          <p:cNvPr id="6" name="TextBox 5"/>
          <p:cNvSpPr txBox="1"/>
          <p:nvPr/>
        </p:nvSpPr>
        <p:spPr>
          <a:xfrm>
            <a:off x="521207" y="1078992"/>
            <a:ext cx="10058400" cy="292608"/>
          </a:xfrm>
          <a:prstGeom prst="rect">
            <a:avLst/>
          </a:prstGeom>
          <a:noFill/>
        </p:spPr>
        <p:txBody>
          <a:bodyPr wrap="square" lIns="0" tIns="0" rIns="0" bIns="0" anchor="t">
            <a:normAutofit/>
          </a:bodyPr>
          <a:lstStyle/>
          <a:p>
            <a:pPr algn="l">
              <a:lnSpc>
                <a:spcPct val="112000"/>
              </a:lnSpc>
              <a:spcAft>
                <a:spcPts val="400"/>
              </a:spcAft>
            </a:pPr>
            <a:r>
              <a:rPr sz="1050" b="0">
                <a:solidFill>
                  <a:srgbClr val="5B677A"/>
                </a:solidFill>
                <a:latin typeface="Arial"/>
              </a:rPr>
              <a:t>Các ví dụ này giúp giải thích vì sao lexical feature vẫn có những vùng khó</a:t>
            </a:r>
          </a:p>
        </p:txBody>
      </p:sp>
      <p:sp>
        <p:nvSpPr>
          <p:cNvPr id="7" name="TextBox 6"/>
          <p:cNvSpPr txBox="1"/>
          <p:nvPr/>
        </p:nvSpPr>
        <p:spPr>
          <a:xfrm>
            <a:off x="502920" y="6446520"/>
            <a:ext cx="10789920" cy="164592"/>
          </a:xfrm>
          <a:prstGeom prst="rect">
            <a:avLst/>
          </a:prstGeom>
          <a:noFill/>
        </p:spPr>
        <p:txBody>
          <a:bodyPr wrap="square" lIns="0" tIns="0" rIns="0" bIns="0" anchor="t">
            <a:normAutofit/>
          </a:bodyPr>
          <a:lstStyle/>
          <a:p>
            <a:pPr algn="l">
              <a:lnSpc>
                <a:spcPct val="112000"/>
              </a:lnSpc>
              <a:spcAft>
                <a:spcPts val="400"/>
              </a:spcAft>
            </a:pPr>
            <a:r>
              <a:rPr sz="850" b="0">
                <a:solidFill>
                  <a:srgbClr val="5B677A"/>
                </a:solidFill>
                <a:latin typeface="Arial"/>
              </a:rPr>
              <a:t>Xây dựng hệ thống phát hiện và lọc spam email | Đồ án Truy hồi thông tin | Trang 35</a:t>
            </a:r>
          </a:p>
        </p:txBody>
      </p:sp>
      <p:sp>
        <p:nvSpPr>
          <p:cNvPr id="8" name="Rounded Rectangle 7"/>
          <p:cNvSpPr/>
          <p:nvPr/>
        </p:nvSpPr>
        <p:spPr>
          <a:xfrm>
            <a:off x="502920" y="1508760"/>
            <a:ext cx="5257800" cy="1874519"/>
          </a:xfrm>
          <a:prstGeom prst="roundRect">
            <a:avLst/>
          </a:prstGeom>
          <a:solidFill>
            <a:srgbClr val="EAF2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normAutofit/>
          </a:bodyPr>
          <a:lstStyle/>
          <a:p>
            <a:pPr algn="l">
              <a:lnSpc>
                <a:spcPct val="112000"/>
              </a:lnSpc>
              <a:spcAft>
                <a:spcPts val="400"/>
              </a:spcAft>
            </a:pPr>
            <a:r>
              <a:rPr sz="1280" b="1">
                <a:solidFill>
                  <a:srgbClr val="1F2937"/>
                </a:solidFill>
                <a:latin typeface="Arial"/>
              </a:rPr>
              <a:t>False Positive 1: ham nhưng mang màu quảng cáo</a:t>
            </a:r>
          </a:p>
          <a:p>
            <a:pPr algn="l">
              <a:lnSpc>
                <a:spcPct val="112000"/>
              </a:lnSpc>
              <a:spcAft>
                <a:spcPts val="400"/>
              </a:spcAft>
            </a:pPr>
            <a:r>
              <a:rPr sz="1280" b="0">
                <a:solidFill>
                  <a:srgbClr val="1F2937"/>
                </a:solidFill>
                <a:latin typeface="Arial"/>
              </a:rPr>
              <a:t>Mẫu `2342.2000-09-26.farmer.ham.txt` có nội dung giới thiệu scanner Compaq theo phong cách marketing.</a:t>
            </a:r>
          </a:p>
        </p:txBody>
      </p:sp>
      <p:sp>
        <p:nvSpPr>
          <p:cNvPr id="9" name="Rounded Rectangle 8"/>
          <p:cNvSpPr/>
          <p:nvPr/>
        </p:nvSpPr>
        <p:spPr>
          <a:xfrm>
            <a:off x="5989320" y="1508760"/>
            <a:ext cx="5257800" cy="1874519"/>
          </a:xfrm>
          <a:prstGeom prst="roundRect">
            <a:avLst/>
          </a:prstGeom>
          <a:solidFill>
            <a:srgbClr val="FFF1E8"/>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normAutofit/>
          </a:bodyPr>
          <a:lstStyle/>
          <a:p>
            <a:pPr algn="l">
              <a:lnSpc>
                <a:spcPct val="112000"/>
              </a:lnSpc>
              <a:spcAft>
                <a:spcPts val="400"/>
              </a:spcAft>
            </a:pPr>
            <a:r>
              <a:rPr sz="1280" b="1">
                <a:solidFill>
                  <a:srgbClr val="1F2937"/>
                </a:solidFill>
                <a:latin typeface="Arial"/>
              </a:rPr>
              <a:t>False Positive 2: ham hội thoại ngắn nhưng mơ hồ</a:t>
            </a:r>
          </a:p>
          <a:p>
            <a:pPr algn="l">
              <a:lnSpc>
                <a:spcPct val="112000"/>
              </a:lnSpc>
              <a:spcAft>
                <a:spcPts val="400"/>
              </a:spcAft>
            </a:pPr>
            <a:r>
              <a:rPr sz="1280" b="0">
                <a:solidFill>
                  <a:srgbClr val="1F2937"/>
                </a:solidFill>
                <a:latin typeface="Arial"/>
              </a:rPr>
              <a:t>Mẫu `1878.2000-08-07.farmer.ham.txt` chỉ là trao đổi ngắn về 'table and buffet'. Nội dung quá ngắn và thiếu bối cảnh khiến lexical signal không đủ rõ ràng để giữ ở lớp ham.</a:t>
            </a:r>
          </a:p>
        </p:txBody>
      </p:sp>
      <p:sp>
        <p:nvSpPr>
          <p:cNvPr id="10" name="Rounded Rectangle 9"/>
          <p:cNvSpPr/>
          <p:nvPr/>
        </p:nvSpPr>
        <p:spPr>
          <a:xfrm>
            <a:off x="502920" y="3703320"/>
            <a:ext cx="5257800" cy="1874519"/>
          </a:xfrm>
          <a:prstGeom prst="roundRect">
            <a:avLst/>
          </a:prstGeom>
          <a:solidFill>
            <a:srgbClr val="EAF9F7"/>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normAutofit/>
          </a:bodyPr>
          <a:lstStyle/>
          <a:p>
            <a:pPr algn="l">
              <a:lnSpc>
                <a:spcPct val="112000"/>
              </a:lnSpc>
              <a:spcAft>
                <a:spcPts val="400"/>
              </a:spcAft>
            </a:pPr>
            <a:r>
              <a:rPr sz="1280" b="1">
                <a:solidFill>
                  <a:srgbClr val="1F2937"/>
                </a:solidFill>
                <a:latin typeface="Arial"/>
              </a:rPr>
              <a:t>False Negative 1: spam bị obfuscation mạnh</a:t>
            </a:r>
          </a:p>
          <a:p>
            <a:pPr algn="l">
              <a:lnSpc>
                <a:spcPct val="112000"/>
              </a:lnSpc>
              <a:spcAft>
                <a:spcPts val="400"/>
              </a:spcAft>
            </a:pPr>
            <a:r>
              <a:rPr sz="1280" b="0">
                <a:solidFill>
                  <a:srgbClr val="1F2937"/>
                </a:solidFill>
                <a:latin typeface="Arial"/>
              </a:rPr>
              <a:t>Mẫu `4878.2005-07-14.GP.spam.txt` gần như toàn ký tự méo và chuỗi số. Khi tín hiệu từ vựng bị phá vỡ như vậy, TF-IDF rất khó học được pattern spam ổn định.</a:t>
            </a:r>
          </a:p>
        </p:txBody>
      </p:sp>
      <p:sp>
        <p:nvSpPr>
          <p:cNvPr id="11" name="Rounded Rectangle 10"/>
          <p:cNvSpPr/>
          <p:nvPr/>
        </p:nvSpPr>
        <p:spPr>
          <a:xfrm>
            <a:off x="5989320" y="3703320"/>
            <a:ext cx="5257800" cy="1874519"/>
          </a:xfrm>
          <a:prstGeom prst="roundRect">
            <a:avLst/>
          </a:prstGeom>
          <a:solidFill>
            <a:srgbClr val="EEF2F8"/>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normAutofit/>
          </a:bodyPr>
          <a:lstStyle/>
          <a:p>
            <a:pPr algn="l">
              <a:lnSpc>
                <a:spcPct val="112000"/>
              </a:lnSpc>
              <a:spcAft>
                <a:spcPts val="400"/>
              </a:spcAft>
            </a:pPr>
            <a:r>
              <a:rPr sz="1280" b="1">
                <a:solidFill>
                  <a:srgbClr val="1F2937"/>
                </a:solidFill>
                <a:latin typeface="Arial"/>
              </a:rPr>
              <a:t>False Negative 2: spam có giọng điệu thông báo</a:t>
            </a:r>
          </a:p>
          <a:p>
            <a:pPr algn="l">
              <a:lnSpc>
                <a:spcPct val="112000"/>
              </a:lnSpc>
              <a:spcAft>
                <a:spcPts val="400"/>
              </a:spcAft>
            </a:pPr>
            <a:r>
              <a:rPr sz="1280" b="0">
                <a:solidFill>
                  <a:srgbClr val="1F2937"/>
                </a:solidFill>
                <a:latin typeface="Arial"/>
              </a:rPr>
              <a:t>Mẫu `4518.2005-05-19.GP.spam.txt` dùng tiêu đề kiểu forward và lời văn giống thông báo hơn là chào mời trực diện.</a:t>
            </a:r>
          </a:p>
        </p:txBody>
      </p:sp>
      <p:sp>
        <p:nvSpPr>
          <p:cNvPr id="12" name="Rounded Rectangle 11"/>
          <p:cNvSpPr/>
          <p:nvPr/>
        </p:nvSpPr>
        <p:spPr>
          <a:xfrm>
            <a:off x="685800" y="5806440"/>
            <a:ext cx="10789920" cy="347472"/>
          </a:xfrm>
          <a:prstGeom prst="roundRect">
            <a:avLst/>
          </a:prstGeom>
          <a:solidFill>
            <a:srgbClr val="FFFF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t">
            <a:normAutofit fontScale="85000" lnSpcReduction="10000"/>
          </a:bodyPr>
          <a:lstStyle/>
          <a:p>
            <a:pPr algn="l">
              <a:lnSpc>
                <a:spcPct val="112000"/>
              </a:lnSpc>
              <a:spcAft>
                <a:spcPts val="400"/>
              </a:spcAft>
            </a:pPr>
            <a:r>
              <a:rPr sz="1050" b="0">
                <a:solidFill>
                  <a:srgbClr val="1F2937"/>
                </a:solidFill>
                <a:latin typeface="Arial"/>
              </a:rPr>
              <a:t>Bài học rút ra: lexical-only model rất mạnh ở các trường hợp điển hình, nhưng sẽ yếu hơn khi spam bị làm rối văn bản hoặc khi ham và spam chia sẻ cùng một trường từ vựng quảng bá/thông báo.</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0F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75488"/>
            <a:ext cx="201168" cy="6382512"/>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8912" y="164592"/>
            <a:ext cx="1417320" cy="292608"/>
          </a:xfrm>
          <a:prstGeom prst="roundRect">
            <a:avLst/>
          </a:prstGeom>
          <a:solidFill>
            <a:srgbClr val="E46A2E"/>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t">
            <a:normAutofit/>
          </a:bodyPr>
          <a:lstStyle/>
          <a:p>
            <a:pPr algn="ctr">
              <a:lnSpc>
                <a:spcPct val="112000"/>
              </a:lnSpc>
              <a:spcAft>
                <a:spcPts val="400"/>
              </a:spcAft>
            </a:pPr>
            <a:r>
              <a:rPr sz="1200" b="1">
                <a:solidFill>
                  <a:srgbClr val="FFFFFF"/>
                </a:solidFill>
                <a:latin typeface="Arial"/>
              </a:rPr>
              <a:t>CHƯƠNG 4</a:t>
            </a:r>
          </a:p>
        </p:txBody>
      </p:sp>
      <p:sp>
        <p:nvSpPr>
          <p:cNvPr id="5" name="TextBox 4"/>
          <p:cNvSpPr txBox="1"/>
          <p:nvPr/>
        </p:nvSpPr>
        <p:spPr>
          <a:xfrm>
            <a:off x="502920" y="658368"/>
            <a:ext cx="8138160" cy="475488"/>
          </a:xfrm>
          <a:prstGeom prst="rect">
            <a:avLst/>
          </a:prstGeom>
          <a:noFill/>
        </p:spPr>
        <p:txBody>
          <a:bodyPr wrap="square" lIns="0" tIns="0" rIns="0" bIns="0" anchor="t">
            <a:normAutofit/>
          </a:bodyPr>
          <a:lstStyle/>
          <a:p>
            <a:pPr algn="l">
              <a:lnSpc>
                <a:spcPct val="112000"/>
              </a:lnSpc>
              <a:spcAft>
                <a:spcPts val="400"/>
              </a:spcAft>
            </a:pPr>
            <a:r>
              <a:rPr sz="2400" b="1">
                <a:solidFill>
                  <a:srgbClr val="0F2747"/>
                </a:solidFill>
                <a:latin typeface="Arial"/>
              </a:rPr>
              <a:t>Đối chiếu với các tín hiệu spam/phishing thực tế</a:t>
            </a:r>
          </a:p>
        </p:txBody>
      </p:sp>
      <p:sp>
        <p:nvSpPr>
          <p:cNvPr id="6" name="TextBox 5"/>
          <p:cNvSpPr txBox="1"/>
          <p:nvPr/>
        </p:nvSpPr>
        <p:spPr>
          <a:xfrm>
            <a:off x="521207" y="1078992"/>
            <a:ext cx="10058400" cy="292608"/>
          </a:xfrm>
          <a:prstGeom prst="rect">
            <a:avLst/>
          </a:prstGeom>
          <a:noFill/>
        </p:spPr>
        <p:txBody>
          <a:bodyPr wrap="square" lIns="0" tIns="0" rIns="0" bIns="0" anchor="t">
            <a:normAutofit/>
          </a:bodyPr>
          <a:lstStyle/>
          <a:p>
            <a:pPr algn="l">
              <a:lnSpc>
                <a:spcPct val="112000"/>
              </a:lnSpc>
              <a:spcAft>
                <a:spcPts val="400"/>
              </a:spcAft>
            </a:pPr>
            <a:r>
              <a:rPr sz="1050" b="0" dirty="0" err="1">
                <a:solidFill>
                  <a:srgbClr val="5B677A"/>
                </a:solidFill>
                <a:latin typeface="Arial"/>
              </a:rPr>
              <a:t>Sự</a:t>
            </a:r>
            <a:r>
              <a:rPr sz="1050" b="0" dirty="0">
                <a:solidFill>
                  <a:srgbClr val="5B677A"/>
                </a:solidFill>
                <a:latin typeface="Arial"/>
              </a:rPr>
              <a:t> </a:t>
            </a:r>
            <a:r>
              <a:rPr sz="1050" b="0" dirty="0" err="1">
                <a:solidFill>
                  <a:srgbClr val="5B677A"/>
                </a:solidFill>
                <a:latin typeface="Arial"/>
              </a:rPr>
              <a:t>khớp</a:t>
            </a:r>
            <a:r>
              <a:rPr sz="1050" b="0" dirty="0">
                <a:solidFill>
                  <a:srgbClr val="5B677A"/>
                </a:solidFill>
                <a:latin typeface="Arial"/>
              </a:rPr>
              <a:t> </a:t>
            </a:r>
            <a:r>
              <a:rPr sz="1050" b="0" dirty="0" err="1">
                <a:solidFill>
                  <a:srgbClr val="5B677A"/>
                </a:solidFill>
                <a:latin typeface="Arial"/>
              </a:rPr>
              <a:t>giữa</a:t>
            </a:r>
            <a:r>
              <a:rPr sz="1050" b="0" dirty="0">
                <a:solidFill>
                  <a:srgbClr val="5B677A"/>
                </a:solidFill>
                <a:latin typeface="Arial"/>
              </a:rPr>
              <a:t> token model </a:t>
            </a:r>
            <a:r>
              <a:rPr sz="1050" b="0" dirty="0" err="1">
                <a:solidFill>
                  <a:srgbClr val="5B677A"/>
                </a:solidFill>
                <a:latin typeface="Arial"/>
              </a:rPr>
              <a:t>học</a:t>
            </a:r>
            <a:r>
              <a:rPr sz="1050" b="0" dirty="0">
                <a:solidFill>
                  <a:srgbClr val="5B677A"/>
                </a:solidFill>
                <a:latin typeface="Arial"/>
              </a:rPr>
              <a:t> </a:t>
            </a:r>
            <a:r>
              <a:rPr sz="1050" b="0" dirty="0" err="1">
                <a:solidFill>
                  <a:srgbClr val="5B677A"/>
                </a:solidFill>
                <a:latin typeface="Arial"/>
              </a:rPr>
              <a:t>được</a:t>
            </a:r>
            <a:r>
              <a:rPr sz="1050" b="0" dirty="0">
                <a:solidFill>
                  <a:srgbClr val="5B677A"/>
                </a:solidFill>
                <a:latin typeface="Arial"/>
              </a:rPr>
              <a:t> </a:t>
            </a:r>
            <a:r>
              <a:rPr sz="1050" b="0" dirty="0" err="1">
                <a:solidFill>
                  <a:srgbClr val="5B677A"/>
                </a:solidFill>
                <a:latin typeface="Arial"/>
              </a:rPr>
              <a:t>và</a:t>
            </a:r>
            <a:r>
              <a:rPr sz="1050" b="0" dirty="0">
                <a:solidFill>
                  <a:srgbClr val="5B677A"/>
                </a:solidFill>
                <a:latin typeface="Arial"/>
              </a:rPr>
              <a:t> guideline an </a:t>
            </a:r>
            <a:r>
              <a:rPr sz="1050" b="0" dirty="0" err="1">
                <a:solidFill>
                  <a:srgbClr val="5B677A"/>
                </a:solidFill>
                <a:latin typeface="Arial"/>
              </a:rPr>
              <a:t>toàn</a:t>
            </a:r>
            <a:r>
              <a:rPr sz="1050" b="0" dirty="0">
                <a:solidFill>
                  <a:srgbClr val="5B677A"/>
                </a:solidFill>
                <a:latin typeface="Arial"/>
              </a:rPr>
              <a:t> </a:t>
            </a:r>
            <a:r>
              <a:rPr sz="1050" b="0" dirty="0" err="1">
                <a:solidFill>
                  <a:srgbClr val="5B677A"/>
                </a:solidFill>
                <a:latin typeface="Arial"/>
              </a:rPr>
              <a:t>thông</a:t>
            </a:r>
            <a:r>
              <a:rPr sz="1050" b="0" dirty="0">
                <a:solidFill>
                  <a:srgbClr val="5B677A"/>
                </a:solidFill>
                <a:latin typeface="Arial"/>
              </a:rPr>
              <a:t> tin </a:t>
            </a:r>
            <a:r>
              <a:rPr sz="1050" b="0" dirty="0" err="1">
                <a:solidFill>
                  <a:srgbClr val="5B677A"/>
                </a:solidFill>
                <a:latin typeface="Arial"/>
              </a:rPr>
              <a:t>là</a:t>
            </a:r>
            <a:r>
              <a:rPr sz="1050" b="0" dirty="0">
                <a:solidFill>
                  <a:srgbClr val="5B677A"/>
                </a:solidFill>
                <a:latin typeface="Arial"/>
              </a:rPr>
              <a:t> </a:t>
            </a:r>
            <a:r>
              <a:rPr sz="1050" b="0" dirty="0" err="1">
                <a:solidFill>
                  <a:srgbClr val="5B677A"/>
                </a:solidFill>
                <a:latin typeface="Arial"/>
              </a:rPr>
              <a:t>một</a:t>
            </a:r>
            <a:r>
              <a:rPr sz="1050" b="0" dirty="0">
                <a:solidFill>
                  <a:srgbClr val="5B677A"/>
                </a:solidFill>
                <a:latin typeface="Arial"/>
              </a:rPr>
              <a:t> </a:t>
            </a:r>
            <a:r>
              <a:rPr sz="1050" b="0" dirty="0" err="1">
                <a:solidFill>
                  <a:srgbClr val="5B677A"/>
                </a:solidFill>
                <a:latin typeface="Arial"/>
              </a:rPr>
              <a:t>bằng</a:t>
            </a:r>
            <a:r>
              <a:rPr sz="1050" b="0" dirty="0">
                <a:solidFill>
                  <a:srgbClr val="5B677A"/>
                </a:solidFill>
                <a:latin typeface="Arial"/>
              </a:rPr>
              <a:t> </a:t>
            </a:r>
            <a:r>
              <a:rPr sz="1050" b="0" dirty="0" err="1">
                <a:solidFill>
                  <a:srgbClr val="5B677A"/>
                </a:solidFill>
                <a:latin typeface="Arial"/>
              </a:rPr>
              <a:t>chứng</a:t>
            </a:r>
            <a:r>
              <a:rPr sz="1050" b="0" dirty="0">
                <a:solidFill>
                  <a:srgbClr val="5B677A"/>
                </a:solidFill>
                <a:latin typeface="Arial"/>
              </a:rPr>
              <a:t> </a:t>
            </a:r>
            <a:r>
              <a:rPr sz="1050" b="0" dirty="0" err="1">
                <a:solidFill>
                  <a:srgbClr val="5B677A"/>
                </a:solidFill>
                <a:latin typeface="Arial"/>
              </a:rPr>
              <a:t>chất</a:t>
            </a:r>
            <a:r>
              <a:rPr sz="1050" b="0" dirty="0">
                <a:solidFill>
                  <a:srgbClr val="5B677A"/>
                </a:solidFill>
                <a:latin typeface="Arial"/>
              </a:rPr>
              <a:t> </a:t>
            </a:r>
            <a:r>
              <a:rPr sz="1050" b="0" dirty="0" err="1">
                <a:solidFill>
                  <a:srgbClr val="5B677A"/>
                </a:solidFill>
                <a:latin typeface="Arial"/>
              </a:rPr>
              <a:t>lượng</a:t>
            </a:r>
            <a:r>
              <a:rPr sz="1050" b="0" dirty="0">
                <a:solidFill>
                  <a:srgbClr val="5B677A"/>
                </a:solidFill>
                <a:latin typeface="Arial"/>
              </a:rPr>
              <a:t> </a:t>
            </a:r>
            <a:r>
              <a:rPr sz="1050" b="0" dirty="0" err="1">
                <a:solidFill>
                  <a:srgbClr val="5B677A"/>
                </a:solidFill>
                <a:latin typeface="Arial"/>
              </a:rPr>
              <a:t>rất</a:t>
            </a:r>
            <a:r>
              <a:rPr sz="1050" b="0" dirty="0">
                <a:solidFill>
                  <a:srgbClr val="5B677A"/>
                </a:solidFill>
                <a:latin typeface="Arial"/>
              </a:rPr>
              <a:t> </a:t>
            </a:r>
            <a:r>
              <a:rPr sz="1050" b="0" dirty="0" err="1">
                <a:solidFill>
                  <a:srgbClr val="5B677A"/>
                </a:solidFill>
                <a:latin typeface="Arial"/>
              </a:rPr>
              <a:t>có</a:t>
            </a:r>
            <a:r>
              <a:rPr sz="1050" b="0" dirty="0">
                <a:solidFill>
                  <a:srgbClr val="5B677A"/>
                </a:solidFill>
                <a:latin typeface="Arial"/>
              </a:rPr>
              <a:t> </a:t>
            </a:r>
            <a:r>
              <a:rPr sz="1050" b="0" dirty="0" err="1">
                <a:solidFill>
                  <a:srgbClr val="5B677A"/>
                </a:solidFill>
                <a:latin typeface="Arial"/>
              </a:rPr>
              <a:t>giá</a:t>
            </a:r>
            <a:r>
              <a:rPr sz="1050" b="0" dirty="0">
                <a:solidFill>
                  <a:srgbClr val="5B677A"/>
                </a:solidFill>
                <a:latin typeface="Arial"/>
              </a:rPr>
              <a:t> </a:t>
            </a:r>
            <a:r>
              <a:rPr sz="1050" b="0" dirty="0" err="1">
                <a:solidFill>
                  <a:srgbClr val="5B677A"/>
                </a:solidFill>
                <a:latin typeface="Arial"/>
              </a:rPr>
              <a:t>trị</a:t>
            </a:r>
            <a:endParaRPr sz="1050" b="0" dirty="0">
              <a:solidFill>
                <a:srgbClr val="5B677A"/>
              </a:solidFill>
              <a:latin typeface="Arial"/>
            </a:endParaRPr>
          </a:p>
        </p:txBody>
      </p:sp>
      <p:sp>
        <p:nvSpPr>
          <p:cNvPr id="7" name="TextBox 6"/>
          <p:cNvSpPr txBox="1"/>
          <p:nvPr/>
        </p:nvSpPr>
        <p:spPr>
          <a:xfrm>
            <a:off x="502920" y="6446520"/>
            <a:ext cx="10789920" cy="164592"/>
          </a:xfrm>
          <a:prstGeom prst="rect">
            <a:avLst/>
          </a:prstGeom>
          <a:noFill/>
        </p:spPr>
        <p:txBody>
          <a:bodyPr wrap="square" lIns="0" tIns="0" rIns="0" bIns="0" anchor="t">
            <a:normAutofit/>
          </a:bodyPr>
          <a:lstStyle/>
          <a:p>
            <a:pPr algn="l">
              <a:lnSpc>
                <a:spcPct val="112000"/>
              </a:lnSpc>
              <a:spcAft>
                <a:spcPts val="400"/>
              </a:spcAft>
            </a:pPr>
            <a:r>
              <a:rPr sz="850" b="0">
                <a:solidFill>
                  <a:srgbClr val="5B677A"/>
                </a:solidFill>
                <a:latin typeface="Arial"/>
              </a:rPr>
              <a:t>Xây dựng hệ thống phát hiện và lọc spam email | Đồ án Truy hồi thông tin | Trang 36</a:t>
            </a:r>
          </a:p>
        </p:txBody>
      </p:sp>
      <p:sp>
        <p:nvSpPr>
          <p:cNvPr id="8" name="Rounded Rectangle 7"/>
          <p:cNvSpPr/>
          <p:nvPr/>
        </p:nvSpPr>
        <p:spPr>
          <a:xfrm>
            <a:off x="502920" y="1417320"/>
            <a:ext cx="5074920" cy="4709160"/>
          </a:xfrm>
          <a:prstGeom prst="roundRect">
            <a:avLst/>
          </a:prstGeom>
          <a:solidFill>
            <a:srgbClr val="FFFF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normAutofit/>
          </a:bodyPr>
          <a:lstStyle/>
          <a:p>
            <a:pPr algn="l">
              <a:lnSpc>
                <a:spcPct val="112000"/>
              </a:lnSpc>
              <a:spcAft>
                <a:spcPts val="400"/>
              </a:spcAft>
            </a:pPr>
            <a:r>
              <a:rPr sz="1400" b="0">
                <a:solidFill>
                  <a:srgbClr val="1F2937"/>
                </a:solidFill>
                <a:latin typeface="Arial"/>
              </a:rPr>
              <a:t>Báo cáo đối chiếu token mà mô hình học được với các khuyến nghị nhận diện phishing của CISA.</a:t>
            </a:r>
          </a:p>
          <a:p>
            <a:pPr algn="l">
              <a:lnSpc>
                <a:spcPct val="112000"/>
              </a:lnSpc>
              <a:spcAft>
                <a:spcPts val="400"/>
              </a:spcAft>
            </a:pPr>
            <a:r>
              <a:rPr sz="1400" b="0">
                <a:solidFill>
                  <a:srgbClr val="1F2937"/>
                </a:solidFill>
                <a:latin typeface="Arial"/>
              </a:rPr>
              <a:t>• Những token như http, urltoken, money, remove, hello hoặc các bigram như read attached xuất hiện ở phía spam cho thấy mô hình đang bám được đúng các tín hiệu hành vi mà người dùng thật cũng...</a:t>
            </a:r>
          </a:p>
          <a:p>
            <a:pPr algn="l">
              <a:lnSpc>
                <a:spcPct val="112000"/>
              </a:lnSpc>
              <a:spcAft>
                <a:spcPts val="400"/>
              </a:spcAft>
            </a:pPr>
            <a:r>
              <a:rPr sz="1400" b="0">
                <a:solidFill>
                  <a:srgbClr val="1F2937"/>
                </a:solidFill>
                <a:latin typeface="Arial"/>
              </a:rPr>
              <a:t>• Điều này quan trọng vì nó chứng minh mô hình không chỉ cho điểm số đẹp mà còn nhận diện đúng các đặc trưng có ý nghĩa an toàn thông tin.</a:t>
            </a:r>
          </a:p>
          <a:p>
            <a:pPr algn="l">
              <a:lnSpc>
                <a:spcPct val="112000"/>
              </a:lnSpc>
              <a:spcAft>
                <a:spcPts val="400"/>
              </a:spcAft>
            </a:pPr>
            <a:r>
              <a:rPr sz="1400" b="0">
                <a:solidFill>
                  <a:srgbClr val="1F2937"/>
                </a:solidFill>
                <a:latin typeface="Arial"/>
              </a:rPr>
              <a:t>• Tuy nhiên, slide này cũng là nơi thích hợp để nêu rằng hệ thống vẫn chưa khai thác metadata mạnh như domain reputation, SPF/DKIM/DMARC hoặc phân tích sâu liên kết.</a:t>
            </a:r>
          </a:p>
        </p:txBody>
      </p:sp>
      <p:sp>
        <p:nvSpPr>
          <p:cNvPr id="11" name="Rounded Rectangle 10"/>
          <p:cNvSpPr/>
          <p:nvPr/>
        </p:nvSpPr>
        <p:spPr>
          <a:xfrm>
            <a:off x="5806440" y="5582412"/>
            <a:ext cx="5532120" cy="411480"/>
          </a:xfrm>
          <a:prstGeom prst="roundRect">
            <a:avLst/>
          </a:prstGeom>
          <a:solidFill>
            <a:srgbClr val="EAF2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t">
            <a:normAutofit/>
          </a:bodyPr>
          <a:lstStyle/>
          <a:p>
            <a:pPr algn="l">
              <a:lnSpc>
                <a:spcPct val="112000"/>
              </a:lnSpc>
              <a:spcAft>
                <a:spcPts val="400"/>
              </a:spcAft>
            </a:pPr>
            <a:r>
              <a:rPr sz="1050" b="0">
                <a:solidFill>
                  <a:srgbClr val="1F2937"/>
                </a:solidFill>
                <a:latin typeface="Arial"/>
              </a:rPr>
              <a:t>Infographic phishing dùng làm minh họa tượng trưng. Nguồn: Wikimedia Commons.</a:t>
            </a:r>
          </a:p>
        </p:txBody>
      </p:sp>
      <p:sp>
        <p:nvSpPr>
          <p:cNvPr id="12" name="Rounded Rectangle 11"/>
          <p:cNvSpPr/>
          <p:nvPr/>
        </p:nvSpPr>
        <p:spPr>
          <a:xfrm>
            <a:off x="5806440" y="6144768"/>
            <a:ext cx="5532120" cy="384048"/>
          </a:xfrm>
          <a:prstGeom prst="roundRect">
            <a:avLst/>
          </a:prstGeom>
          <a:solidFill>
            <a:srgbClr val="FFF1E8"/>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t">
            <a:normAutofit/>
          </a:bodyPr>
          <a:lstStyle/>
          <a:p>
            <a:pPr algn="l">
              <a:lnSpc>
                <a:spcPct val="112000"/>
              </a:lnSpc>
              <a:spcAft>
                <a:spcPts val="400"/>
              </a:spcAft>
            </a:pPr>
            <a:r>
              <a:rPr sz="980" b="0">
                <a:solidFill>
                  <a:srgbClr val="1F2937"/>
                </a:solidFill>
                <a:latin typeface="Arial"/>
              </a:rPr>
              <a:t>Nguồn: https://commons.wikimedia.org/wiki/File:Infografia_phishing.jpg</a:t>
            </a:r>
          </a:p>
        </p:txBody>
      </p:sp>
      <p:pic>
        <p:nvPicPr>
          <p:cNvPr id="1026" name="Picture 2" descr="Nhận nhiều email spam nội dung 18+? Làm sao để thoát khỏi nó : r/vozforums">
            <a:extLst>
              <a:ext uri="{FF2B5EF4-FFF2-40B4-BE49-F238E27FC236}">
                <a16:creationId xmlns:a16="http://schemas.microsoft.com/office/drawing/2014/main" id="{513A7408-85FF-4CC1-A463-35350519E1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8400" y="1341161"/>
            <a:ext cx="4975412" cy="415895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0F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75488"/>
            <a:ext cx="201168" cy="6382512"/>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8912" y="164592"/>
            <a:ext cx="1417320" cy="292608"/>
          </a:xfrm>
          <a:prstGeom prst="roundRect">
            <a:avLst/>
          </a:prstGeom>
          <a:solidFill>
            <a:srgbClr val="E46A2E"/>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t">
            <a:normAutofit/>
          </a:bodyPr>
          <a:lstStyle/>
          <a:p>
            <a:pPr algn="ctr">
              <a:lnSpc>
                <a:spcPct val="112000"/>
              </a:lnSpc>
              <a:spcAft>
                <a:spcPts val="400"/>
              </a:spcAft>
            </a:pPr>
            <a:r>
              <a:rPr sz="1200" b="1">
                <a:solidFill>
                  <a:srgbClr val="FFFFFF"/>
                </a:solidFill>
                <a:latin typeface="Arial"/>
              </a:rPr>
              <a:t>CHƯƠNG 5</a:t>
            </a:r>
          </a:p>
        </p:txBody>
      </p:sp>
      <p:sp>
        <p:nvSpPr>
          <p:cNvPr id="5" name="TextBox 4"/>
          <p:cNvSpPr txBox="1"/>
          <p:nvPr/>
        </p:nvSpPr>
        <p:spPr>
          <a:xfrm>
            <a:off x="502920" y="658368"/>
            <a:ext cx="8138160" cy="475488"/>
          </a:xfrm>
          <a:prstGeom prst="rect">
            <a:avLst/>
          </a:prstGeom>
          <a:noFill/>
        </p:spPr>
        <p:txBody>
          <a:bodyPr wrap="square" lIns="0" tIns="0" rIns="0" bIns="0" anchor="t">
            <a:normAutofit/>
          </a:bodyPr>
          <a:lstStyle/>
          <a:p>
            <a:pPr algn="l">
              <a:lnSpc>
                <a:spcPct val="112000"/>
              </a:lnSpc>
              <a:spcAft>
                <a:spcPts val="400"/>
              </a:spcAft>
            </a:pPr>
            <a:r>
              <a:rPr sz="2400" b="1">
                <a:solidFill>
                  <a:srgbClr val="0F2747"/>
                </a:solidFill>
                <a:latin typeface="Arial"/>
              </a:rPr>
              <a:t>Kết quả đạt được của đề tài</a:t>
            </a:r>
          </a:p>
        </p:txBody>
      </p:sp>
      <p:sp>
        <p:nvSpPr>
          <p:cNvPr id="6" name="TextBox 5"/>
          <p:cNvSpPr txBox="1"/>
          <p:nvPr/>
        </p:nvSpPr>
        <p:spPr>
          <a:xfrm>
            <a:off x="502920" y="6446520"/>
            <a:ext cx="10789920" cy="164592"/>
          </a:xfrm>
          <a:prstGeom prst="rect">
            <a:avLst/>
          </a:prstGeom>
          <a:noFill/>
        </p:spPr>
        <p:txBody>
          <a:bodyPr wrap="square" lIns="0" tIns="0" rIns="0" bIns="0" anchor="t">
            <a:normAutofit/>
          </a:bodyPr>
          <a:lstStyle/>
          <a:p>
            <a:pPr algn="l">
              <a:lnSpc>
                <a:spcPct val="112000"/>
              </a:lnSpc>
              <a:spcAft>
                <a:spcPts val="400"/>
              </a:spcAft>
            </a:pPr>
            <a:r>
              <a:rPr sz="850" b="0">
                <a:solidFill>
                  <a:srgbClr val="5B677A"/>
                </a:solidFill>
                <a:latin typeface="Arial"/>
              </a:rPr>
              <a:t>Xây dựng hệ thống phát hiện và lọc spam email | Đồ án Truy hồi thông tin | Trang 37</a:t>
            </a:r>
          </a:p>
        </p:txBody>
      </p:sp>
      <p:sp>
        <p:nvSpPr>
          <p:cNvPr id="7" name="Rounded Rectangle 6"/>
          <p:cNvSpPr/>
          <p:nvPr/>
        </p:nvSpPr>
        <p:spPr>
          <a:xfrm>
            <a:off x="502920" y="1417320"/>
            <a:ext cx="11155680" cy="4709160"/>
          </a:xfrm>
          <a:prstGeom prst="roundRect">
            <a:avLst/>
          </a:prstGeom>
          <a:solidFill>
            <a:srgbClr val="FFFF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normAutofit/>
          </a:bodyPr>
          <a:lstStyle/>
          <a:p>
            <a:pPr algn="l">
              <a:lnSpc>
                <a:spcPct val="112000"/>
              </a:lnSpc>
              <a:spcAft>
                <a:spcPts val="400"/>
              </a:spcAft>
            </a:pPr>
            <a:r>
              <a:rPr sz="1600" b="0">
                <a:solidFill>
                  <a:srgbClr val="1F2937"/>
                </a:solidFill>
                <a:latin typeface="Arial"/>
              </a:rPr>
              <a:t>Đề tài đã xây dựng thành công một hệ thống phát hiện và lọc spam email tương đối hoàn chỉnh.</a:t>
            </a:r>
          </a:p>
          <a:p>
            <a:pPr algn="l">
              <a:lnSpc>
                <a:spcPct val="112000"/>
              </a:lnSpc>
              <a:spcAft>
                <a:spcPts val="400"/>
              </a:spcAft>
            </a:pPr>
            <a:r>
              <a:rPr sz="1600" b="0">
                <a:solidFill>
                  <a:srgbClr val="1F2937"/>
                </a:solidFill>
                <a:latin typeface="Arial"/>
              </a:rPr>
              <a:t>• Về hiệu năng, mô hình SVM dùng cho demo đạt F1_spam=97.69%, F1_ham=98.99%, macro F1=98.34%, balanced accuracy=98.34% và ROC-AUC=99.79%.</a:t>
            </a:r>
          </a:p>
          <a:p>
            <a:pPr algn="l">
              <a:lnSpc>
                <a:spcPct val="112000"/>
              </a:lnSpc>
              <a:spcAft>
                <a:spcPts val="400"/>
              </a:spcAft>
            </a:pPr>
            <a:r>
              <a:rPr sz="1600" b="0">
                <a:solidFill>
                  <a:srgbClr val="1F2937"/>
                </a:solidFill>
                <a:latin typeface="Arial"/>
              </a:rPr>
              <a:t>• Về mặt phương pháp, đồ án chứng minh rằng TF-IDF kết hợp mô hình tuyến tính vẫn rất mạnh trên dữ liệu email văn bản thưa.</a:t>
            </a:r>
          </a:p>
          <a:p>
            <a:pPr algn="l">
              <a:lnSpc>
                <a:spcPct val="112000"/>
              </a:lnSpc>
              <a:spcAft>
                <a:spcPts val="400"/>
              </a:spcAft>
            </a:pPr>
            <a:r>
              <a:rPr sz="1600" b="0">
                <a:solidFill>
                  <a:srgbClr val="1F2937"/>
                </a:solidFill>
                <a:latin typeface="Arial"/>
              </a:rPr>
              <a:t>• Về mặt ứng dụng, hệ thống đã có dữ liệu song ngữ, có artifact lưu model, có file CSV báo cáo kết quả và có app demo giải thích token.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0F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75488"/>
            <a:ext cx="201168" cy="6382512"/>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8912" y="164592"/>
            <a:ext cx="1417320" cy="292608"/>
          </a:xfrm>
          <a:prstGeom prst="roundRect">
            <a:avLst/>
          </a:prstGeom>
          <a:solidFill>
            <a:srgbClr val="E46A2E"/>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t">
            <a:normAutofit/>
          </a:bodyPr>
          <a:lstStyle/>
          <a:p>
            <a:pPr algn="ctr">
              <a:lnSpc>
                <a:spcPct val="112000"/>
              </a:lnSpc>
              <a:spcAft>
                <a:spcPts val="400"/>
              </a:spcAft>
            </a:pPr>
            <a:r>
              <a:rPr sz="1200" b="1">
                <a:solidFill>
                  <a:srgbClr val="FFFFFF"/>
                </a:solidFill>
                <a:latin typeface="Arial"/>
              </a:rPr>
              <a:t>CHƯƠNG 5</a:t>
            </a:r>
          </a:p>
        </p:txBody>
      </p:sp>
      <p:sp>
        <p:nvSpPr>
          <p:cNvPr id="5" name="TextBox 4"/>
          <p:cNvSpPr txBox="1"/>
          <p:nvPr/>
        </p:nvSpPr>
        <p:spPr>
          <a:xfrm>
            <a:off x="502920" y="658368"/>
            <a:ext cx="8138160" cy="475488"/>
          </a:xfrm>
          <a:prstGeom prst="rect">
            <a:avLst/>
          </a:prstGeom>
          <a:noFill/>
        </p:spPr>
        <p:txBody>
          <a:bodyPr wrap="square" lIns="0" tIns="0" rIns="0" bIns="0" anchor="t">
            <a:normAutofit/>
          </a:bodyPr>
          <a:lstStyle/>
          <a:p>
            <a:pPr algn="l">
              <a:lnSpc>
                <a:spcPct val="112000"/>
              </a:lnSpc>
              <a:spcAft>
                <a:spcPts val="400"/>
              </a:spcAft>
            </a:pPr>
            <a:r>
              <a:rPr sz="2400" b="1">
                <a:solidFill>
                  <a:srgbClr val="0F2747"/>
                </a:solidFill>
                <a:latin typeface="Arial"/>
              </a:rPr>
              <a:t>Ưu điểm nổi bật của hệ thống</a:t>
            </a:r>
          </a:p>
        </p:txBody>
      </p:sp>
      <p:sp>
        <p:nvSpPr>
          <p:cNvPr id="6" name="TextBox 5"/>
          <p:cNvSpPr txBox="1"/>
          <p:nvPr/>
        </p:nvSpPr>
        <p:spPr>
          <a:xfrm>
            <a:off x="502920" y="6446520"/>
            <a:ext cx="10789920" cy="164592"/>
          </a:xfrm>
          <a:prstGeom prst="rect">
            <a:avLst/>
          </a:prstGeom>
          <a:noFill/>
        </p:spPr>
        <p:txBody>
          <a:bodyPr wrap="square" lIns="0" tIns="0" rIns="0" bIns="0" anchor="t">
            <a:normAutofit/>
          </a:bodyPr>
          <a:lstStyle/>
          <a:p>
            <a:pPr algn="l">
              <a:lnSpc>
                <a:spcPct val="112000"/>
              </a:lnSpc>
              <a:spcAft>
                <a:spcPts val="400"/>
              </a:spcAft>
            </a:pPr>
            <a:r>
              <a:rPr sz="850" b="0">
                <a:solidFill>
                  <a:srgbClr val="5B677A"/>
                </a:solidFill>
                <a:latin typeface="Arial"/>
              </a:rPr>
              <a:t>Xây dựng hệ thống phát hiện và lọc spam email | Đồ án Truy hồi thông tin | Trang 38</a:t>
            </a:r>
          </a:p>
        </p:txBody>
      </p:sp>
      <p:sp>
        <p:nvSpPr>
          <p:cNvPr id="7" name="Rounded Rectangle 6"/>
          <p:cNvSpPr/>
          <p:nvPr/>
        </p:nvSpPr>
        <p:spPr>
          <a:xfrm>
            <a:off x="502920" y="1417320"/>
            <a:ext cx="11155680" cy="4709160"/>
          </a:xfrm>
          <a:prstGeom prst="roundRect">
            <a:avLst/>
          </a:prstGeom>
          <a:solidFill>
            <a:srgbClr val="FFFF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normAutofit/>
          </a:bodyPr>
          <a:lstStyle/>
          <a:p>
            <a:pPr algn="l">
              <a:lnSpc>
                <a:spcPct val="112000"/>
              </a:lnSpc>
              <a:spcAft>
                <a:spcPts val="400"/>
              </a:spcAft>
            </a:pPr>
            <a:r>
              <a:rPr sz="1600" b="0">
                <a:solidFill>
                  <a:srgbClr val="1F2937"/>
                </a:solidFill>
                <a:latin typeface="Arial"/>
              </a:rPr>
              <a:t>Ưu điểm đầu tiên là kiến trúc pipeline rõ ràng và dễ tái lập. Mỗi bước được tách module hợp lý nên nhóm dễ kiểm soát dữ liệu, dễ sửa từng khâu và dễ đối chiếu giữa mã nguồn với báo cáo.</a:t>
            </a:r>
          </a:p>
          <a:p>
            <a:pPr algn="l">
              <a:lnSpc>
                <a:spcPct val="112000"/>
              </a:lnSpc>
              <a:spcAft>
                <a:spcPts val="400"/>
              </a:spcAft>
            </a:pPr>
            <a:r>
              <a:rPr sz="1600" b="0">
                <a:solidFill>
                  <a:srgbClr val="1F2937"/>
                </a:solidFill>
                <a:latin typeface="Arial"/>
              </a:rPr>
              <a:t>• Ưu điểm thứ hai là hệ thống không chỉ phụ thuộc vào một mô hình duy nhất. Nhóm đã benchmark NB, SVM, LR, RF cùng với baseline, vì vậy lựa chọn mô hình demo có cơ sở thực nghiệm thay vì dựa vào cảm tính.</a:t>
            </a:r>
          </a:p>
          <a:p>
            <a:pPr algn="l">
              <a:lnSpc>
                <a:spcPct val="112000"/>
              </a:lnSpc>
              <a:spcAft>
                <a:spcPts val="400"/>
              </a:spcAft>
            </a:pPr>
            <a:r>
              <a:rPr sz="1600" b="0">
                <a:solidFill>
                  <a:srgbClr val="1F2937"/>
                </a:solidFill>
                <a:latin typeface="Arial"/>
              </a:rPr>
              <a:t>• Ưu điểm thứ ba là tính giải thích. Nhờ TF-IDF và mô hình tuyến tính, hệ thống có thể truy ngược quyết định về mức token. Đây là lợi thế rất lớn trong bối cảnh đồ án cần thuyết minh rõ ràng trước hội đồng hoặc giảng viên.</a:t>
            </a:r>
          </a:p>
          <a:p>
            <a:pPr algn="l">
              <a:lnSpc>
                <a:spcPct val="112000"/>
              </a:lnSpc>
              <a:spcAft>
                <a:spcPts val="400"/>
              </a:spcAft>
            </a:pPr>
            <a:r>
              <a:rPr sz="1600" b="0">
                <a:solidFill>
                  <a:srgbClr val="1F2937"/>
                </a:solidFill>
                <a:latin typeface="Arial"/>
              </a:rPr>
              <a:t>• Ưu điểm thứ tư là dữ liệu song ngữ Anh - Việt, trong đó có phần tiếng Việt do nhóm tự bổ sung. Điều này làm bộ lọc gần với bối cảnh sử dụng thật hơn so với nhiều bài làm chỉ dùng dataset tiếng Anh có sẵn.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0F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75488"/>
            <a:ext cx="201168" cy="6382512"/>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8912" y="164592"/>
            <a:ext cx="1417320" cy="292608"/>
          </a:xfrm>
          <a:prstGeom prst="roundRect">
            <a:avLst/>
          </a:prstGeom>
          <a:solidFill>
            <a:srgbClr val="E46A2E"/>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t">
            <a:normAutofit/>
          </a:bodyPr>
          <a:lstStyle/>
          <a:p>
            <a:pPr algn="ctr">
              <a:lnSpc>
                <a:spcPct val="112000"/>
              </a:lnSpc>
              <a:spcAft>
                <a:spcPts val="400"/>
              </a:spcAft>
            </a:pPr>
            <a:r>
              <a:rPr sz="1200" b="1">
                <a:solidFill>
                  <a:srgbClr val="FFFFFF"/>
                </a:solidFill>
                <a:latin typeface="Arial"/>
              </a:rPr>
              <a:t>CHƯƠNG 5</a:t>
            </a:r>
          </a:p>
        </p:txBody>
      </p:sp>
      <p:sp>
        <p:nvSpPr>
          <p:cNvPr id="5" name="TextBox 4"/>
          <p:cNvSpPr txBox="1"/>
          <p:nvPr/>
        </p:nvSpPr>
        <p:spPr>
          <a:xfrm>
            <a:off x="502920" y="658368"/>
            <a:ext cx="8138160" cy="475488"/>
          </a:xfrm>
          <a:prstGeom prst="rect">
            <a:avLst/>
          </a:prstGeom>
          <a:noFill/>
        </p:spPr>
        <p:txBody>
          <a:bodyPr wrap="square" lIns="0" tIns="0" rIns="0" bIns="0" anchor="t">
            <a:normAutofit/>
          </a:bodyPr>
          <a:lstStyle/>
          <a:p>
            <a:pPr algn="l">
              <a:lnSpc>
                <a:spcPct val="112000"/>
              </a:lnSpc>
              <a:spcAft>
                <a:spcPts val="400"/>
              </a:spcAft>
            </a:pPr>
            <a:r>
              <a:rPr sz="2400" b="1">
                <a:solidFill>
                  <a:srgbClr val="0F2747"/>
                </a:solidFill>
                <a:latin typeface="Arial"/>
              </a:rPr>
              <a:t>Hạn chế hiện tại của đề tài</a:t>
            </a:r>
          </a:p>
        </p:txBody>
      </p:sp>
      <p:sp>
        <p:nvSpPr>
          <p:cNvPr id="6" name="TextBox 5"/>
          <p:cNvSpPr txBox="1"/>
          <p:nvPr/>
        </p:nvSpPr>
        <p:spPr>
          <a:xfrm>
            <a:off x="502920" y="6446520"/>
            <a:ext cx="10789920" cy="164592"/>
          </a:xfrm>
          <a:prstGeom prst="rect">
            <a:avLst/>
          </a:prstGeom>
          <a:noFill/>
        </p:spPr>
        <p:txBody>
          <a:bodyPr wrap="square" lIns="0" tIns="0" rIns="0" bIns="0" anchor="t">
            <a:normAutofit/>
          </a:bodyPr>
          <a:lstStyle/>
          <a:p>
            <a:pPr algn="l">
              <a:lnSpc>
                <a:spcPct val="112000"/>
              </a:lnSpc>
              <a:spcAft>
                <a:spcPts val="400"/>
              </a:spcAft>
            </a:pPr>
            <a:r>
              <a:rPr sz="850" b="0">
                <a:solidFill>
                  <a:srgbClr val="5B677A"/>
                </a:solidFill>
                <a:latin typeface="Arial"/>
              </a:rPr>
              <a:t>Xây dựng hệ thống phát hiện và lọc spam email | Đồ án Truy hồi thông tin | Trang 39</a:t>
            </a:r>
          </a:p>
        </p:txBody>
      </p:sp>
      <p:sp>
        <p:nvSpPr>
          <p:cNvPr id="7" name="Rounded Rectangle 6"/>
          <p:cNvSpPr/>
          <p:nvPr/>
        </p:nvSpPr>
        <p:spPr>
          <a:xfrm>
            <a:off x="502920" y="1417320"/>
            <a:ext cx="11155680" cy="4709160"/>
          </a:xfrm>
          <a:prstGeom prst="roundRect">
            <a:avLst/>
          </a:prstGeom>
          <a:solidFill>
            <a:srgbClr val="FFFF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normAutofit/>
          </a:bodyPr>
          <a:lstStyle/>
          <a:p>
            <a:pPr algn="l">
              <a:lnSpc>
                <a:spcPct val="112000"/>
              </a:lnSpc>
              <a:spcAft>
                <a:spcPts val="400"/>
              </a:spcAft>
            </a:pPr>
            <a:r>
              <a:rPr sz="1600" b="0">
                <a:solidFill>
                  <a:srgbClr val="1F2937"/>
                </a:solidFill>
                <a:latin typeface="Arial"/>
              </a:rPr>
              <a:t>Hệ thống hiện chủ yếu dựa trên lexical feature của subject và body. Làm mô hình yếu hơn ở các tình huống spam thiên về hình ảnh, attachment, metadata hoặc phishing tinh vi khai thác danh tiếng domain và header.</a:t>
            </a:r>
          </a:p>
          <a:p>
            <a:pPr algn="l">
              <a:lnSpc>
                <a:spcPct val="112000"/>
              </a:lnSpc>
              <a:spcAft>
                <a:spcPts val="400"/>
              </a:spcAft>
            </a:pPr>
            <a:r>
              <a:rPr sz="1600" b="0">
                <a:solidFill>
                  <a:srgbClr val="1F2937"/>
                </a:solidFill>
                <a:latin typeface="Arial"/>
              </a:rPr>
              <a:t>• Quy mô dữ liệu tiếng Việt vẫn nhỏ hơn phần tiếng Anh đáng kể.</a:t>
            </a:r>
          </a:p>
          <a:p>
            <a:pPr algn="l">
              <a:lnSpc>
                <a:spcPct val="112000"/>
              </a:lnSpc>
              <a:spcAft>
                <a:spcPts val="400"/>
              </a:spcAft>
            </a:pPr>
            <a:r>
              <a:rPr sz="1600" b="0">
                <a:solidFill>
                  <a:srgbClr val="1F2937"/>
                </a:solidFill>
                <a:latin typeface="Arial"/>
              </a:rPr>
              <a:t>• Dataset mặc định còn 403 nội dung trùng lặp nếu chưa bật dedup. Đây là một điểm có thể làm điểm số lạc quan hơn thực tế và cần được nhấn mạnh như một giới hạn nghiêm túc của thực nghiệm.</a:t>
            </a:r>
          </a:p>
          <a:p>
            <a:pPr algn="l">
              <a:lnSpc>
                <a:spcPct val="112000"/>
              </a:lnSpc>
              <a:spcAft>
                <a:spcPts val="400"/>
              </a:spcAft>
            </a:pPr>
            <a:r>
              <a:rPr sz="1600" b="0">
                <a:solidFill>
                  <a:srgbClr val="1F2937"/>
                </a:solidFill>
                <a:latin typeface="Arial"/>
              </a:rPr>
              <a:t>• Các lỗi thực tế cho thấy mô hình vẫn gặp khó với email quá ngắn, spam bị obfuscation mạnh, email học thuật/forwarded content và những ham có phong cách quảng bá. Đây đều là vùng khó tự nhiên của hướng lexical-only.</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0F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75488"/>
            <a:ext cx="201168" cy="6382512"/>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8912" y="164592"/>
            <a:ext cx="1417320" cy="292608"/>
          </a:xfrm>
          <a:prstGeom prst="roundRect">
            <a:avLst/>
          </a:prstGeom>
          <a:solidFill>
            <a:srgbClr val="E46A2E"/>
          </a:solidFill>
          <a:ln>
            <a:noFill/>
          </a:ln>
        </p:spPr>
        <p:style>
          <a:lnRef idx="1">
            <a:schemeClr val="accent1"/>
          </a:lnRef>
          <a:fillRef idx="3">
            <a:schemeClr val="accent1"/>
          </a:fillRef>
          <a:effectRef idx="2">
            <a:schemeClr val="accent1"/>
          </a:effectRef>
          <a:fontRef idx="minor">
            <a:schemeClr val="lt1"/>
          </a:fontRef>
        </p:style>
        <p:txBody>
          <a:bodyPr wrap="square" lIns="18288" tIns="0" rIns="18288" bIns="0" rtlCol="0" anchor="t">
            <a:normAutofit/>
          </a:bodyPr>
          <a:lstStyle/>
          <a:p>
            <a:pPr algn="ctr">
              <a:lnSpc>
                <a:spcPct val="112000"/>
              </a:lnSpc>
              <a:spcAft>
                <a:spcPts val="400"/>
              </a:spcAft>
            </a:pPr>
            <a:r>
              <a:rPr sz="1200" b="1">
                <a:solidFill>
                  <a:srgbClr val="FFFFFF"/>
                </a:solidFill>
                <a:latin typeface="Arial"/>
              </a:rPr>
              <a:t>CHƯƠNG 5</a:t>
            </a:r>
          </a:p>
        </p:txBody>
      </p:sp>
      <p:sp>
        <p:nvSpPr>
          <p:cNvPr id="5" name="TextBox 4"/>
          <p:cNvSpPr txBox="1"/>
          <p:nvPr/>
        </p:nvSpPr>
        <p:spPr>
          <a:xfrm>
            <a:off x="502920" y="658368"/>
            <a:ext cx="8138160" cy="475488"/>
          </a:xfrm>
          <a:prstGeom prst="rect">
            <a:avLst/>
          </a:prstGeom>
          <a:noFill/>
        </p:spPr>
        <p:txBody>
          <a:bodyPr wrap="square" lIns="0" tIns="0" rIns="0" bIns="0" anchor="t">
            <a:normAutofit/>
          </a:bodyPr>
          <a:lstStyle/>
          <a:p>
            <a:pPr algn="l">
              <a:lnSpc>
                <a:spcPct val="112000"/>
              </a:lnSpc>
              <a:spcAft>
                <a:spcPts val="400"/>
              </a:spcAft>
            </a:pPr>
            <a:r>
              <a:rPr sz="2400" b="1">
                <a:solidFill>
                  <a:srgbClr val="0F2747"/>
                </a:solidFill>
                <a:latin typeface="Arial"/>
              </a:rPr>
              <a:t>Hướng phát triển tiếp theo</a:t>
            </a:r>
          </a:p>
        </p:txBody>
      </p:sp>
      <p:sp>
        <p:nvSpPr>
          <p:cNvPr id="6" name="TextBox 5"/>
          <p:cNvSpPr txBox="1"/>
          <p:nvPr/>
        </p:nvSpPr>
        <p:spPr>
          <a:xfrm>
            <a:off x="502920" y="6446520"/>
            <a:ext cx="10789920" cy="164592"/>
          </a:xfrm>
          <a:prstGeom prst="rect">
            <a:avLst/>
          </a:prstGeom>
          <a:noFill/>
        </p:spPr>
        <p:txBody>
          <a:bodyPr wrap="square" lIns="0" tIns="0" rIns="0" bIns="0" anchor="t">
            <a:normAutofit/>
          </a:bodyPr>
          <a:lstStyle/>
          <a:p>
            <a:pPr algn="l">
              <a:lnSpc>
                <a:spcPct val="112000"/>
              </a:lnSpc>
              <a:spcAft>
                <a:spcPts val="400"/>
              </a:spcAft>
            </a:pPr>
            <a:r>
              <a:rPr sz="850" b="0">
                <a:solidFill>
                  <a:srgbClr val="5B677A"/>
                </a:solidFill>
                <a:latin typeface="Arial"/>
              </a:rPr>
              <a:t>Xây dựng hệ thống phát hiện và lọc spam email | Đồ án Truy hồi thông tin | Trang 40</a:t>
            </a:r>
          </a:p>
        </p:txBody>
      </p:sp>
      <p:sp>
        <p:nvSpPr>
          <p:cNvPr id="7" name="Rounded Rectangle 6"/>
          <p:cNvSpPr/>
          <p:nvPr/>
        </p:nvSpPr>
        <p:spPr>
          <a:xfrm>
            <a:off x="502920" y="1417320"/>
            <a:ext cx="11155680" cy="4709160"/>
          </a:xfrm>
          <a:prstGeom prst="roundRect">
            <a:avLst/>
          </a:prstGeom>
          <a:solidFill>
            <a:srgbClr val="FFFFFF"/>
          </a:solidFill>
          <a:ln>
            <a:solidFill>
              <a:srgbClr val="D6DCE7"/>
            </a:solidFill>
          </a:ln>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normAutofit/>
          </a:bodyPr>
          <a:lstStyle/>
          <a:p>
            <a:pPr algn="l">
              <a:lnSpc>
                <a:spcPct val="112000"/>
              </a:lnSpc>
              <a:spcAft>
                <a:spcPts val="400"/>
              </a:spcAft>
            </a:pPr>
            <a:r>
              <a:rPr sz="1600" b="0">
                <a:solidFill>
                  <a:srgbClr val="1F2937"/>
                </a:solidFill>
                <a:latin typeface="Arial"/>
              </a:rPr>
              <a:t>Ưu tiên đầu tiên là chuẩn hóa quy trình quản trị dữ liệu: bật dedup mặc định, lưu log tiền xử lý, kiểm tra trùng lặp và kiểm soát chất lượng dataset chặt hơn để mọi benchmark sau này phản ánh đúng năng lực tổng quát hóa.</a:t>
            </a:r>
          </a:p>
          <a:p>
            <a:pPr algn="l">
              <a:lnSpc>
                <a:spcPct val="112000"/>
              </a:lnSpc>
              <a:spcAft>
                <a:spcPts val="400"/>
              </a:spcAft>
            </a:pPr>
            <a:r>
              <a:rPr sz="1600" b="0">
                <a:solidFill>
                  <a:srgbClr val="1F2937"/>
                </a:solidFill>
                <a:latin typeface="Arial"/>
              </a:rPr>
              <a:t>• Ưu tiên thứ hai là mở rộng dữ liệu tiếng Việt và dữ liệu pha trộn Anh - Việt.</a:t>
            </a:r>
          </a:p>
          <a:p>
            <a:pPr algn="l">
              <a:lnSpc>
                <a:spcPct val="112000"/>
              </a:lnSpc>
              <a:spcAft>
                <a:spcPts val="400"/>
              </a:spcAft>
            </a:pPr>
            <a:r>
              <a:rPr sz="1600" b="0">
                <a:solidFill>
                  <a:srgbClr val="1F2937"/>
                </a:solidFill>
                <a:latin typeface="Arial"/>
              </a:rPr>
              <a:t>• Ưu tiên thứ ba là kết hợp thêm đặc trưng ngoài nội dung như header, sender reputation, domain reputation, đặc điểm URL, SPF/DKIM/DMARC hoặc metadata liên quan tới luồng gửi.</a:t>
            </a:r>
          </a:p>
          <a:p>
            <a:pPr algn="l">
              <a:lnSpc>
                <a:spcPct val="112000"/>
              </a:lnSpc>
              <a:spcAft>
                <a:spcPts val="400"/>
              </a:spcAft>
            </a:pPr>
            <a:r>
              <a:rPr sz="1600" b="0">
                <a:solidFill>
                  <a:srgbClr val="1F2937"/>
                </a:solidFill>
                <a:latin typeface="Arial"/>
              </a:rPr>
              <a:t>• Ưu tiên thứ tư là so sánh thêm các kiểu biểu diễn như char n-gram, hybrid feature hoặc các transformer gọn nhẹ cho tiếng Việt.</a:t>
            </a:r>
          </a:p>
        </p:txBody>
      </p:sp>
    </p:spTree>
  </p:cSld>
  <p:clrMapOvr>
    <a:masterClrMapping/>
  </p:clrMapOvr>
</p:sld>
</file>

<file path=ppt/slides/slide41.xml><?xml version="1.0" encoding="utf-8"?>
<ns0:sld xmlns:ns0="http://schemas.openxmlformats.org/presentationml/2006/main" xmlns:ns1="http://schemas.openxmlformats.org/drawingml/2006/main">
  <ns0:cSld>
    <ns0:bg>
      <ns0:bgPr>
        <ns1:solidFill>
          <ns1:srgbClr val="F5F7FB"/>
        </ns1:solidFill>
        <ns1:effectLst/>
      </ns0:bgPr>
    </ns0:bg>
    <ns0:spTree>
      <ns0:nvGrpSpPr>
        <ns0:cNvPr id="1" name=""/>
        <ns0:cNvGrpSpPr/>
        <ns0:nvPr/>
      </ns0:nvGrpSpPr>
      <ns0:grpSpPr>
        <ns1:xfrm>
          <ns1:off x="0" y="0"/>
          <ns1:ext cx="0" cy="0"/>
          <ns1:chOff x="0" y="0"/>
          <ns1:chExt cx="0" cy="0"/>
        </ns1:xfrm>
      </ns0:grpSpPr>
      <ns0:sp>
        <ns0:nvSpPr>
          <ns0:cNvPr id="2" name="Rectangle 1"/>
          <ns0:cNvSpPr/>
          <ns0:nvPr/>
        </ns0:nvSpPr>
        <ns0:spPr>
          <ns1:xfrm>
            <ns1:off x="0" y="0"/>
            <ns1:ext cx="12191695" cy="1051560"/>
          </ns1:xfrm>
          <ns1:prstGeom prst="rect">
            <ns1:avLst/>
          </ns1:prstGeom>
          <ns1:solidFill>
            <ns1:srgbClr val="0F2747"/>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endParaRPr/>
          </ns1:p>
        </ns0:txBody>
      </ns0:sp>
      <ns0:sp>
        <ns0:nvSpPr>
          <ns0:cNvPr id="3" name="Rounded Rectangle 2"/>
          <ns0:cNvSpPr/>
          <ns0:nvPr/>
        </ns0:nvSpPr>
        <ns0:spPr>
          <ns1:xfrm>
            <ns1:off x="822960" y="1554480"/>
            <ns1:ext cx="10561320" cy="3429000"/>
          </ns1:xfrm>
          <ns1:prstGeom prst="roundRect">
            <ns1:avLst/>
          </ns1:prstGeom>
          <ns1:solidFill>
            <ns1:srgbClr val="FFFFFF"/>
          </ns1:solidFill>
          <ns1:ln>
            <ns1:solidFill>
              <ns1:srgbClr val="D6DCE7"/>
            </ns1:solidFill>
          </ns1:ln>
        </ns0:spPr>
        <ns0:style>
          <ns1:lnRef idx="1">
            <ns1:schemeClr val="accent1"/>
          </ns1:lnRef>
          <ns1:fillRef idx="3">
            <ns1:schemeClr val="accent1"/>
          </ns1:fillRef>
          <ns1:effectRef idx="2">
            <ns1:schemeClr val="accent1"/>
          </ns1:effectRef>
          <ns1:fontRef idx="minor">
            <ns1:schemeClr val="lt1"/>
          </ns1:fontRef>
        </ns0:style>
        <ns0:txBody>
          <ns1:bodyPr wrap="square" lIns="109728" tIns="73152" rIns="109728" bIns="73152" rtlCol="0" anchor="t">
            <ns1:normAutofit/>
          </ns1:bodyPr>
          <ns1:lstStyle/>
          <ns1:p>
            <ns1:pPr algn="l">
              <ns1:lnSpc>
                <ns1:spcPct val="102000"/>
              </ns1:lnSpc>
              <ns1:spcAft>
                <ns1:spcPts val="400"/>
              </ns1:spcAft>
            </ns1:pPr>
            <ns1:r>
              <ns1:rPr sz="1900" b="1">
                <ns1:solidFill>
                  <ns1:srgbClr val="1F2937"/>
                </ns1:solidFill>
                <ns1:latin typeface="Arial"/>
              </ns1:rPr>
              <ns1:t>KẾT LUẬN VÀ CẢM ƠN</ns1:t>
            </ns1:r>
          </ns1:p>
          <ns1:p>
            <ns1:pPr algn="l">
              <ns1:lnSpc>
                <ns1:spcPct val="102000"/>
              </ns1:lnSpc>
              <ns1:spcAft>
                <ns1:spcPts val="400"/>
              </ns1:spcAft>
            </ns1:pPr>
            <ns1:r>
              <ns1:rPr sz="1900" b="0">
                <ns1:solidFill>
                  <ns1:srgbClr val="1F2937"/>
                </ns1:solidFill>
                <ns1:latin typeface="Arial"/>
              </ns1:rPr>
              <ns1:t>Đồ án đã chứng minh rằng hướng TF-IDF kết hợp mô hình tuyến tính vẫn rất hiệu quả cho bài toán lọc spam email trong phạm vi môn Truy hồi thông tin.</ns1:t>
            </ns1:r>
          </ns1:p>
          <ns1:p>
            <ns1:pPr algn="l">
              <ns1:lnSpc>
                <ns1:spcPct val="102000"/>
              </ns1:lnSpc>
              <ns1:spcAft>
                <ns1:spcPts val="400"/>
              </ns1:spcAft>
            </ns1:pPr>
            <ns1:r>
              <ns1:rPr sz="1900" b="0">
                <ns1:solidFill>
                  <ns1:srgbClr val="1F2937"/>
                </ns1:solidFill>
                <ns1:latin typeface="Arial"/>
              </ns1:rPr>
              <ns1:t>Pipeline demo chính là TF-IDF để biểu diễn đặc trưng kết hợp Linear SVM để phân loại; Linear SVM được chọn vì đạt F1_spam 97.69%, chạy nhanh và giải thích được.</ns1:t>
            </ns1:r>
          </ns1:p>
          <ns1:p>
            <ns1:pPr algn="l">
              <ns1:lnSpc>
                <ns1:spcPct val="102000"/>
              </ns1:lnSpc>
              <ns1:spcAft>
                <ns1:spcPts val="400"/>
              </ns1:spcAft>
            </ns1:pPr>
            <ns1:r>
              <ns1:rPr sz="1900" b="0">
                <ns1:solidFill>
                  <ns1:srgbClr val="1F2937"/>
                </ns1:solidFill>
                <ns1:latin typeface="Arial"/>
              </ns1:rPr>
              <ns1:t>Hệ thống hiện đã có dữ liệu, mã nguồn, benchmark, phân tích lỗi và giao diện demo, đồng thời vẫn còn nhiều không gian để mở rộng theo hướng gần thực tế hơn.</ns1:t>
            </ns1:r>
          </ns1:p>
          <ns1:p>
            <ns1:pPr algn="l">
              <ns1:lnSpc>
                <ns1:spcPct val="102000"/>
              </ns1:lnSpc>
              <ns1:spcAft>
                <ns1:spcPts val="400"/>
              </ns1:spcAft>
            </ns1:pPr>
            <ns1:r>
              <ns1:rPr sz="1900" b="0">
                <ns1:solidFill>
                  <ns1:srgbClr val="1F2937"/>
                </ns1:solidFill>
                <ns1:latin typeface="Arial"/>
              </ns1:rPr>
              <ns1:t>Sẵn sàng demo app và trả lời câu hỏi vấn đáp.</ns1:t>
            </ns1:r>
          </ns1:p>
        </ns0:txBody>
      </ns0:sp>
      <ns0:sp>
        <ns0:nvSpPr>
          <ns0:cNvPr id="5" name="TextBox 4"/>
          <ns0:cNvSpPr txBox="1"/>
          <ns0:nvPr/>
        </ns0:nvSpPr>
        <ns0:spPr>
          <ns1:xfrm>
            <ns1:off x="502920" y="6446520"/>
            <ns1:ext cx="10789920" cy="164592"/>
          </ns1:xfrm>
          <ns1:prstGeom prst="rect">
            <ns1:avLst/>
          </ns1:prstGeom>
          <ns1:noFill/>
        </ns0:spPr>
        <ns0:txBody>
          <ns1:bodyPr wrap="square" lIns="0" tIns="0" rIns="0" bIns="0" anchor="t">
            <ns1:normAutofit/>
          </ns1:bodyPr>
          <ns1:lstStyle/>
          <ns1:p>
            <ns1:pPr algn="l">
              <ns1:lnSpc>
                <ns1:spcPct val="112000"/>
              </ns1:lnSpc>
              <ns1:spcAft>
                <ns1:spcPts val="400"/>
              </ns1:spcAft>
            </ns1:pPr>
            <ns1:r>
              <ns1:rPr sz="850" b="0" dirty="0" err="1">
                <ns1:solidFill>
                  <ns1:srgbClr val="5B677A"/>
                </ns1:solidFill>
                <ns1:latin typeface="Arial"/>
              </ns1:rPr>
              <ns1:t>Xây</ns1:t>
            </ns1:r>
            <ns1:r>
              <ns1:rPr sz="850" b="0" dirty="0">
                <ns1:solidFill>
                  <ns1:srgbClr val="5B677A"/>
                </ns1:solidFill>
                <ns1:latin typeface="Arial"/>
              </ns1:rPr>
              <ns1:t> </ns1:t>
            </ns1:r>
            <ns1:r>
              <ns1:rPr sz="850" b="0" dirty="0" err="1">
                <ns1:solidFill>
                  <ns1:srgbClr val="5B677A"/>
                </ns1:solidFill>
                <ns1:latin typeface="Arial"/>
              </ns1:rPr>
              <ns1:t>dựng</ns1:t>
            </ns1:r>
            <ns1:r>
              <ns1:rPr sz="850" b="0" dirty="0">
                <ns1:solidFill>
                  <ns1:srgbClr val="5B677A"/>
                </ns1:solidFill>
                <ns1:latin typeface="Arial"/>
              </ns1:rPr>
              <ns1:t> </ns1:t>
            </ns1:r>
            <ns1:r>
              <ns1:rPr sz="850" b="0" dirty="0" err="1">
                <ns1:solidFill>
                  <ns1:srgbClr val="5B677A"/>
                </ns1:solidFill>
                <ns1:latin typeface="Arial"/>
              </ns1:rPr>
              <ns1:t>hệ</ns1:t>
            </ns1:r>
            <ns1:r>
              <ns1:rPr sz="850" b="0" dirty="0">
                <ns1:solidFill>
                  <ns1:srgbClr val="5B677A"/>
                </ns1:solidFill>
                <ns1:latin typeface="Arial"/>
              </ns1:rPr>
              <ns1:t> </ns1:t>
            </ns1:r>
            <ns1:r>
              <ns1:rPr sz="850" b="0" dirty="0" err="1">
                <ns1:solidFill>
                  <ns1:srgbClr val="5B677A"/>
                </ns1:solidFill>
                <ns1:latin typeface="Arial"/>
              </ns1:rPr>
              <ns1:t>thống</ns1:t>
            </ns1:r>
            <ns1:r>
              <ns1:rPr sz="850" b="0" dirty="0">
                <ns1:solidFill>
                  <ns1:srgbClr val="5B677A"/>
                </ns1:solidFill>
                <ns1:latin typeface="Arial"/>
              </ns1:rPr>
              <ns1:t> </ns1:t>
            </ns1:r>
            <ns1:r>
              <ns1:rPr sz="850" b="0" dirty="0" err="1">
                <ns1:solidFill>
                  <ns1:srgbClr val="5B677A"/>
                </ns1:solidFill>
                <ns1:latin typeface="Arial"/>
              </ns1:rPr>
              <ns1:t>phát</ns1:t>
            </ns1:r>
            <ns1:r>
              <ns1:rPr sz="850" b="0" dirty="0">
                <ns1:solidFill>
                  <ns1:srgbClr val="5B677A"/>
                </ns1:solidFill>
                <ns1:latin typeface="Arial"/>
              </ns1:rPr>
              <ns1:t> </ns1:t>
            </ns1:r>
            <ns1:r>
              <ns1:rPr sz="850" b="0" dirty="0" err="1">
                <ns1:solidFill>
                  <ns1:srgbClr val="5B677A"/>
                </ns1:solidFill>
                <ns1:latin typeface="Arial"/>
              </ns1:rPr>
              <ns1:t>hiện</ns1:t>
            </ns1:r>
            <ns1:r>
              <ns1:rPr sz="850" b="0" dirty="0">
                <ns1:solidFill>
                  <ns1:srgbClr val="5B677A"/>
                </ns1:solidFill>
                <ns1:latin typeface="Arial"/>
              </ns1:rPr>
              <ns1:t> </ns1:t>
            </ns1:r>
            <ns1:r>
              <ns1:rPr sz="850" b="0" dirty="0" err="1">
                <ns1:solidFill>
                  <ns1:srgbClr val="5B677A"/>
                </ns1:solidFill>
                <ns1:latin typeface="Arial"/>
              </ns1:rPr>
              <ns1:t>và</ns1:t>
            </ns1:r>
            <ns1:r>
              <ns1:rPr sz="850" b="0" dirty="0">
                <ns1:solidFill>
                  <ns1:srgbClr val="5B677A"/>
                </ns1:solidFill>
                <ns1:latin typeface="Arial"/>
              </ns1:rPr>
              <ns1:t> </ns1:t>
            </ns1:r>
            <ns1:r>
              <ns1:rPr sz="850" b="0" dirty="0" err="1">
                <ns1:solidFill>
                  <ns1:srgbClr val="5B677A"/>
                </ns1:solidFill>
                <ns1:latin typeface="Arial"/>
              </ns1:rPr>
              <ns1:t>lọc</ns1:t>
            </ns1:r>
            <ns1:r>
              <ns1:rPr sz="850" b="0" dirty="0">
                <ns1:solidFill>
                  <ns1:srgbClr val="5B677A"/>
                </ns1:solidFill>
                <ns1:latin typeface="Arial"/>
              </ns1:rPr>
              <ns1:t> spam email | </ns1:t>
            </ns1:r>
            <ns1:r>
              <ns1:rPr sz="850" b="0" dirty="0" err="1">
                <ns1:solidFill>
                  <ns1:srgbClr val="5B677A"/>
                </ns1:solidFill>
                <ns1:latin typeface="Arial"/>
              </ns1:rPr>
              <ns1:t>Đồ</ns1:t>
            </ns1:r>
            <ns1:r>
              <ns1:rPr sz="850" b="0" dirty="0">
                <ns1:solidFill>
                  <ns1:srgbClr val="5B677A"/>
                </ns1:solidFill>
                <ns1:latin typeface="Arial"/>
              </ns1:rPr>
              <ns1:t> </ns1:t>
            </ns1:r>
            <ns1:r>
              <ns1:rPr sz="850" b="0" dirty="0" err="1">
                <ns1:solidFill>
                  <ns1:srgbClr val="5B677A"/>
                </ns1:solidFill>
                <ns1:latin typeface="Arial"/>
              </ns1:rPr>
              <ns1:t>án</ns1:t>
            </ns1:r>
            <ns1:r>
              <ns1:rPr sz="850" b="0" dirty="0">
                <ns1:solidFill>
                  <ns1:srgbClr val="5B677A"/>
                </ns1:solidFill>
                <ns1:latin typeface="Arial"/>
              </ns1:rPr>
              <ns1:t> </ns1:t>
            </ns1:r>
            <ns1:r>
              <ns1:rPr sz="850" b="0" dirty="0" err="1">
                <ns1:solidFill>
                  <ns1:srgbClr val="5B677A"/>
                </ns1:solidFill>
                <ns1:latin typeface="Arial"/>
              </ns1:rPr>
              <ns1:t>Truy</ns1:t>
            </ns1:r>
            <ns1:r>
              <ns1:rPr sz="850" b="0" dirty="0">
                <ns1:solidFill>
                  <ns1:srgbClr val="5B677A"/>
                </ns1:solidFill>
                <ns1:latin typeface="Arial"/>
              </ns1:rPr>
              <ns1:t> </ns1:t>
            </ns1:r>
            <ns1:r>
              <ns1:rPr sz="850" b="0" dirty="0" err="1">
                <ns1:solidFill>
                  <ns1:srgbClr val="5B677A"/>
                </ns1:solidFill>
                <ns1:latin typeface="Arial"/>
              </ns1:rPr>
              <ns1:t>hồi</ns1:t>
            </ns1:r>
            <ns1:r>
              <ns1:rPr sz="850" b="0" dirty="0">
                <ns1:solidFill>
                  <ns1:srgbClr val="5B677A"/>
                </ns1:solidFill>
                <ns1:latin typeface="Arial"/>
              </ns1:rPr>
              <ns1:t> </ns1:t>
            </ns1:r>
            <ns1:r>
              <ns1:rPr sz="850" b="0" dirty="0" err="1">
                <ns1:solidFill>
                  <ns1:srgbClr val="5B677A"/>
                </ns1:solidFill>
                <ns1:latin typeface="Arial"/>
              </ns1:rPr>
              <ns1:t>thông</ns1:t>
            </ns1:r>
            <ns1:r>
              <ns1:rPr sz="850" b="0" dirty="0">
                <ns1:solidFill>
                  <ns1:srgbClr val="5B677A"/>
                </ns1:solidFill>
                <ns1:latin typeface="Arial"/>
              </ns1:rPr>
              <ns1:t> tin | Trang 41</ns1:t>
            </ns1:r>
          </ns1:p>
        </ns0:txBody>
      </ns0:sp>
    </ns0:spTree>
  </ns0:cSld>
  <ns0:clrMapOvr>
    <ns1:masterClrMapping/>
  </ns0:clrMapOvr>
</ns0: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TotalTime>
  <Words>8362</Words>
  <Application>Microsoft Office PowerPoint</Application>
  <PresentationFormat>Widescreen</PresentationFormat>
  <Paragraphs>420</Paragraphs>
  <Slides>41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admin</cp:lastModifiedBy>
  <cp:revision>5</cp:revision>
  <dcterms:created xsi:type="dcterms:W3CDTF">2013-01-27T09:14:16Z</dcterms:created>
  <dcterms:modified xsi:type="dcterms:W3CDTF">2026-04-03T05:07:08Z</dcterms:modified>
  <cp:category/>
</cp:coreProperties>
</file>